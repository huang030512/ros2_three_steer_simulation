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636"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老师，下午好。我是自动化2202班的黄增祥，我的毕业设计题目是“机器人移动底盘的全向运动控制方法研究与实现”。本次中期答辩，我将向各位老师汇报我的课题背景、研究目标、已完成的工作以及下一步的计划。我的指导老师是张光华老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五个部分。首先，我会介绍课题的来源与研究背景。其次，阐述系统的总体方案和运动学模型。第三部分将介绍控制程序的设计和遥控功能的实现。第四部分是关于仿真平台的搭建和实验验证。最后，我会总结当前存在的问题并规划后续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首先，请允许我介绍课题的来源与研究背景。本课题源于企业的实际研发项目，目标是解决一款三舵轮全向移动底盘的控制问题。</a:t>
            </a:r>
          </a:p>
          <a:p>
            <a:pPr indent="0" algn="l">
              <a:lnSpc>
                <a:spcPct val="100000"/>
              </a:lnSpc>
            </a:pPr>
            <a:r>
              <a:rPr lang="en-US" sz="1400" b="0" i="0" u="none" strike="noStrike">
                <a:solidFill>
                  <a:srgbClr val="000000"/>
                </a:solidFill>
              </a:rPr>
              <a:t>在智能制造等领域，传统底盘已难以满足需求，而三舵轮底盘因其卓越的全向运动能力，能够实现前进、横移、自转等多种运动模式，成为了理想的研究平台。</a:t>
            </a:r>
          </a:p>
          <a:p>
            <a:pPr indent="0" algn="l">
              <a:lnSpc>
                <a:spcPct val="100000"/>
              </a:lnSpc>
            </a:pPr>
            <a:r>
              <a:rPr lang="en-US" sz="1400" b="0" i="0" u="none" strike="noStrike">
                <a:solidFill>
                  <a:srgbClr val="000000"/>
                </a:solidFill>
              </a:rPr>
              <a:t>然而，其控制面临着诸多挑战，核心难点在于复杂的运动学逆解算、多舵轮之间的速度协调控制，以及如何在硬件上实现稳定的实时控制程序。</a:t>
            </a:r>
          </a:p>
          <a:p>
            <a:pPr indent="0" algn="l">
              <a:lnSpc>
                <a:spcPct val="100000"/>
              </a:lnSpc>
            </a:pPr>
            <a:r>
              <a:rPr lang="en-US" sz="1400" b="0" i="0" u="none" strike="noStrike">
                <a:solidFill>
                  <a:srgbClr val="000000"/>
                </a:solidFill>
              </a:rPr>
              <a:t>为了攻克这些难点，同时降低实物调试的风险与成本，我们计划引入仿真平台，在代码下载到硬件之前，先对控制逻辑进行充分的预验证，以此来有效缩短整个系统的开发周期。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接下来是课题的任务与目标。我将研究任务分解为五个核心模块：首先是建立精确的运动学模型；其次是开发控制程序；然后集成无线手柄实现遥控；接着通过仿真平台进行验证；最后完成论文撰写。</a:t>
            </a:r>
          </a:p>
          <a:p>
            <a:pPr indent="0" algn="l">
              <a:lnSpc>
                <a:spcPct val="100000"/>
              </a:lnSpc>
            </a:pPr>
            <a:r>
              <a:rPr lang="en-US" sz="1400" b="0" i="0" u="none" strike="noStrike">
                <a:solidFill>
                  <a:srgbClr val="000000"/>
                </a:solidFill>
              </a:rPr>
              <a:t>我的研究目标非常明确：功能上要实现完整的全向运动，性能上要保证平稳和准确，最终通过仿真和实物双重验证来证明方法的有效性。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设计的系统总体方案。整个系统采用分层架构，从顶层的用户输入，到指令处理、核心控制，再到底层的执行和反馈，形成一个完整的闭环。我们还设立了仿真和实物两个验证层，确保算法的可靠性。这种模块化的设计保证了系统的可扩展性和鲁棒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这是我们工作的核心理论基础——三舵轮底盘的运动学模型。</a:t>
            </a:r>
          </a:p>
          <a:p>
            <a:pPr indent="0" algn="l">
              <a:lnSpc>
                <a:spcPct val="100000"/>
              </a:lnSpc>
            </a:pPr>
            <a:r>
              <a:rPr lang="en-US" sz="1400" b="0" i="0" u="none" strike="noStrike">
                <a:solidFill>
                  <a:srgbClr val="000000"/>
                </a:solidFill>
              </a:rPr>
              <a:t>我们首先建立了车体坐标系，以底盘几何中心为原点，这是描述所有运动的基准。</a:t>
            </a:r>
          </a:p>
          <a:p>
            <a:pPr indent="0" algn="l">
              <a:lnSpc>
                <a:spcPct val="100000"/>
              </a:lnSpc>
            </a:pPr>
            <a:r>
              <a:rPr lang="en-US" sz="1400" b="0" i="0" u="none" strike="noStrike">
                <a:solidFill>
                  <a:srgbClr val="000000"/>
                </a:solidFill>
              </a:rPr>
              <a:t>然后，基于刚体平面运动学原理，我们分析了速度分布，明确了三个舵轮的轮心速度是如何由车体的整体线速度和角速度共同决定的。</a:t>
            </a:r>
          </a:p>
          <a:p>
            <a:pPr indent="0" algn="l">
              <a:lnSpc>
                <a:spcPct val="100000"/>
              </a:lnSpc>
            </a:pPr>
            <a:r>
              <a:rPr lang="en-US" sz="1400" b="0" i="0" u="none" strike="noStrike">
                <a:solidFill>
                  <a:srgbClr val="000000"/>
                </a:solidFill>
              </a:rPr>
              <a:t>最后，也是最关键的一步，进行了逆运动学解算。通过底部的核心公式，我们可以由车体的目标速度，精确地推导出每个独立舵轮需要执行的目标舵角和目标轮速。这组方程是我们后续编写运动控制算法、实现底盘精准移动的理论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控制程序的设计思路。程序采用模块化设计，主要包括六个部分：输入模块、速度平滑模块、核心的逆运动学解算模块、舵角优化模块、命令下发模块以及状态反馈模块。这种设计使得程序结构清晰，易于调试和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我们搭建了一套遥控操作系统来测试底盘。整个控制链路非常清晰：从手柄输入开始，经过速度映射和平滑，再到底盘控制程序进行解算，最后驱动实物运动。</a:t>
            </a:r>
          </a:p>
          <a:p>
            <a:pPr indent="0" algn="l">
              <a:lnSpc>
                <a:spcPct val="100000"/>
              </a:lnSpc>
            </a:pPr>
            <a:r>
              <a:rPr lang="en-US" sz="1400" b="0" i="0" u="none" strike="noStrike">
                <a:solidFill>
                  <a:srgbClr val="000000"/>
                </a:solidFill>
              </a:rPr>
              <a:t>目前，我们已经成功打通了这条链路，可以通过手柄稳定地控制底盘完成各种基础运动，这初步验证了我们工作的正确性。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为了降低实物调试的风险，我们搭建了仿真平台。我们使用ROS 2和Gazebo，构建了与实物一致的虚拟模型。</a:t>
            </a:r>
          </a:p>
          <a:p>
            <a:pPr indent="0" algn="l">
              <a:lnSpc>
                <a:spcPct val="100000"/>
              </a:lnSpc>
            </a:pPr>
            <a:r>
              <a:rPr lang="en-US" sz="1400" b="0" i="0" u="none" strike="noStrike">
                <a:solidFill>
                  <a:srgbClr val="000000"/>
                </a:solidFill>
              </a:rPr>
              <a:t>通过仿真，我们验证了运动学模型的正确性，并记录了详细的数据用于分析。仿真平台在早期发现并解决了很多问题，为后续的实物测试铺平了道路。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实物测试的结果。我们对前进、横移、旋转和后退等典型工况进行了反复测试。结果表明，底盘能够准确、平稳地完成所有预设的运动模式。这有力地证明了我们的控制链路已经打通，运动学模型和控制程序在物理平台上是可行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目前的工作还存在一些问题，比如舵角控制的精细化不足，以及实物平台的非理想因素影响。针对这些问题，我的下一步计划是：首先，深化实物测试，补充更多实验数据；其次，优化控制算法，提高运动平滑性；再次，深入分析仿真与实物的差异；最后，完成论文的撰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最后，我要衷心感谢我的指导老师张光华老师，感谢企业导师的技术支持，以及各位评委老师的聆听与指正。我的汇报到此结束，谢谢大家！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4.svg"/></Relationships>
</file>

<file path=ppt/slides/_rels/slide8.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_rels/slide10.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6.svg"/><Relationship Id="rId5" Type="http://schemas.openxmlformats.org/officeDocument/2006/relationships/image" Target="../media/image23.svg"/><Relationship Id="rId4" Type="http://schemas.openxmlformats.org/officeDocument/2006/relationships/image" Target="../media/image34.svg"/></Relationships>
</file>

<file path=ppt/slides/_rels/slide11.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5.svg"/><Relationship Id="rId7" Type="http://schemas.openxmlformats.org/officeDocument/2006/relationships/image" Target="../media/image10.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7.svg"/><Relationship Id="rId5" Type="http://schemas.openxmlformats.org/officeDocument/2006/relationships/image" Target="../media/image36.svg"/><Relationship Id="rId10" Type="http://schemas.openxmlformats.org/officeDocument/2006/relationships/image" Target="../media/image40.svg"/><Relationship Id="rId4" Type="http://schemas.openxmlformats.org/officeDocument/2006/relationships/image" Target="../media/image29.svg"/><Relationship Id="rId9" Type="http://schemas.openxmlformats.org/officeDocument/2006/relationships/image" Target="../media/image39.svg"/></Relationships>
</file>

<file path=ppt/slides/_rels/slide12.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5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635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3600" b="1" i="0" u="none" strike="noStrike">
                <a:solidFill>
                  <a:srgbClr val="165DFF"/>
                </a:solidFill>
                <a:latin typeface="微软雅黑"/>
                <a:ea typeface="微软雅黑"/>
                <a:cs typeface="微软雅黑"/>
                <a:sym typeface="微软雅黑"/>
              </a:rPr>
              <a:t>机器人移动底盘的全向运动控制方法研究与实现</a:t>
            </a:r>
            <a:endParaRPr lang="en-US" sz="1100"/>
          </a:p>
        </p:txBody>
      </p:sp>
      <p:sp>
        <p:nvSpPr>
          <p:cNvPr id="3" name="AutoShape 3"/>
          <p:cNvSpPr/>
          <p:nvPr/>
        </p:nvSpPr>
        <p:spPr>
          <a:xfrm>
            <a:off x="0" y="18415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7280"/>
                </a:solidFill>
                <a:latin typeface="微软雅黑"/>
                <a:ea typeface="微软雅黑"/>
                <a:cs typeface="微软雅黑"/>
                <a:sym typeface="微软雅黑"/>
              </a:rPr>
              <a:t>本科毕业设计中期答辩</a:t>
            </a:r>
            <a:endParaRPr lang="en-US" sz="1100"/>
          </a:p>
        </p:txBody>
      </p:sp>
      <p:sp>
        <p:nvSpPr>
          <p:cNvPr id="4" name="AutoShape 4"/>
          <p:cNvSpPr/>
          <p:nvPr/>
        </p:nvSpPr>
        <p:spPr>
          <a:xfrm>
            <a:off x="3556000" y="2603500"/>
            <a:ext cx="5080000" cy="1905000"/>
          </a:xfrm>
          <a:prstGeom prst="roundRect">
            <a:avLst>
              <a:gd name="adj" fmla="val 10666"/>
            </a:avLst>
          </a:prstGeom>
          <a:solidFill>
            <a:srgbClr val="FFFFFF">
              <a:alpha val="100000"/>
            </a:srgbClr>
          </a:solidFill>
          <a:ln w="25400" cap="flat" cmpd="sng">
            <a:noFill/>
            <a:prstDash val="solid"/>
            <a:round/>
          </a:ln>
          <a:effectLst>
            <a:outerShdw blurRad="254000" dist="76200" dir="2700000" algn="tl" rotWithShape="0">
              <a:srgbClr val="165DFF">
                <a:alpha val="18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61000" y="2857500"/>
            <a:ext cx="1270000" cy="1270000"/>
          </a:xfrm>
          <a:prstGeom prst="rect">
            <a:avLst/>
          </a:prstGeom>
        </p:spPr>
      </p:pic>
      <p:sp>
        <p:nvSpPr>
          <p:cNvPr id="6" name="AutoShape 6"/>
          <p:cNvSpPr/>
          <p:nvPr/>
        </p:nvSpPr>
        <p:spPr>
          <a:xfrm>
            <a:off x="1651000" y="4826000"/>
            <a:ext cx="4191000" cy="1397000"/>
          </a:xfrm>
          <a:prstGeom prst="roundRect">
            <a:avLst>
              <a:gd name="adj" fmla="val 10909"/>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5000" y="5016500"/>
            <a:ext cx="254000" cy="254000"/>
          </a:xfrm>
          <a:prstGeom prst="rect">
            <a:avLst/>
          </a:prstGeom>
        </p:spPr>
      </p:pic>
      <p:sp>
        <p:nvSpPr>
          <p:cNvPr id="8" name="AutoShape 8"/>
          <p:cNvSpPr/>
          <p:nvPr/>
        </p:nvSpPr>
        <p:spPr>
          <a:xfrm>
            <a:off x="2286000" y="50165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74151"/>
                </a:solidFill>
                <a:latin typeface="微软雅黑"/>
                <a:ea typeface="微软雅黑"/>
                <a:cs typeface="微软雅黑"/>
                <a:sym typeface="微软雅黑"/>
              </a:rPr>
              <a:t>汇报人：</a:t>
            </a:r>
            <a:r>
              <a:rPr lang="en-US" sz="1300" b="0" i="0" u="none" strike="noStrike">
                <a:solidFill>
                  <a:srgbClr val="4B5563"/>
                </a:solidFill>
                <a:latin typeface="微软雅黑"/>
                <a:ea typeface="微软雅黑"/>
                <a:cs typeface="微软雅黑"/>
                <a:sym typeface="微软雅黑"/>
              </a:rPr>
              <a:t>黄增祥</a:t>
            </a:r>
            <a:endParaRPr lang="en-US" sz="110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05000" y="5359400"/>
            <a:ext cx="254000" cy="254000"/>
          </a:xfrm>
          <a:prstGeom prst="rect">
            <a:avLst/>
          </a:prstGeom>
        </p:spPr>
      </p:pic>
      <p:sp>
        <p:nvSpPr>
          <p:cNvPr id="10" name="AutoShape 10"/>
          <p:cNvSpPr/>
          <p:nvPr/>
        </p:nvSpPr>
        <p:spPr>
          <a:xfrm>
            <a:off x="2286000" y="53594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74151"/>
                </a:solidFill>
                <a:latin typeface="微软雅黑"/>
                <a:ea typeface="微软雅黑"/>
                <a:cs typeface="微软雅黑"/>
                <a:sym typeface="微软雅黑"/>
              </a:rPr>
              <a:t>学　号：</a:t>
            </a:r>
            <a:r>
              <a:rPr lang="en-US" sz="1300" b="0" i="0" u="none" strike="noStrike">
                <a:solidFill>
                  <a:srgbClr val="4B5563"/>
                </a:solidFill>
                <a:latin typeface="微软雅黑"/>
                <a:ea typeface="微软雅黑"/>
                <a:cs typeface="微软雅黑"/>
                <a:sym typeface="微软雅黑"/>
              </a:rPr>
              <a:t>2223515366</a:t>
            </a:r>
            <a:endParaRPr lang="en-US" sz="1100"/>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05000" y="5702300"/>
            <a:ext cx="254000" cy="254000"/>
          </a:xfrm>
          <a:prstGeom prst="rect">
            <a:avLst/>
          </a:prstGeom>
        </p:spPr>
      </p:pic>
      <p:sp>
        <p:nvSpPr>
          <p:cNvPr id="12" name="AutoShape 12"/>
          <p:cNvSpPr/>
          <p:nvPr/>
        </p:nvSpPr>
        <p:spPr>
          <a:xfrm>
            <a:off x="2286000" y="57023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74151"/>
                </a:solidFill>
                <a:latin typeface="微软雅黑"/>
                <a:ea typeface="微软雅黑"/>
                <a:cs typeface="微软雅黑"/>
                <a:sym typeface="微软雅黑"/>
              </a:rPr>
              <a:t>班　级：</a:t>
            </a:r>
            <a:r>
              <a:rPr lang="en-US" sz="1300" b="0" i="0" u="none" strike="noStrike">
                <a:solidFill>
                  <a:srgbClr val="4B5563"/>
                </a:solidFill>
                <a:latin typeface="微软雅黑"/>
                <a:ea typeface="微软雅黑"/>
                <a:cs typeface="微软雅黑"/>
                <a:sym typeface="微软雅黑"/>
              </a:rPr>
              <a:t>自动化 2202 班</a:t>
            </a:r>
            <a:endParaRPr lang="en-US" sz="1100"/>
          </a:p>
        </p:txBody>
      </p:sp>
      <p:sp>
        <p:nvSpPr>
          <p:cNvPr id="13" name="AutoShape 13"/>
          <p:cNvSpPr/>
          <p:nvPr/>
        </p:nvSpPr>
        <p:spPr>
          <a:xfrm>
            <a:off x="6350000" y="4826000"/>
            <a:ext cx="4191000" cy="1397000"/>
          </a:xfrm>
          <a:prstGeom prst="roundRect">
            <a:avLst>
              <a:gd name="adj" fmla="val 10909"/>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5080000"/>
            <a:ext cx="254000" cy="254000"/>
          </a:xfrm>
          <a:prstGeom prst="rect">
            <a:avLst/>
          </a:prstGeom>
        </p:spPr>
      </p:pic>
      <p:sp>
        <p:nvSpPr>
          <p:cNvPr id="15" name="AutoShape 15"/>
          <p:cNvSpPr/>
          <p:nvPr/>
        </p:nvSpPr>
        <p:spPr>
          <a:xfrm>
            <a:off x="6985000" y="5080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74151"/>
                </a:solidFill>
                <a:latin typeface="微软雅黑"/>
                <a:ea typeface="微软雅黑"/>
                <a:cs typeface="微软雅黑"/>
                <a:sym typeface="微软雅黑"/>
              </a:rPr>
              <a:t>指导教师：</a:t>
            </a:r>
            <a:r>
              <a:rPr lang="en-US" sz="1300" b="0" i="0" u="none" strike="noStrike">
                <a:solidFill>
                  <a:srgbClr val="4B5563"/>
                </a:solidFill>
                <a:latin typeface="微软雅黑"/>
                <a:ea typeface="微软雅黑"/>
                <a:cs typeface="微软雅黑"/>
                <a:sym typeface="微软雅黑"/>
              </a:rPr>
              <a:t>张光华 教授</a:t>
            </a:r>
            <a:endParaRPr lang="en-US" sz="1100"/>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5588000"/>
            <a:ext cx="254000" cy="254000"/>
          </a:xfrm>
          <a:prstGeom prst="rect">
            <a:avLst/>
          </a:prstGeom>
        </p:spPr>
      </p:pic>
      <p:sp>
        <p:nvSpPr>
          <p:cNvPr id="17" name="AutoShape 17"/>
          <p:cNvSpPr/>
          <p:nvPr/>
        </p:nvSpPr>
        <p:spPr>
          <a:xfrm>
            <a:off x="6985000" y="5588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74151"/>
                </a:solidFill>
                <a:latin typeface="微软雅黑"/>
                <a:ea typeface="微软雅黑"/>
                <a:cs typeface="微软雅黑"/>
                <a:sym typeface="微软雅黑"/>
              </a:rPr>
              <a:t>答辩时间：</a:t>
            </a:r>
            <a:r>
              <a:rPr lang="en-US" sz="1300" b="0" i="0" u="none" strike="noStrike">
                <a:solidFill>
                  <a:srgbClr val="4B5563"/>
                </a:solidFill>
                <a:latin typeface="微软雅黑"/>
                <a:ea typeface="微软雅黑"/>
                <a:cs typeface="微软雅黑"/>
                <a:sym typeface="微软雅黑"/>
              </a:rPr>
              <a:t>2026 年 04 月 22 日</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762000" cy="6858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143000" y="2286000"/>
            <a:ext cx="2540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7200" b="1" i="0" u="none" strike="noStrike">
                <a:solidFill>
                  <a:srgbClr val="165DFF"/>
                </a:solidFill>
                <a:latin typeface="微软雅黑"/>
                <a:ea typeface="微软雅黑"/>
                <a:cs typeface="微软雅黑"/>
                <a:sym typeface="微软雅黑"/>
              </a:rPr>
              <a:t>目录</a:t>
            </a:r>
            <a:endParaRPr lang="en-US" sz="1100"/>
          </a:p>
        </p:txBody>
      </p:sp>
      <p:sp>
        <p:nvSpPr>
          <p:cNvPr id="4" name="AutoShape 4"/>
          <p:cNvSpPr/>
          <p:nvPr/>
        </p:nvSpPr>
        <p:spPr>
          <a:xfrm>
            <a:off x="1168400" y="3683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6E7191"/>
                </a:solidFill>
                <a:latin typeface="微软雅黑"/>
                <a:ea typeface="微软雅黑"/>
                <a:cs typeface="微软雅黑"/>
                <a:sym typeface="微软雅黑"/>
              </a:rPr>
              <a:t>CONTENTS</a:t>
            </a:r>
            <a:endParaRPr lang="en-US" sz="1100"/>
          </a:p>
        </p:txBody>
      </p:sp>
      <p:sp>
        <p:nvSpPr>
          <p:cNvPr id="5" name="AutoShape 5"/>
          <p:cNvSpPr/>
          <p:nvPr/>
        </p:nvSpPr>
        <p:spPr>
          <a:xfrm>
            <a:off x="1168400" y="4572000"/>
            <a:ext cx="254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999999"/>
                </a:solidFill>
                <a:latin typeface="微软雅黑"/>
                <a:ea typeface="微软雅黑"/>
                <a:cs typeface="微软雅黑"/>
                <a:sym typeface="微软雅黑"/>
              </a:rPr>
              <a:t>ACADEMIC DEFENSE</a:t>
            </a:r>
            <a:br>
              <a:rPr lang="en-US" sz="1300" b="0" i="0" u="none" strike="noStrike">
                <a:solidFill>
                  <a:srgbClr val="999999"/>
                </a:solidFill>
                <a:latin typeface="微软雅黑"/>
                <a:ea typeface="微软雅黑"/>
                <a:cs typeface="微软雅黑"/>
                <a:sym typeface="微软雅黑"/>
              </a:rPr>
            </a:br>
            <a:r>
              <a:rPr lang="en-US" sz="1300" b="0" i="0" u="none" strike="noStrike">
                <a:solidFill>
                  <a:srgbClr val="999999"/>
                </a:solidFill>
                <a:latin typeface="微软雅黑"/>
                <a:ea typeface="微软雅黑"/>
                <a:cs typeface="微软雅黑"/>
                <a:sym typeface="微软雅黑"/>
              </a:rPr>
              <a:t>REPORT 2026</a:t>
            </a:r>
            <a:endParaRPr lang="en-US" sz="1100"/>
          </a:p>
        </p:txBody>
      </p:sp>
      <p:sp>
        <p:nvSpPr>
          <p:cNvPr id="6" name="AutoShape 6"/>
          <p:cNvSpPr/>
          <p:nvPr/>
        </p:nvSpPr>
        <p:spPr>
          <a:xfrm>
            <a:off x="3937000" y="1143000"/>
            <a:ext cx="3556000" cy="1397000"/>
          </a:xfrm>
          <a:prstGeom prst="roundRect">
            <a:avLst>
              <a:gd name="adj" fmla="val 9090"/>
            </a:avLst>
          </a:prstGeom>
          <a:solidFill>
            <a:srgbClr val="FFFFFF">
              <a:alpha val="100000"/>
            </a:srgbClr>
          </a:solidFill>
          <a:ln w="25400" cap="flat" cmpd="sng">
            <a:noFill/>
            <a:prstDash val="solid"/>
            <a:round/>
          </a:ln>
          <a:effectLst>
            <a:outerShdw blurRad="190500" dist="50800" dir="5400000" algn="tl" rotWithShape="0">
              <a:srgbClr val="165DFF">
                <a:alpha val="12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4191000" y="1397000"/>
            <a:ext cx="889000" cy="889000"/>
          </a:xfrm>
          <a:prstGeom prst="ellipse">
            <a:avLst/>
          </a:prstGeom>
          <a:solidFill>
            <a:srgbClr val="E8F3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19600" y="1625600"/>
            <a:ext cx="431800" cy="431800"/>
          </a:xfrm>
          <a:prstGeom prst="rect">
            <a:avLst/>
          </a:prstGeom>
        </p:spPr>
      </p:pic>
      <p:sp>
        <p:nvSpPr>
          <p:cNvPr id="9" name="AutoShape 9"/>
          <p:cNvSpPr/>
          <p:nvPr/>
        </p:nvSpPr>
        <p:spPr>
          <a:xfrm>
            <a:off x="5334000" y="14605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65DFF"/>
                </a:solidFill>
                <a:latin typeface="微软雅黑"/>
                <a:ea typeface="微软雅黑"/>
                <a:cs typeface="微软雅黑"/>
                <a:sym typeface="微软雅黑"/>
              </a:rPr>
              <a:t>PART 01</a:t>
            </a:r>
            <a:endParaRPr lang="en-US" sz="1100"/>
          </a:p>
        </p:txBody>
      </p:sp>
      <p:sp>
        <p:nvSpPr>
          <p:cNvPr id="10" name="AutoShape 10"/>
          <p:cNvSpPr/>
          <p:nvPr/>
        </p:nvSpPr>
        <p:spPr>
          <a:xfrm>
            <a:off x="5334000" y="1905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333333"/>
                </a:solidFill>
                <a:latin typeface="微软雅黑"/>
                <a:ea typeface="微软雅黑"/>
                <a:cs typeface="微软雅黑"/>
                <a:sym typeface="微软雅黑"/>
              </a:rPr>
              <a:t>课题来源与研究背景</a:t>
            </a:r>
            <a:br>
              <a:rPr lang="en-US" sz="1300" b="0" i="0" u="none" strike="noStrike">
                <a:solidFill>
                  <a:srgbClr val="333333"/>
                </a:solidFill>
                <a:latin typeface="微软雅黑"/>
                <a:ea typeface="微软雅黑"/>
                <a:cs typeface="微软雅黑"/>
                <a:sym typeface="微软雅黑"/>
              </a:rPr>
            </a:br>
            <a:r>
              <a:rPr lang="en-US" sz="1300" b="0" i="0" u="none" strike="noStrike">
                <a:solidFill>
                  <a:srgbClr val="333333"/>
                </a:solidFill>
                <a:latin typeface="微软雅黑"/>
                <a:ea typeface="微软雅黑"/>
                <a:cs typeface="微软雅黑"/>
                <a:sym typeface="微软雅黑"/>
              </a:rPr>
              <a:t>Research Background</a:t>
            </a:r>
            <a:endParaRPr lang="en-US" sz="1100"/>
          </a:p>
        </p:txBody>
      </p:sp>
      <p:sp>
        <p:nvSpPr>
          <p:cNvPr id="11" name="AutoShape 11"/>
          <p:cNvSpPr/>
          <p:nvPr/>
        </p:nvSpPr>
        <p:spPr>
          <a:xfrm>
            <a:off x="3937000" y="2794000"/>
            <a:ext cx="3556000" cy="1397000"/>
          </a:xfrm>
          <a:prstGeom prst="roundRect">
            <a:avLst>
              <a:gd name="adj" fmla="val 9090"/>
            </a:avLst>
          </a:prstGeom>
          <a:solidFill>
            <a:srgbClr val="FFFFFF">
              <a:alpha val="100000"/>
            </a:srgbClr>
          </a:solidFill>
          <a:ln w="25400" cap="flat" cmpd="sng">
            <a:noFill/>
            <a:prstDash val="solid"/>
            <a:round/>
          </a:ln>
          <a:effectLst>
            <a:outerShdw blurRad="190500" dist="50800" dir="5400000" algn="tl" rotWithShape="0">
              <a:srgbClr val="165DFF">
                <a:alpha val="12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4191000" y="3048000"/>
            <a:ext cx="889000" cy="889000"/>
          </a:xfrm>
          <a:prstGeom prst="ellipse">
            <a:avLst/>
          </a:prstGeom>
          <a:solidFill>
            <a:srgbClr val="E8F3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19600" y="3276600"/>
            <a:ext cx="431800" cy="431800"/>
          </a:xfrm>
          <a:prstGeom prst="rect">
            <a:avLst/>
          </a:prstGeom>
        </p:spPr>
      </p:pic>
      <p:sp>
        <p:nvSpPr>
          <p:cNvPr id="14" name="AutoShape 14"/>
          <p:cNvSpPr/>
          <p:nvPr/>
        </p:nvSpPr>
        <p:spPr>
          <a:xfrm>
            <a:off x="5334000" y="31115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65DFF"/>
                </a:solidFill>
                <a:latin typeface="微软雅黑"/>
                <a:ea typeface="微软雅黑"/>
                <a:cs typeface="微软雅黑"/>
                <a:sym typeface="微软雅黑"/>
              </a:rPr>
              <a:t>PART 02</a:t>
            </a:r>
            <a:endParaRPr lang="en-US" sz="1100"/>
          </a:p>
        </p:txBody>
      </p:sp>
      <p:sp>
        <p:nvSpPr>
          <p:cNvPr id="15" name="AutoShape 15"/>
          <p:cNvSpPr/>
          <p:nvPr/>
        </p:nvSpPr>
        <p:spPr>
          <a:xfrm>
            <a:off x="5334000" y="3556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333333"/>
                </a:solidFill>
                <a:latin typeface="微软雅黑"/>
                <a:ea typeface="微软雅黑"/>
                <a:cs typeface="微软雅黑"/>
                <a:sym typeface="微软雅黑"/>
              </a:rPr>
              <a:t>系统方案与运动学建模</a:t>
            </a:r>
            <a:br>
              <a:rPr lang="en-US" sz="1300" b="0" i="0" u="none" strike="noStrike">
                <a:solidFill>
                  <a:srgbClr val="333333"/>
                </a:solidFill>
                <a:latin typeface="微软雅黑"/>
                <a:ea typeface="微软雅黑"/>
                <a:cs typeface="微软雅黑"/>
                <a:sym typeface="微软雅黑"/>
              </a:rPr>
            </a:br>
            <a:r>
              <a:rPr lang="en-US" sz="1300" b="0" i="0" u="none" strike="noStrike">
                <a:solidFill>
                  <a:srgbClr val="333333"/>
                </a:solidFill>
                <a:latin typeface="微软雅黑"/>
                <a:ea typeface="微软雅黑"/>
                <a:cs typeface="微软雅黑"/>
                <a:sym typeface="微软雅黑"/>
              </a:rPr>
              <a:t>System Scheme &amp; Modeling</a:t>
            </a:r>
            <a:endParaRPr lang="en-US" sz="1100"/>
          </a:p>
        </p:txBody>
      </p:sp>
      <p:sp>
        <p:nvSpPr>
          <p:cNvPr id="16" name="AutoShape 16"/>
          <p:cNvSpPr/>
          <p:nvPr/>
        </p:nvSpPr>
        <p:spPr>
          <a:xfrm>
            <a:off x="3937000" y="4445000"/>
            <a:ext cx="3556000" cy="1397000"/>
          </a:xfrm>
          <a:prstGeom prst="roundRect">
            <a:avLst>
              <a:gd name="adj" fmla="val 9090"/>
            </a:avLst>
          </a:prstGeom>
          <a:solidFill>
            <a:srgbClr val="FFFFFF">
              <a:alpha val="100000"/>
            </a:srgbClr>
          </a:solidFill>
          <a:ln w="25400" cap="flat" cmpd="sng">
            <a:noFill/>
            <a:prstDash val="solid"/>
            <a:round/>
          </a:ln>
          <a:effectLst>
            <a:outerShdw blurRad="190500" dist="50800" dir="5400000" algn="tl" rotWithShape="0">
              <a:srgbClr val="165DFF">
                <a:alpha val="12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4191000" y="4699000"/>
            <a:ext cx="889000" cy="889000"/>
          </a:xfrm>
          <a:prstGeom prst="ellipse">
            <a:avLst/>
          </a:prstGeom>
          <a:solidFill>
            <a:srgbClr val="E8F3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19600" y="4927600"/>
            <a:ext cx="431800" cy="431800"/>
          </a:xfrm>
          <a:prstGeom prst="rect">
            <a:avLst/>
          </a:prstGeom>
        </p:spPr>
      </p:pic>
      <p:sp>
        <p:nvSpPr>
          <p:cNvPr id="19" name="AutoShape 19"/>
          <p:cNvSpPr/>
          <p:nvPr/>
        </p:nvSpPr>
        <p:spPr>
          <a:xfrm>
            <a:off x="5334000" y="47625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65DFF"/>
                </a:solidFill>
                <a:latin typeface="微软雅黑"/>
                <a:ea typeface="微软雅黑"/>
                <a:cs typeface="微软雅黑"/>
                <a:sym typeface="微软雅黑"/>
              </a:rPr>
              <a:t>PART 03</a:t>
            </a:r>
            <a:endParaRPr lang="en-US" sz="1100"/>
          </a:p>
        </p:txBody>
      </p:sp>
      <p:sp>
        <p:nvSpPr>
          <p:cNvPr id="20" name="AutoShape 20"/>
          <p:cNvSpPr/>
          <p:nvPr/>
        </p:nvSpPr>
        <p:spPr>
          <a:xfrm>
            <a:off x="5334000" y="5207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333333"/>
                </a:solidFill>
                <a:latin typeface="微软雅黑"/>
                <a:ea typeface="微软雅黑"/>
                <a:cs typeface="微软雅黑"/>
                <a:sym typeface="微软雅黑"/>
              </a:rPr>
              <a:t>控制程序设计与遥控</a:t>
            </a:r>
            <a:br>
              <a:rPr lang="en-US" sz="1300" b="0" i="0" u="none" strike="noStrike">
                <a:solidFill>
                  <a:srgbClr val="333333"/>
                </a:solidFill>
                <a:latin typeface="微软雅黑"/>
                <a:ea typeface="微软雅黑"/>
                <a:cs typeface="微软雅黑"/>
                <a:sym typeface="微软雅黑"/>
              </a:rPr>
            </a:br>
            <a:r>
              <a:rPr lang="en-US" sz="1300" b="0" i="0" u="none" strike="noStrike">
                <a:solidFill>
                  <a:srgbClr val="333333"/>
                </a:solidFill>
                <a:latin typeface="微软雅黑"/>
                <a:ea typeface="微软雅黑"/>
                <a:cs typeface="微软雅黑"/>
                <a:sym typeface="微软雅黑"/>
              </a:rPr>
              <a:t>Control Program Design</a:t>
            </a:r>
            <a:endParaRPr lang="en-US" sz="1100"/>
          </a:p>
        </p:txBody>
      </p:sp>
      <p:sp>
        <p:nvSpPr>
          <p:cNvPr id="21" name="AutoShape 21"/>
          <p:cNvSpPr/>
          <p:nvPr/>
        </p:nvSpPr>
        <p:spPr>
          <a:xfrm>
            <a:off x="7747000" y="1143000"/>
            <a:ext cx="3556000" cy="1397000"/>
          </a:xfrm>
          <a:prstGeom prst="roundRect">
            <a:avLst>
              <a:gd name="adj" fmla="val 9090"/>
            </a:avLst>
          </a:prstGeom>
          <a:solidFill>
            <a:srgbClr val="FFFFFF">
              <a:alpha val="100000"/>
            </a:srgbClr>
          </a:solidFill>
          <a:ln w="25400" cap="flat" cmpd="sng">
            <a:noFill/>
            <a:prstDash val="solid"/>
            <a:round/>
          </a:ln>
          <a:effectLst>
            <a:outerShdw blurRad="190500" dist="50800" dir="5400000" algn="tl" rotWithShape="0">
              <a:srgbClr val="165DFF">
                <a:alpha val="12000"/>
              </a:srgbClr>
            </a:outerShdw>
          </a:effectLst>
        </p:spPr>
        <p:txBody>
          <a:bodyPr vert="horz" wrap="square" lIns="63500" tIns="63500" rIns="63500" bIns="63500" rtlCol="0" anchor="ctr"/>
          <a:lstStyle/>
          <a:p>
            <a:pPr algn="ctr">
              <a:defRPr/>
            </a:pPr>
            <a:endParaRPr/>
          </a:p>
        </p:txBody>
      </p:sp>
      <p:sp>
        <p:nvSpPr>
          <p:cNvPr id="22" name="AutoShape 22"/>
          <p:cNvSpPr/>
          <p:nvPr/>
        </p:nvSpPr>
        <p:spPr>
          <a:xfrm>
            <a:off x="8001000" y="1397000"/>
            <a:ext cx="889000" cy="889000"/>
          </a:xfrm>
          <a:prstGeom prst="ellipse">
            <a:avLst/>
          </a:prstGeom>
          <a:solidFill>
            <a:srgbClr val="E8F3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29600" y="1625600"/>
            <a:ext cx="431800" cy="431800"/>
          </a:xfrm>
          <a:prstGeom prst="rect">
            <a:avLst/>
          </a:prstGeom>
        </p:spPr>
      </p:pic>
      <p:sp>
        <p:nvSpPr>
          <p:cNvPr id="24" name="AutoShape 24"/>
          <p:cNvSpPr/>
          <p:nvPr/>
        </p:nvSpPr>
        <p:spPr>
          <a:xfrm>
            <a:off x="9144000" y="14605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65DFF"/>
                </a:solidFill>
                <a:latin typeface="微软雅黑"/>
                <a:ea typeface="微软雅黑"/>
                <a:cs typeface="微软雅黑"/>
                <a:sym typeface="微软雅黑"/>
              </a:rPr>
              <a:t>PART 04</a:t>
            </a:r>
            <a:endParaRPr lang="en-US" sz="1100"/>
          </a:p>
        </p:txBody>
      </p:sp>
      <p:sp>
        <p:nvSpPr>
          <p:cNvPr id="25" name="AutoShape 25"/>
          <p:cNvSpPr/>
          <p:nvPr/>
        </p:nvSpPr>
        <p:spPr>
          <a:xfrm>
            <a:off x="9144000" y="1905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333333"/>
                </a:solidFill>
                <a:latin typeface="微软雅黑"/>
                <a:ea typeface="微软雅黑"/>
                <a:cs typeface="微软雅黑"/>
                <a:sym typeface="微软雅黑"/>
              </a:rPr>
              <a:t>仿真平台搭建与验证</a:t>
            </a:r>
            <a:br>
              <a:rPr lang="en-US" sz="1300" b="0" i="0" u="none" strike="noStrike">
                <a:solidFill>
                  <a:srgbClr val="333333"/>
                </a:solidFill>
                <a:latin typeface="微软雅黑"/>
                <a:ea typeface="微软雅黑"/>
                <a:cs typeface="微软雅黑"/>
                <a:sym typeface="微软雅黑"/>
              </a:rPr>
            </a:br>
            <a:r>
              <a:rPr lang="en-US" sz="1300" b="0" i="0" u="none" strike="noStrike">
                <a:solidFill>
                  <a:srgbClr val="333333"/>
                </a:solidFill>
                <a:latin typeface="微软雅黑"/>
                <a:ea typeface="微软雅黑"/>
                <a:cs typeface="微软雅黑"/>
                <a:sym typeface="微软雅黑"/>
              </a:rPr>
              <a:t>Simulation &amp; Experiment</a:t>
            </a:r>
            <a:endParaRPr lang="en-US" sz="1100"/>
          </a:p>
        </p:txBody>
      </p:sp>
      <p:sp>
        <p:nvSpPr>
          <p:cNvPr id="26" name="AutoShape 26"/>
          <p:cNvSpPr/>
          <p:nvPr/>
        </p:nvSpPr>
        <p:spPr>
          <a:xfrm>
            <a:off x="7747000" y="2794000"/>
            <a:ext cx="3556000" cy="1397000"/>
          </a:xfrm>
          <a:prstGeom prst="roundRect">
            <a:avLst>
              <a:gd name="adj" fmla="val 9090"/>
            </a:avLst>
          </a:prstGeom>
          <a:solidFill>
            <a:srgbClr val="FFFFFF">
              <a:alpha val="100000"/>
            </a:srgbClr>
          </a:solidFill>
          <a:ln w="25400" cap="flat" cmpd="sng">
            <a:noFill/>
            <a:prstDash val="solid"/>
            <a:round/>
          </a:ln>
          <a:effectLst>
            <a:outerShdw blurRad="190500" dist="50800" dir="5400000" algn="tl" rotWithShape="0">
              <a:srgbClr val="165DFF">
                <a:alpha val="12000"/>
              </a:srgbClr>
            </a:outerShdw>
          </a:effectLst>
        </p:spPr>
        <p:txBody>
          <a:bodyPr vert="horz" wrap="square" lIns="63500" tIns="63500" rIns="63500" bIns="63500" rtlCol="0" anchor="ctr"/>
          <a:lstStyle/>
          <a:p>
            <a:pPr algn="ctr">
              <a:defRPr/>
            </a:pPr>
            <a:endParaRPr/>
          </a:p>
        </p:txBody>
      </p:sp>
      <p:sp>
        <p:nvSpPr>
          <p:cNvPr id="27" name="AutoShape 27"/>
          <p:cNvSpPr/>
          <p:nvPr/>
        </p:nvSpPr>
        <p:spPr>
          <a:xfrm>
            <a:off x="8001000" y="3048000"/>
            <a:ext cx="889000" cy="889000"/>
          </a:xfrm>
          <a:prstGeom prst="ellipse">
            <a:avLst/>
          </a:prstGeom>
          <a:solidFill>
            <a:srgbClr val="E8F3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29600" y="3276600"/>
            <a:ext cx="431800" cy="431800"/>
          </a:xfrm>
          <a:prstGeom prst="rect">
            <a:avLst/>
          </a:prstGeom>
        </p:spPr>
      </p:pic>
      <p:sp>
        <p:nvSpPr>
          <p:cNvPr id="29" name="AutoShape 29"/>
          <p:cNvSpPr/>
          <p:nvPr/>
        </p:nvSpPr>
        <p:spPr>
          <a:xfrm>
            <a:off x="9144000" y="31115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65DFF"/>
                </a:solidFill>
                <a:latin typeface="微软雅黑"/>
                <a:ea typeface="微软雅黑"/>
                <a:cs typeface="微软雅黑"/>
                <a:sym typeface="微软雅黑"/>
              </a:rPr>
              <a:t>PART 05</a:t>
            </a:r>
            <a:endParaRPr lang="en-US" sz="1100"/>
          </a:p>
        </p:txBody>
      </p:sp>
      <p:sp>
        <p:nvSpPr>
          <p:cNvPr id="30" name="AutoShape 30"/>
          <p:cNvSpPr/>
          <p:nvPr/>
        </p:nvSpPr>
        <p:spPr>
          <a:xfrm>
            <a:off x="9144000" y="3556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333333"/>
                </a:solidFill>
                <a:latin typeface="微软雅黑"/>
                <a:ea typeface="微软雅黑"/>
                <a:cs typeface="微软雅黑"/>
                <a:sym typeface="微软雅黑"/>
              </a:rPr>
              <a:t>存在问题与后续规划</a:t>
            </a:r>
            <a:br>
              <a:rPr lang="en-US" sz="1300" b="0" i="0" u="none" strike="noStrike">
                <a:solidFill>
                  <a:srgbClr val="333333"/>
                </a:solidFill>
                <a:latin typeface="微软雅黑"/>
                <a:ea typeface="微软雅黑"/>
                <a:cs typeface="微软雅黑"/>
                <a:sym typeface="微软雅黑"/>
              </a:rPr>
            </a:br>
            <a:r>
              <a:rPr lang="en-US" sz="1300" b="0" i="0" u="none" strike="noStrike">
                <a:solidFill>
                  <a:srgbClr val="333333"/>
                </a:solidFill>
                <a:latin typeface="微软雅黑"/>
                <a:ea typeface="微软雅黑"/>
                <a:cs typeface="微软雅黑"/>
                <a:sym typeface="微软雅黑"/>
              </a:rPr>
              <a:t>Problems &amp; Future Work</a:t>
            </a:r>
            <a:endParaRPr lang="en-US" sz="1100"/>
          </a:p>
        </p:txBody>
      </p:sp>
      <p:sp>
        <p:nvSpPr>
          <p:cNvPr id="31" name="AutoShape 31"/>
          <p:cNvSpPr/>
          <p:nvPr/>
        </p:nvSpPr>
        <p:spPr>
          <a:xfrm>
            <a:off x="7747000" y="4826000"/>
            <a:ext cx="3556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99999"/>
                </a:solidFill>
                <a:latin typeface="微软雅黑"/>
                <a:ea typeface="微软雅黑"/>
                <a:cs typeface="微软雅黑"/>
                <a:sym typeface="微软雅黑"/>
              </a:rPr>
              <a:t>本课题旨在通过系统化的建模与实验验证，解决实际应用中的控制难题，并为后续的优化工作提供坚实基础。</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165DFF"/>
                </a:solidFill>
                <a:latin typeface="微软雅黑"/>
                <a:ea typeface="微软雅黑"/>
                <a:cs typeface="微软雅黑"/>
                <a:sym typeface="微软雅黑"/>
              </a:rPr>
              <a:t>课题来源与研究背景</a:t>
            </a:r>
            <a:endParaRPr lang="en-US" sz="1100"/>
          </a:p>
        </p:txBody>
      </p:sp>
      <p:sp>
        <p:nvSpPr>
          <p:cNvPr id="3" name="AutoShape 3"/>
          <p:cNvSpPr/>
          <p:nvPr/>
        </p:nvSpPr>
        <p:spPr>
          <a:xfrm>
            <a:off x="508000" y="1397000"/>
            <a:ext cx="5588000" cy="1143000"/>
          </a:xfrm>
          <a:prstGeom prst="roundRect">
            <a:avLst>
              <a:gd name="adj" fmla="val 13333"/>
            </a:avLst>
          </a:prstGeom>
          <a:solidFill>
            <a:srgbClr val="FFFFFF">
              <a:alpha val="100000"/>
            </a:srgbClr>
          </a:solidFill>
          <a:ln w="25400" cap="flat" cmpd="sng">
            <a:noFill/>
            <a:prstDash val="solid"/>
            <a:round/>
          </a:ln>
          <a:effectLst>
            <a:outerShdw blurRad="190500" dist="50800" dir="2700000" algn="tl" rotWithShape="0">
              <a:srgbClr val="165DFF">
                <a:alpha val="8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762000" y="1587500"/>
            <a:ext cx="762000" cy="762000"/>
          </a:xfrm>
          <a:prstGeom prst="roundRect">
            <a:avLst>
              <a:gd name="adj" fmla="val 16666"/>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1739900"/>
            <a:ext cx="457200" cy="457200"/>
          </a:xfrm>
          <a:prstGeom prst="rect">
            <a:avLst/>
          </a:prstGeom>
        </p:spPr>
      </p:pic>
      <p:sp>
        <p:nvSpPr>
          <p:cNvPr id="6" name="AutoShape 6"/>
          <p:cNvSpPr/>
          <p:nvPr/>
        </p:nvSpPr>
        <p:spPr>
          <a:xfrm>
            <a:off x="1778000" y="15494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课题项目来源</a:t>
            </a:r>
            <a:endParaRPr lang="en-US" sz="1100"/>
          </a:p>
        </p:txBody>
      </p:sp>
      <p:sp>
        <p:nvSpPr>
          <p:cNvPr id="7" name="AutoShape 7"/>
          <p:cNvSpPr/>
          <p:nvPr/>
        </p:nvSpPr>
        <p:spPr>
          <a:xfrm>
            <a:off x="1778000" y="19304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666666"/>
                </a:solidFill>
                <a:latin typeface="微软雅黑"/>
                <a:ea typeface="微软雅黑"/>
                <a:cs typeface="微软雅黑"/>
                <a:sym typeface="微软雅黑"/>
              </a:rPr>
              <a:t>课题来源于企业实际研发项目，以三舵轮全向移动底盘平台为核心研究对象。</a:t>
            </a:r>
            <a:endParaRPr lang="en-US" sz="1100"/>
          </a:p>
        </p:txBody>
      </p:sp>
      <p:sp>
        <p:nvSpPr>
          <p:cNvPr id="8" name="AutoShape 8"/>
          <p:cNvSpPr/>
          <p:nvPr/>
        </p:nvSpPr>
        <p:spPr>
          <a:xfrm>
            <a:off x="508000" y="2730500"/>
            <a:ext cx="5588000" cy="1143000"/>
          </a:xfrm>
          <a:prstGeom prst="roundRect">
            <a:avLst>
              <a:gd name="adj" fmla="val 13333"/>
            </a:avLst>
          </a:prstGeom>
          <a:solidFill>
            <a:srgbClr val="FFFFFF">
              <a:alpha val="100000"/>
            </a:srgbClr>
          </a:solidFill>
          <a:ln w="25400" cap="flat" cmpd="sng">
            <a:noFill/>
            <a:prstDash val="solid"/>
            <a:round/>
          </a:ln>
          <a:effectLst>
            <a:outerShdw blurRad="190500" dist="50800" dir="2700000" algn="tl" rotWithShape="0">
              <a:srgbClr val="165DFF">
                <a:alpha val="8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762000" y="2921000"/>
            <a:ext cx="762000" cy="762000"/>
          </a:xfrm>
          <a:prstGeom prst="roundRect">
            <a:avLst>
              <a:gd name="adj" fmla="val 16666"/>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3073400"/>
            <a:ext cx="457200" cy="457200"/>
          </a:xfrm>
          <a:prstGeom prst="rect">
            <a:avLst/>
          </a:prstGeom>
        </p:spPr>
      </p:pic>
      <p:sp>
        <p:nvSpPr>
          <p:cNvPr id="11" name="AutoShape 11"/>
          <p:cNvSpPr/>
          <p:nvPr/>
        </p:nvSpPr>
        <p:spPr>
          <a:xfrm>
            <a:off x="1778000" y="28829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全向运动优势</a:t>
            </a:r>
            <a:endParaRPr lang="en-US" sz="1100"/>
          </a:p>
        </p:txBody>
      </p:sp>
      <p:sp>
        <p:nvSpPr>
          <p:cNvPr id="12" name="AutoShape 12"/>
          <p:cNvSpPr/>
          <p:nvPr/>
        </p:nvSpPr>
        <p:spPr>
          <a:xfrm>
            <a:off x="1778000" y="32639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666666"/>
                </a:solidFill>
                <a:latin typeface="微软雅黑"/>
                <a:ea typeface="微软雅黑"/>
                <a:cs typeface="微软雅黑"/>
                <a:sym typeface="微软雅黑"/>
              </a:rPr>
              <a:t>具备前进、横移、自转等全向运动能力，可适应仓储、物流等对机动性要求高的场景。</a:t>
            </a:r>
            <a:endParaRPr lang="en-US" sz="1100"/>
          </a:p>
        </p:txBody>
      </p:sp>
      <p:sp>
        <p:nvSpPr>
          <p:cNvPr id="13" name="AutoShape 13"/>
          <p:cNvSpPr/>
          <p:nvPr/>
        </p:nvSpPr>
        <p:spPr>
          <a:xfrm>
            <a:off x="508000" y="4064000"/>
            <a:ext cx="5588000" cy="1143000"/>
          </a:xfrm>
          <a:prstGeom prst="roundRect">
            <a:avLst>
              <a:gd name="adj" fmla="val 13333"/>
            </a:avLst>
          </a:prstGeom>
          <a:solidFill>
            <a:srgbClr val="FFFFFF">
              <a:alpha val="100000"/>
            </a:srgbClr>
          </a:solidFill>
          <a:ln w="25400" cap="flat" cmpd="sng">
            <a:noFill/>
            <a:prstDash val="solid"/>
            <a:round/>
          </a:ln>
          <a:effectLst>
            <a:outerShdw blurRad="190500" dist="50800" dir="2700000" algn="tl" rotWithShape="0">
              <a:srgbClr val="165DFF">
                <a:alpha val="8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762000" y="4254500"/>
            <a:ext cx="762000" cy="762000"/>
          </a:xfrm>
          <a:prstGeom prst="roundRect">
            <a:avLst>
              <a:gd name="adj" fmla="val 16666"/>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4400" y="4406900"/>
            <a:ext cx="457200" cy="457200"/>
          </a:xfrm>
          <a:prstGeom prst="rect">
            <a:avLst/>
          </a:prstGeom>
        </p:spPr>
      </p:pic>
      <p:sp>
        <p:nvSpPr>
          <p:cNvPr id="16" name="AutoShape 16"/>
          <p:cNvSpPr/>
          <p:nvPr/>
        </p:nvSpPr>
        <p:spPr>
          <a:xfrm>
            <a:off x="1778000" y="42164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核心控制难点</a:t>
            </a:r>
            <a:endParaRPr lang="en-US" sz="1100"/>
          </a:p>
        </p:txBody>
      </p:sp>
      <p:sp>
        <p:nvSpPr>
          <p:cNvPr id="17" name="AutoShape 17"/>
          <p:cNvSpPr/>
          <p:nvPr/>
        </p:nvSpPr>
        <p:spPr>
          <a:xfrm>
            <a:off x="1778000" y="45974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666666"/>
                </a:solidFill>
                <a:latin typeface="微软雅黑"/>
                <a:ea typeface="微软雅黑"/>
                <a:cs typeface="微软雅黑"/>
                <a:sym typeface="微软雅黑"/>
              </a:rPr>
              <a:t>需解决复杂的运动学逆解算、多舵轮速度协调控制及实时控制程序的稳定实现问题。</a:t>
            </a:r>
            <a:endParaRPr lang="en-US" sz="1100"/>
          </a:p>
        </p:txBody>
      </p:sp>
      <p:sp>
        <p:nvSpPr>
          <p:cNvPr id="18" name="AutoShape 18"/>
          <p:cNvSpPr/>
          <p:nvPr/>
        </p:nvSpPr>
        <p:spPr>
          <a:xfrm>
            <a:off x="508000" y="5397500"/>
            <a:ext cx="5588000" cy="1079500"/>
          </a:xfrm>
          <a:prstGeom prst="roundRect">
            <a:avLst>
              <a:gd name="adj" fmla="val 14117"/>
            </a:avLst>
          </a:prstGeom>
          <a:solidFill>
            <a:srgbClr val="FFFFFF">
              <a:alpha val="100000"/>
            </a:srgbClr>
          </a:solidFill>
          <a:ln w="25400" cap="flat" cmpd="sng">
            <a:noFill/>
            <a:prstDash val="solid"/>
            <a:round/>
          </a:ln>
          <a:effectLst>
            <a:outerShdw blurRad="190500" dist="50800" dir="2700000" algn="tl" rotWithShape="0">
              <a:srgbClr val="165DFF">
                <a:alpha val="8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762000" y="5549900"/>
            <a:ext cx="762000" cy="762000"/>
          </a:xfrm>
          <a:prstGeom prst="roundRect">
            <a:avLst>
              <a:gd name="adj" fmla="val 16666"/>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4400" y="5702300"/>
            <a:ext cx="457200" cy="457200"/>
          </a:xfrm>
          <a:prstGeom prst="rect">
            <a:avLst/>
          </a:prstGeom>
        </p:spPr>
      </p:pic>
      <p:sp>
        <p:nvSpPr>
          <p:cNvPr id="21" name="AutoShape 21"/>
          <p:cNvSpPr/>
          <p:nvPr/>
        </p:nvSpPr>
        <p:spPr>
          <a:xfrm>
            <a:off x="1778000" y="55245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仿真预验证方案</a:t>
            </a:r>
            <a:endParaRPr lang="en-US" sz="1100"/>
          </a:p>
        </p:txBody>
      </p:sp>
      <p:sp>
        <p:nvSpPr>
          <p:cNvPr id="22" name="AutoShape 22"/>
          <p:cNvSpPr/>
          <p:nvPr/>
        </p:nvSpPr>
        <p:spPr>
          <a:xfrm>
            <a:off x="1778000" y="58674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666666"/>
                </a:solidFill>
                <a:latin typeface="微软雅黑"/>
                <a:ea typeface="微软雅黑"/>
                <a:cs typeface="微软雅黑"/>
                <a:sym typeface="微软雅黑"/>
              </a:rPr>
              <a:t>引入仿真平台对控制逻辑进行预验证，降低实物调试风险，有效缩短开发周期。</a:t>
            </a:r>
            <a:endParaRPr lang="en-US" sz="1100"/>
          </a:p>
        </p:txBody>
      </p:sp>
      <p:sp>
        <p:nvSpPr>
          <p:cNvPr id="23" name="AutoShape 23"/>
          <p:cNvSpPr/>
          <p:nvPr/>
        </p:nvSpPr>
        <p:spPr>
          <a:xfrm>
            <a:off x="6350000" y="1397000"/>
            <a:ext cx="5334000" cy="5080000"/>
          </a:xfrm>
          <a:prstGeom prst="roundRect">
            <a:avLst>
              <a:gd name="adj" fmla="val 4000"/>
            </a:avLst>
          </a:prstGeom>
          <a:solidFill>
            <a:srgbClr val="FFFFFF">
              <a:alpha val="100000"/>
            </a:srgbClr>
          </a:solidFill>
          <a:ln w="25400" cap="flat" cmpd="sng">
            <a:noFill/>
            <a:prstDash val="solid"/>
            <a:round/>
          </a:ln>
          <a:effectLst>
            <a:outerShdw blurRad="254000" dist="76200" dir="2700000" algn="tl" rotWithShape="0">
              <a:srgbClr val="000000">
                <a:alpha val="10000"/>
              </a:srgbClr>
            </a:outerShdw>
          </a:effectLst>
        </p:spPr>
        <p:txBody>
          <a:bodyPr vert="horz" wrap="square" lIns="63500" tIns="63500" rIns="63500" bIns="63500" rtlCol="0" anchor="ctr"/>
          <a:lstStyle/>
          <a:p>
            <a:pPr algn="ctr">
              <a:defRPr/>
            </a:pPr>
            <a:endParaRPr/>
          </a:p>
        </p:txBody>
      </p:sp>
      <p:sp>
        <p:nvSpPr>
          <p:cNvPr id="24" name="AutoShape 24"/>
          <p:cNvSpPr/>
          <p:nvPr/>
        </p:nvSpPr>
        <p:spPr>
          <a:xfrm>
            <a:off x="7112000" y="2032000"/>
            <a:ext cx="3810000" cy="2540000"/>
          </a:xfrm>
          <a:prstGeom prst="roundRect">
            <a:avLst>
              <a:gd name="adj" fmla="val 8000"/>
            </a:avLst>
          </a:prstGeom>
          <a:solidFill>
            <a:srgbClr val="EBF2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01000" y="2413000"/>
            <a:ext cx="2032000" cy="2032000"/>
          </a:xfrm>
          <a:prstGeom prst="rect">
            <a:avLst/>
          </a:prstGeom>
        </p:spPr>
      </p:pic>
      <p:sp>
        <p:nvSpPr>
          <p:cNvPr id="26" name="AutoShape 26"/>
          <p:cNvSpPr/>
          <p:nvPr/>
        </p:nvSpPr>
        <p:spPr>
          <a:xfrm>
            <a:off x="6604000" y="49530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微软雅黑"/>
                <a:ea typeface="微软雅黑"/>
                <a:cs typeface="微软雅黑"/>
                <a:sym typeface="微软雅黑"/>
              </a:rPr>
              <a:t>全向运动模式示意图</a:t>
            </a:r>
            <a:endParaRPr lang="en-US" sz="1100"/>
          </a:p>
        </p:txBody>
      </p:sp>
      <p:sp>
        <p:nvSpPr>
          <p:cNvPr id="27" name="AutoShape 27"/>
          <p:cNvSpPr/>
          <p:nvPr/>
        </p:nvSpPr>
        <p:spPr>
          <a:xfrm>
            <a:off x="6604000" y="5461000"/>
            <a:ext cx="4826000" cy="508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200" b="0" i="0" u="none" strike="noStrike">
                <a:solidFill>
                  <a:srgbClr val="888888"/>
                </a:solidFill>
                <a:latin typeface="微软雅黑"/>
                <a:ea typeface="微软雅黑"/>
                <a:cs typeface="微软雅黑"/>
                <a:sym typeface="微软雅黑"/>
              </a:rPr>
              <a:t>图示：三舵轮独立驱动与速度合成逻辑</a:t>
            </a:r>
            <a:br>
              <a:rPr lang="en-US" sz="1200" b="0" i="0" u="none" strike="noStrike">
                <a:solidFill>
                  <a:srgbClr val="888888"/>
                </a:solidFill>
                <a:latin typeface="微软雅黑"/>
                <a:ea typeface="微软雅黑"/>
                <a:cs typeface="微软雅黑"/>
                <a:sym typeface="微软雅黑"/>
              </a:rPr>
            </a:br>
            <a:r>
              <a:rPr lang="en-US" sz="1200" b="0" i="0" u="none" strike="noStrike">
                <a:solidFill>
                  <a:srgbClr val="888888"/>
                </a:solidFill>
                <a:latin typeface="微软雅黑"/>
                <a:ea typeface="微软雅黑"/>
                <a:cs typeface="微软雅黑"/>
                <a:sym typeface="微软雅黑"/>
              </a:rPr>
              <a:t>实现平面内任意方向的灵活移动</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165DFF"/>
                </a:solidFill>
                <a:latin typeface="微软雅黑"/>
                <a:ea typeface="微软雅黑"/>
                <a:cs typeface="微软雅黑"/>
                <a:sym typeface="微软雅黑"/>
              </a:rPr>
              <a:t>课题任务与研究目标</a:t>
            </a:r>
            <a:endParaRPr lang="en-US" sz="1100"/>
          </a:p>
        </p:txBody>
      </p:sp>
      <p:sp>
        <p:nvSpPr>
          <p:cNvPr id="3" name="AutoShape 3"/>
          <p:cNvSpPr/>
          <p:nvPr/>
        </p:nvSpPr>
        <p:spPr>
          <a:xfrm>
            <a:off x="508000" y="1270000"/>
            <a:ext cx="5461000" cy="2794000"/>
          </a:xfrm>
          <a:prstGeom prst="roundRect">
            <a:avLst>
              <a:gd name="adj" fmla="val 5454"/>
            </a:avLst>
          </a:prstGeom>
          <a:solidFill>
            <a:srgbClr val="165DFF">
              <a:alpha val="6000"/>
            </a:srgbClr>
          </a:solidFill>
          <a:ln cap="flat" cmpd="sng">
            <a:solidFill>
              <a:srgbClr val="0046E6">
                <a:alpha val="6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4605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65DFF"/>
                </a:solidFill>
                <a:latin typeface="微软雅黑"/>
                <a:ea typeface="微软雅黑"/>
                <a:cs typeface="微软雅黑"/>
                <a:sym typeface="微软雅黑"/>
              </a:rPr>
              <a:t>01 / 课题任务分解</a:t>
            </a:r>
            <a:endParaRPr lang="en-US" sz="1100"/>
          </a:p>
        </p:txBody>
      </p:sp>
      <p:sp>
        <p:nvSpPr>
          <p:cNvPr id="5" name="AutoShape 5"/>
          <p:cNvSpPr/>
          <p:nvPr/>
        </p:nvSpPr>
        <p:spPr>
          <a:xfrm>
            <a:off x="762000" y="2032000"/>
            <a:ext cx="4953000" cy="177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微软雅黑"/>
                <a:ea typeface="微软雅黑"/>
                <a:cs typeface="微软雅黑"/>
                <a:sym typeface="微软雅黑"/>
              </a:rPr>
              <a:t>• 建立三舵轮底盘的运动学正逆解模型，推导全向运动约束方程</a:t>
            </a:r>
            <a:endParaRPr lang="en-US" sz="1100"/>
          </a:p>
          <a:p>
            <a:pPr indent="0" algn="l">
              <a:lnSpc>
                <a:spcPct val="125000"/>
              </a:lnSpc>
            </a:pPr>
            <a:r>
              <a:rPr lang="en-US" sz="1200" b="0" i="0" u="none" strike="noStrike">
                <a:solidFill>
                  <a:srgbClr val="333333"/>
                </a:solidFill>
                <a:latin typeface="微软雅黑"/>
                <a:ea typeface="微软雅黑"/>
                <a:cs typeface="微软雅黑"/>
                <a:sym typeface="微软雅黑"/>
              </a:rPr>
              <a:t>• 基于STM32开发底层控制程序，实现电机闭环与指令解析</a:t>
            </a:r>
          </a:p>
          <a:p>
            <a:pPr indent="0" algn="l">
              <a:lnSpc>
                <a:spcPct val="125000"/>
              </a:lnSpc>
            </a:pPr>
            <a:r>
              <a:rPr lang="en-US" sz="1200" b="0" i="0" u="none" strike="noStrike">
                <a:solidFill>
                  <a:srgbClr val="333333"/>
                </a:solidFill>
                <a:latin typeface="微软雅黑"/>
                <a:ea typeface="微软雅黑"/>
                <a:cs typeface="微软雅黑"/>
                <a:sym typeface="微软雅黑"/>
              </a:rPr>
              <a:t>• 集成2.4G无线手柄模块，构建低延迟的实时遥操作控制链路</a:t>
            </a:r>
          </a:p>
          <a:p>
            <a:pPr indent="0" algn="l">
              <a:lnSpc>
                <a:spcPct val="125000"/>
              </a:lnSpc>
            </a:pPr>
            <a:r>
              <a:rPr lang="en-US" sz="1200" b="0" i="0" u="none" strike="noStrike">
                <a:solidFill>
                  <a:srgbClr val="333333"/>
                </a:solidFill>
                <a:latin typeface="微软雅黑"/>
                <a:ea typeface="微软雅黑"/>
                <a:cs typeface="微软雅黑"/>
                <a:sym typeface="微软雅黑"/>
              </a:rPr>
              <a:t>• 搭建ROS-Gazebo仿真平台，开展不同工况下的运动性能测试</a:t>
            </a:r>
          </a:p>
          <a:p>
            <a:pPr indent="0" algn="l">
              <a:lnSpc>
                <a:spcPct val="125000"/>
              </a:lnSpc>
            </a:pPr>
            <a:r>
              <a:rPr lang="en-US" sz="1200" b="0" i="0" u="none" strike="noStrike">
                <a:solidFill>
                  <a:srgbClr val="333333"/>
                </a:solidFill>
                <a:latin typeface="微软雅黑"/>
                <a:ea typeface="微软雅黑"/>
                <a:cs typeface="微软雅黑"/>
                <a:sym typeface="微软雅黑"/>
              </a:rPr>
              <a:t>• 整理实验数据与分析结果，完成学位论文的撰写与优化</a:t>
            </a:r>
          </a:p>
        </p:txBody>
      </p:sp>
      <p:sp>
        <p:nvSpPr>
          <p:cNvPr id="6" name="AutoShape 6"/>
          <p:cNvSpPr/>
          <p:nvPr/>
        </p:nvSpPr>
        <p:spPr>
          <a:xfrm>
            <a:off x="6223000" y="1270000"/>
            <a:ext cx="5461000" cy="2794000"/>
          </a:xfrm>
          <a:prstGeom prst="roundRect">
            <a:avLst>
              <a:gd name="adj" fmla="val 5454"/>
            </a:avLst>
          </a:prstGeom>
          <a:solidFill>
            <a:srgbClr val="165DFF">
              <a:alpha val="6000"/>
            </a:srgbClr>
          </a:solidFill>
          <a:ln cap="flat" cmpd="sng">
            <a:solidFill>
              <a:srgbClr val="0046E6">
                <a:alpha val="6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477000" y="14605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65DFF"/>
                </a:solidFill>
                <a:latin typeface="微软雅黑"/>
                <a:ea typeface="微软雅黑"/>
                <a:cs typeface="微软雅黑"/>
                <a:sym typeface="微软雅黑"/>
              </a:rPr>
              <a:t>02 / 核心研究目标</a:t>
            </a:r>
            <a:endParaRPr lang="en-US" sz="1100"/>
          </a:p>
        </p:txBody>
      </p:sp>
      <p:sp>
        <p:nvSpPr>
          <p:cNvPr id="8" name="AutoShape 8"/>
          <p:cNvSpPr/>
          <p:nvPr/>
        </p:nvSpPr>
        <p:spPr>
          <a:xfrm>
            <a:off x="6477000" y="2032000"/>
            <a:ext cx="4953000" cy="1778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200" b="0" i="0" u="none" strike="noStrike">
                <a:solidFill>
                  <a:srgbClr val="333333"/>
                </a:solidFill>
                <a:latin typeface="微软雅黑"/>
                <a:ea typeface="微软雅黑"/>
                <a:cs typeface="微软雅黑"/>
                <a:sym typeface="微软雅黑"/>
              </a:rPr>
              <a:t>•</a:t>
            </a:r>
            <a:r>
              <a:rPr lang="en-US" sz="1200" b="1" i="0" u="none" strike="noStrike">
                <a:solidFill>
                  <a:srgbClr val="333333"/>
                </a:solidFill>
                <a:latin typeface="微软雅黑"/>
                <a:ea typeface="微软雅黑"/>
                <a:cs typeface="微软雅黑"/>
                <a:sym typeface="微软雅黑"/>
              </a:rPr>
              <a:t>功能完备性：</a:t>
            </a:r>
            <a:r>
              <a:rPr lang="en-US" sz="1200" b="0" i="0" u="none" strike="noStrike">
                <a:solidFill>
                  <a:srgbClr val="333333"/>
                </a:solidFill>
                <a:latin typeface="微软雅黑"/>
                <a:ea typeface="微软雅黑"/>
                <a:cs typeface="微软雅黑"/>
                <a:sym typeface="微软雅黑"/>
              </a:rPr>
              <a:t>实现底盘“前进、后退、横移、旋转”等基础全向运动控制，无运动死角。</a:t>
            </a:r>
            <a:endParaRPr lang="en-US" sz="1100"/>
          </a:p>
          <a:p>
            <a:pPr indent="0" algn="l">
              <a:lnSpc>
                <a:spcPct val="133333"/>
              </a:lnSpc>
            </a:pPr>
            <a:r>
              <a:rPr lang="en-US" sz="1200" b="0" i="0" u="none" strike="noStrike">
                <a:solidFill>
                  <a:srgbClr val="333333"/>
                </a:solidFill>
                <a:latin typeface="微软雅黑"/>
                <a:ea typeface="微软雅黑"/>
                <a:cs typeface="微软雅黑"/>
                <a:sym typeface="微软雅黑"/>
              </a:rPr>
              <a:t>•</a:t>
            </a:r>
            <a:r>
              <a:rPr lang="en-US" sz="1200" b="1" i="0" u="none" strike="noStrike">
                <a:solidFill>
                  <a:srgbClr val="333333"/>
                </a:solidFill>
                <a:latin typeface="微软雅黑"/>
                <a:ea typeface="微软雅黑"/>
                <a:cs typeface="微软雅黑"/>
                <a:sym typeface="微软雅黑"/>
              </a:rPr>
              <a:t>控制准确性：</a:t>
            </a:r>
            <a:r>
              <a:rPr lang="en-US" sz="1200" b="0" i="0" u="none" strike="noStrike">
                <a:solidFill>
                  <a:srgbClr val="333333"/>
                </a:solidFill>
                <a:latin typeface="微软雅黑"/>
                <a:ea typeface="微软雅黑"/>
                <a:cs typeface="微软雅黑"/>
                <a:sym typeface="微软雅黑"/>
              </a:rPr>
              <a:t>通过闭环控制算法，确保底盘运动轨迹与期望指令高度吻合，降低误差。</a:t>
            </a:r>
          </a:p>
          <a:p>
            <a:pPr indent="0" algn="l">
              <a:lnSpc>
                <a:spcPct val="133333"/>
              </a:lnSpc>
            </a:pPr>
            <a:r>
              <a:rPr lang="en-US" sz="1200" b="0" i="0" u="none" strike="noStrike">
                <a:solidFill>
                  <a:srgbClr val="333333"/>
                </a:solidFill>
                <a:latin typeface="微软雅黑"/>
                <a:ea typeface="微软雅黑"/>
                <a:cs typeface="微软雅黑"/>
                <a:sym typeface="微软雅黑"/>
              </a:rPr>
              <a:t>•</a:t>
            </a:r>
            <a:r>
              <a:rPr lang="en-US" sz="1200" b="1" i="0" u="none" strike="noStrike">
                <a:solidFill>
                  <a:srgbClr val="333333"/>
                </a:solidFill>
                <a:latin typeface="微软雅黑"/>
                <a:ea typeface="微软雅黑"/>
                <a:cs typeface="微软雅黑"/>
                <a:sym typeface="微软雅黑"/>
              </a:rPr>
              <a:t>方案有效性：</a:t>
            </a:r>
            <a:r>
              <a:rPr lang="en-US" sz="1200" b="0" i="0" u="none" strike="noStrike">
                <a:solidFill>
                  <a:srgbClr val="333333"/>
                </a:solidFill>
                <a:latin typeface="微软雅黑"/>
                <a:ea typeface="微软雅黑"/>
                <a:cs typeface="微软雅黑"/>
                <a:sym typeface="微软雅黑"/>
              </a:rPr>
              <a:t>在仿真环境与实物实验平台上分别验证控制方法的可行性与稳定性。</a:t>
            </a:r>
          </a:p>
        </p:txBody>
      </p:sp>
      <p:sp>
        <p:nvSpPr>
          <p:cNvPr id="9" name="AutoShape 9"/>
          <p:cNvSpPr/>
          <p:nvPr/>
        </p:nvSpPr>
        <p:spPr>
          <a:xfrm>
            <a:off x="508000" y="4318000"/>
            <a:ext cx="11176000" cy="1905000"/>
          </a:xfrm>
          <a:prstGeom prst="roundRect">
            <a:avLst>
              <a:gd name="adj" fmla="val 8000"/>
            </a:avLst>
          </a:prstGeom>
          <a:solidFill>
            <a:srgbClr val="F5F7FA">
              <a:alpha val="100000"/>
            </a:srgbClr>
          </a:solidFill>
          <a:ln w="12700" cap="flat" cmpd="sng">
            <a:solidFill>
              <a:srgbClr val="165D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4762500"/>
            <a:ext cx="1016000" cy="1016000"/>
          </a:xfrm>
          <a:prstGeom prst="rect">
            <a:avLst/>
          </a:prstGeom>
        </p:spPr>
      </p:pic>
      <p:sp>
        <p:nvSpPr>
          <p:cNvPr id="11" name="AutoShape 11"/>
          <p:cNvSpPr/>
          <p:nvPr/>
        </p:nvSpPr>
        <p:spPr>
          <a:xfrm>
            <a:off x="2159000" y="4699000"/>
            <a:ext cx="8636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600" b="1" i="0" u="none" strike="noStrike">
                <a:solidFill>
                  <a:srgbClr val="1F2329"/>
                </a:solidFill>
                <a:latin typeface="微软雅黑"/>
                <a:ea typeface="微软雅黑"/>
                <a:cs typeface="微软雅黑"/>
                <a:sym typeface="微软雅黑"/>
              </a:rPr>
              <a:t>课题任务执行流程可视化</a:t>
            </a:r>
            <a:endParaRPr lang="en-US" sz="1100"/>
          </a:p>
          <a:p>
            <a:pPr indent="0" algn="l">
              <a:lnSpc>
                <a:spcPct val="116666"/>
              </a:lnSpc>
            </a:pPr>
            <a:r>
              <a:rPr lang="en-US" sz="1200" b="0" i="0" u="none" strike="noStrike">
                <a:solidFill>
                  <a:srgbClr val="646A73"/>
                </a:solidFill>
                <a:latin typeface="微软雅黑"/>
                <a:ea typeface="微软雅黑"/>
                <a:cs typeface="微软雅黑"/>
                <a:sym typeface="微软雅黑"/>
              </a:rPr>
              <a:t>此处放置课题任务流程框图，直观展示从“模型建立”到“程序开发”，再到“仿真验证”与“实物实验”的完整研究链路，体现研究的系统性与逻辑性。</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165DFF"/>
                </a:solidFill>
                <a:latin typeface="微软雅黑"/>
                <a:ea typeface="微软雅黑"/>
                <a:cs typeface="微软雅黑"/>
                <a:sym typeface="微软雅黑"/>
              </a:rPr>
              <a:t>系统总体方案</a:t>
            </a:r>
            <a:endParaRPr lang="en-US" sz="1100"/>
          </a:p>
        </p:txBody>
      </p:sp>
      <p:sp>
        <p:nvSpPr>
          <p:cNvPr id="3" name="AutoShape 3"/>
          <p:cNvSpPr/>
          <p:nvPr/>
        </p:nvSpPr>
        <p:spPr>
          <a:xfrm>
            <a:off x="508000" y="1270000"/>
            <a:ext cx="5334000" cy="4953000"/>
          </a:xfrm>
          <a:prstGeom prst="roundRect">
            <a:avLst>
              <a:gd name="adj" fmla="val 3076"/>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762000" y="1524000"/>
            <a:ext cx="4826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555555"/>
                </a:solidFill>
                <a:latin typeface="微软雅黑"/>
                <a:ea typeface="微软雅黑"/>
                <a:cs typeface="微软雅黑"/>
                <a:sym typeface="微软雅黑"/>
              </a:rPr>
              <a:t>本系统采用分层控制架构，将复杂的控制任务拆解为多个独立模块，有效提高了系统的可维护性与功能扩展性。</a:t>
            </a:r>
            <a:endParaRPr lang="en-US" sz="1100"/>
          </a:p>
        </p:txBody>
      </p:sp>
      <p:sp>
        <p:nvSpPr>
          <p:cNvPr id="5" name="AutoShape 5"/>
          <p:cNvSpPr/>
          <p:nvPr/>
        </p:nvSpPr>
        <p:spPr>
          <a:xfrm>
            <a:off x="762000" y="2413000"/>
            <a:ext cx="2349500" cy="1206500"/>
          </a:xfrm>
          <a:prstGeom prst="roundRect">
            <a:avLst>
              <a:gd name="adj" fmla="val 8421"/>
            </a:avLst>
          </a:prstGeom>
          <a:solidFill>
            <a:srgbClr val="ECF2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413000"/>
            <a:ext cx="50800" cy="12065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25400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65DFF"/>
                </a:solidFill>
                <a:latin typeface="微软雅黑"/>
                <a:ea typeface="微软雅黑"/>
                <a:cs typeface="微软雅黑"/>
                <a:sym typeface="微软雅黑"/>
              </a:rPr>
              <a:t>输入层 Input Layer</a:t>
            </a:r>
            <a:endParaRPr lang="en-US" sz="1100"/>
          </a:p>
        </p:txBody>
      </p:sp>
      <p:sp>
        <p:nvSpPr>
          <p:cNvPr id="8" name="AutoShape 8"/>
          <p:cNvSpPr/>
          <p:nvPr/>
        </p:nvSpPr>
        <p:spPr>
          <a:xfrm>
            <a:off x="952500" y="2921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微软雅黑"/>
                <a:ea typeface="微软雅黑"/>
                <a:cs typeface="微软雅黑"/>
                <a:sym typeface="微软雅黑"/>
              </a:rPr>
              <a:t>接收手柄输入或上层规划模块下发的全局速度指令。</a:t>
            </a:r>
            <a:endParaRPr lang="en-US" sz="1100"/>
          </a:p>
        </p:txBody>
      </p:sp>
      <p:sp>
        <p:nvSpPr>
          <p:cNvPr id="9" name="AutoShape 9"/>
          <p:cNvSpPr/>
          <p:nvPr/>
        </p:nvSpPr>
        <p:spPr>
          <a:xfrm>
            <a:off x="3365500" y="2413000"/>
            <a:ext cx="2349500" cy="1206500"/>
          </a:xfrm>
          <a:prstGeom prst="roundRect">
            <a:avLst>
              <a:gd name="adj" fmla="val 8421"/>
            </a:avLst>
          </a:prstGeom>
          <a:solidFill>
            <a:srgbClr val="ECF2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365500" y="2413000"/>
            <a:ext cx="50800" cy="12065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3556000" y="25400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65DFF"/>
                </a:solidFill>
                <a:latin typeface="微软雅黑"/>
                <a:ea typeface="微软雅黑"/>
                <a:cs typeface="微软雅黑"/>
                <a:sym typeface="微软雅黑"/>
              </a:rPr>
              <a:t>指令处理层 Cmd Proc</a:t>
            </a:r>
            <a:endParaRPr lang="en-US" sz="1100"/>
          </a:p>
        </p:txBody>
      </p:sp>
      <p:sp>
        <p:nvSpPr>
          <p:cNvPr id="12" name="AutoShape 12"/>
          <p:cNvSpPr/>
          <p:nvPr/>
        </p:nvSpPr>
        <p:spPr>
          <a:xfrm>
            <a:off x="3556000" y="2921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微软雅黑"/>
                <a:ea typeface="微软雅黑"/>
                <a:cs typeface="微软雅黑"/>
                <a:sym typeface="微软雅黑"/>
              </a:rPr>
              <a:t>解析原始输入数据，生成车体坐标系下的目标速度Vx、Vy、ω。</a:t>
            </a:r>
            <a:endParaRPr lang="en-US" sz="1100"/>
          </a:p>
        </p:txBody>
      </p:sp>
      <p:sp>
        <p:nvSpPr>
          <p:cNvPr id="13" name="AutoShape 13"/>
          <p:cNvSpPr/>
          <p:nvPr/>
        </p:nvSpPr>
        <p:spPr>
          <a:xfrm>
            <a:off x="762000" y="3746500"/>
            <a:ext cx="2349500" cy="1206500"/>
          </a:xfrm>
          <a:prstGeom prst="roundRect">
            <a:avLst>
              <a:gd name="adj" fmla="val 8421"/>
            </a:avLst>
          </a:prstGeom>
          <a:solidFill>
            <a:srgbClr val="ECF2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762000" y="3746500"/>
            <a:ext cx="50800" cy="12065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952500" y="3873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65DFF"/>
                </a:solidFill>
                <a:latin typeface="微软雅黑"/>
                <a:ea typeface="微软雅黑"/>
                <a:cs typeface="微软雅黑"/>
                <a:sym typeface="微软雅黑"/>
              </a:rPr>
              <a:t>控制层 Control Layer</a:t>
            </a:r>
            <a:endParaRPr lang="en-US" sz="1100"/>
          </a:p>
        </p:txBody>
      </p:sp>
      <p:sp>
        <p:nvSpPr>
          <p:cNvPr id="16" name="AutoShape 16"/>
          <p:cNvSpPr/>
          <p:nvPr/>
        </p:nvSpPr>
        <p:spPr>
          <a:xfrm>
            <a:off x="952500" y="42545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微软雅黑"/>
                <a:ea typeface="微软雅黑"/>
                <a:cs typeface="微软雅黑"/>
                <a:sym typeface="微软雅黑"/>
              </a:rPr>
              <a:t>执行速度平滑滤波处理，并完成三舵轮底盘的逆运动学解算。</a:t>
            </a:r>
            <a:endParaRPr lang="en-US" sz="1100"/>
          </a:p>
        </p:txBody>
      </p:sp>
      <p:sp>
        <p:nvSpPr>
          <p:cNvPr id="17" name="AutoShape 17"/>
          <p:cNvSpPr/>
          <p:nvPr/>
        </p:nvSpPr>
        <p:spPr>
          <a:xfrm>
            <a:off x="3365500" y="3746500"/>
            <a:ext cx="2349500" cy="1206500"/>
          </a:xfrm>
          <a:prstGeom prst="roundRect">
            <a:avLst>
              <a:gd name="adj" fmla="val 8421"/>
            </a:avLst>
          </a:prstGeom>
          <a:solidFill>
            <a:srgbClr val="ECF2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3365500" y="3746500"/>
            <a:ext cx="50800" cy="12065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3556000" y="3873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65DFF"/>
                </a:solidFill>
                <a:latin typeface="微软雅黑"/>
                <a:ea typeface="微软雅黑"/>
                <a:cs typeface="微软雅黑"/>
                <a:sym typeface="微软雅黑"/>
              </a:rPr>
              <a:t>执行层 Execution</a:t>
            </a:r>
            <a:endParaRPr lang="en-US" sz="1100"/>
          </a:p>
        </p:txBody>
      </p:sp>
      <p:sp>
        <p:nvSpPr>
          <p:cNvPr id="20" name="AutoShape 20"/>
          <p:cNvSpPr/>
          <p:nvPr/>
        </p:nvSpPr>
        <p:spPr>
          <a:xfrm>
            <a:off x="3556000" y="42545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微软雅黑"/>
                <a:ea typeface="微软雅黑"/>
                <a:cs typeface="微软雅黑"/>
                <a:sym typeface="微软雅黑"/>
              </a:rPr>
              <a:t>将解算结果转换为各舵轮的PWM信号，下发舵角与轮速命令。</a:t>
            </a:r>
            <a:endParaRPr lang="en-US" sz="1100"/>
          </a:p>
        </p:txBody>
      </p:sp>
      <p:sp>
        <p:nvSpPr>
          <p:cNvPr id="21" name="AutoShape 21"/>
          <p:cNvSpPr/>
          <p:nvPr/>
        </p:nvSpPr>
        <p:spPr>
          <a:xfrm>
            <a:off x="762000" y="5080000"/>
            <a:ext cx="2349500" cy="1016000"/>
          </a:xfrm>
          <a:prstGeom prst="roundRect">
            <a:avLst>
              <a:gd name="adj" fmla="val 10000"/>
            </a:avLst>
          </a:prstGeom>
          <a:solidFill>
            <a:srgbClr val="ECF2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762000" y="5080000"/>
            <a:ext cx="50800" cy="1016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952500" y="5207000"/>
            <a:ext cx="203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65DFF"/>
                </a:solidFill>
                <a:latin typeface="微软雅黑"/>
                <a:ea typeface="微软雅黑"/>
                <a:cs typeface="微软雅黑"/>
                <a:sym typeface="微软雅黑"/>
              </a:rPr>
              <a:t>反馈层 Feedback</a:t>
            </a:r>
            <a:endParaRPr lang="en-US" sz="1100"/>
          </a:p>
        </p:txBody>
      </p:sp>
      <p:sp>
        <p:nvSpPr>
          <p:cNvPr id="24" name="AutoShape 24"/>
          <p:cNvSpPr/>
          <p:nvPr/>
        </p:nvSpPr>
        <p:spPr>
          <a:xfrm>
            <a:off x="952500" y="55245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微软雅黑"/>
                <a:ea typeface="微软雅黑"/>
                <a:cs typeface="微软雅黑"/>
                <a:sym typeface="微软雅黑"/>
              </a:rPr>
              <a:t>读取编码器状态，实时更新底盘运动闭环。</a:t>
            </a:r>
            <a:endParaRPr lang="en-US" sz="1100"/>
          </a:p>
        </p:txBody>
      </p:sp>
      <p:sp>
        <p:nvSpPr>
          <p:cNvPr id="25" name="AutoShape 25"/>
          <p:cNvSpPr/>
          <p:nvPr/>
        </p:nvSpPr>
        <p:spPr>
          <a:xfrm>
            <a:off x="3365500" y="5080000"/>
            <a:ext cx="2349500" cy="1016000"/>
          </a:xfrm>
          <a:prstGeom prst="roundRect">
            <a:avLst>
              <a:gd name="adj" fmla="val 10000"/>
            </a:avLst>
          </a:prstGeom>
          <a:solidFill>
            <a:srgbClr val="ECF2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3365500" y="5080000"/>
            <a:ext cx="50800" cy="1016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3556000" y="5207000"/>
            <a:ext cx="203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65DFF"/>
                </a:solidFill>
                <a:latin typeface="微软雅黑"/>
                <a:ea typeface="微软雅黑"/>
                <a:cs typeface="微软雅黑"/>
                <a:sym typeface="微软雅黑"/>
              </a:rPr>
              <a:t>验证层 Verification</a:t>
            </a:r>
            <a:endParaRPr lang="en-US" sz="1100"/>
          </a:p>
        </p:txBody>
      </p:sp>
      <p:sp>
        <p:nvSpPr>
          <p:cNvPr id="28" name="AutoShape 28"/>
          <p:cNvSpPr/>
          <p:nvPr/>
        </p:nvSpPr>
        <p:spPr>
          <a:xfrm>
            <a:off x="3556000" y="55245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微软雅黑"/>
                <a:ea typeface="微软雅黑"/>
                <a:cs typeface="微软雅黑"/>
                <a:sym typeface="微软雅黑"/>
              </a:rPr>
              <a:t>仿真与实物双重测试，验证系统稳定性。</a:t>
            </a:r>
            <a:endParaRPr lang="en-US" sz="1100"/>
          </a:p>
        </p:txBody>
      </p:sp>
      <p:sp>
        <p:nvSpPr>
          <p:cNvPr id="29" name="AutoShape 29"/>
          <p:cNvSpPr/>
          <p:nvPr/>
        </p:nvSpPr>
        <p:spPr>
          <a:xfrm>
            <a:off x="6096000" y="1270000"/>
            <a:ext cx="5461000" cy="4953000"/>
          </a:xfrm>
          <a:prstGeom prst="roundRect">
            <a:avLst>
              <a:gd name="adj" fmla="val 3076"/>
            </a:avLst>
          </a:prstGeom>
          <a:solidFill>
            <a:srgbClr val="FFFFFF">
              <a:alpha val="100000"/>
            </a:srgbClr>
          </a:solidFill>
          <a:ln w="25400" cap="flat" cmpd="sng">
            <a:noFill/>
            <a:prstDash val="solid"/>
            <a:round/>
          </a:ln>
          <a:effectLst>
            <a:outerShdw blurRad="190500" dist="762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10500" y="2413000"/>
            <a:ext cx="2032000" cy="2032000"/>
          </a:xfrm>
          <a:prstGeom prst="rect">
            <a:avLst/>
          </a:prstGeom>
        </p:spPr>
      </p:pic>
      <p:sp>
        <p:nvSpPr>
          <p:cNvPr id="31" name="AutoShape 31"/>
          <p:cNvSpPr/>
          <p:nvPr/>
        </p:nvSpPr>
        <p:spPr>
          <a:xfrm>
            <a:off x="6096000" y="4699000"/>
            <a:ext cx="546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微软雅黑"/>
                <a:ea typeface="微软雅黑"/>
                <a:cs typeface="微软雅黑"/>
                <a:sym typeface="微软雅黑"/>
              </a:rPr>
              <a:t>系统总体架构框图</a:t>
            </a:r>
            <a:endParaRPr lang="en-US" sz="1100"/>
          </a:p>
        </p:txBody>
      </p:sp>
      <p:sp>
        <p:nvSpPr>
          <p:cNvPr id="32" name="AutoShape 32"/>
          <p:cNvSpPr/>
          <p:nvPr/>
        </p:nvSpPr>
        <p:spPr>
          <a:xfrm>
            <a:off x="6096000" y="5334000"/>
            <a:ext cx="546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spc="100">
                <a:solidFill>
                  <a:srgbClr val="969696"/>
                </a:solidFill>
                <a:latin typeface="微软雅黑"/>
                <a:ea typeface="微软雅黑"/>
                <a:cs typeface="微软雅黑"/>
                <a:sym typeface="微软雅黑"/>
              </a:rPr>
              <a:t>SYSTEM ARCHITECTURE DIAGRAM</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5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165DFF"/>
                </a:solidFill>
                <a:latin typeface="微软雅黑"/>
                <a:ea typeface="微软雅黑"/>
                <a:cs typeface="微软雅黑"/>
                <a:sym typeface="微软雅黑"/>
              </a:rPr>
              <a:t>三舵轮底盘结构与运动学模型</a:t>
            </a:r>
            <a:endParaRPr lang="en-US" sz="1100"/>
          </a:p>
        </p:txBody>
      </p:sp>
      <p:sp>
        <p:nvSpPr>
          <p:cNvPr id="3" name="AutoShape 3"/>
          <p:cNvSpPr/>
          <p:nvPr/>
        </p:nvSpPr>
        <p:spPr>
          <a:xfrm>
            <a:off x="508000" y="1270000"/>
            <a:ext cx="5334000" cy="1206500"/>
          </a:xfrm>
          <a:prstGeom prst="roundRect">
            <a:avLst>
              <a:gd name="adj" fmla="val 10526"/>
            </a:avLst>
          </a:prstGeom>
          <a:solidFill>
            <a:srgbClr val="FFFFFF">
              <a:alpha val="100000"/>
            </a:srgbClr>
          </a:solidFill>
          <a:ln w="25400" cap="flat" cmpd="sng">
            <a:noFill/>
            <a:prstDash val="solid"/>
            <a:round/>
          </a:ln>
          <a:effectLst>
            <a:outerShdw blurRad="127000" dist="50800" dir="5400000" algn="tl" rotWithShape="0">
              <a:srgbClr val="165DFF">
                <a:alpha val="10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508000" y="1270000"/>
            <a:ext cx="76200" cy="12065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524000"/>
            <a:ext cx="508000" cy="508000"/>
          </a:xfrm>
          <a:prstGeom prst="rect">
            <a:avLst/>
          </a:prstGeom>
        </p:spPr>
      </p:pic>
      <p:sp>
        <p:nvSpPr>
          <p:cNvPr id="6" name="AutoShape 6"/>
          <p:cNvSpPr/>
          <p:nvPr/>
        </p:nvSpPr>
        <p:spPr>
          <a:xfrm>
            <a:off x="1524000" y="1397000"/>
            <a:ext cx="4064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微软雅黑"/>
                <a:ea typeface="微软雅黑"/>
                <a:cs typeface="微软雅黑"/>
                <a:sym typeface="微软雅黑"/>
              </a:rPr>
              <a:t>01. 坐标系建立</a:t>
            </a:r>
            <a:endParaRPr lang="en-US" sz="1100"/>
          </a:p>
        </p:txBody>
      </p:sp>
      <p:sp>
        <p:nvSpPr>
          <p:cNvPr id="7" name="AutoShape 7"/>
          <p:cNvSpPr/>
          <p:nvPr/>
        </p:nvSpPr>
        <p:spPr>
          <a:xfrm>
            <a:off x="1524000" y="1778000"/>
            <a:ext cx="4064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46A73"/>
                </a:solidFill>
                <a:latin typeface="微软雅黑"/>
                <a:ea typeface="微软雅黑"/>
                <a:cs typeface="微软雅黑"/>
                <a:sym typeface="微软雅黑"/>
              </a:rPr>
              <a:t>以底盘几何中心为原点建立车体坐标系，通过坐标变换描述底盘整体的位姿与运动状态。</a:t>
            </a:r>
            <a:endParaRPr lang="en-US" sz="1100"/>
          </a:p>
        </p:txBody>
      </p:sp>
      <p:sp>
        <p:nvSpPr>
          <p:cNvPr id="8" name="AutoShape 8"/>
          <p:cNvSpPr/>
          <p:nvPr/>
        </p:nvSpPr>
        <p:spPr>
          <a:xfrm>
            <a:off x="508000" y="2667000"/>
            <a:ext cx="5334000" cy="1206500"/>
          </a:xfrm>
          <a:prstGeom prst="roundRect">
            <a:avLst>
              <a:gd name="adj" fmla="val 10526"/>
            </a:avLst>
          </a:prstGeom>
          <a:solidFill>
            <a:srgbClr val="FFFFFF">
              <a:alpha val="100000"/>
            </a:srgbClr>
          </a:solidFill>
          <a:ln w="25400" cap="flat" cmpd="sng">
            <a:noFill/>
            <a:prstDash val="solid"/>
            <a:round/>
          </a:ln>
          <a:effectLst>
            <a:outerShdw blurRad="127000" dist="50800" dir="5400000" algn="tl" rotWithShape="0">
              <a:srgbClr val="165DFF">
                <a:alpha val="10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508000" y="2667000"/>
            <a:ext cx="76200" cy="12065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2921000"/>
            <a:ext cx="508000" cy="508000"/>
          </a:xfrm>
          <a:prstGeom prst="rect">
            <a:avLst/>
          </a:prstGeom>
        </p:spPr>
      </p:pic>
      <p:sp>
        <p:nvSpPr>
          <p:cNvPr id="11" name="AutoShape 11"/>
          <p:cNvSpPr/>
          <p:nvPr/>
        </p:nvSpPr>
        <p:spPr>
          <a:xfrm>
            <a:off x="1524000" y="2794000"/>
            <a:ext cx="4064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微软雅黑"/>
                <a:ea typeface="微软雅黑"/>
                <a:cs typeface="微软雅黑"/>
                <a:sym typeface="微软雅黑"/>
              </a:rPr>
              <a:t>02. 轮心速度分布</a:t>
            </a:r>
            <a:endParaRPr lang="en-US" sz="1100"/>
          </a:p>
        </p:txBody>
      </p:sp>
      <p:sp>
        <p:nvSpPr>
          <p:cNvPr id="12" name="AutoShape 12"/>
          <p:cNvSpPr/>
          <p:nvPr/>
        </p:nvSpPr>
        <p:spPr>
          <a:xfrm>
            <a:off x="1524000" y="3175000"/>
            <a:ext cx="4064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46A73"/>
                </a:solidFill>
                <a:latin typeface="微软雅黑"/>
                <a:ea typeface="微软雅黑"/>
                <a:cs typeface="微软雅黑"/>
                <a:sym typeface="微软雅黑"/>
              </a:rPr>
              <a:t>基于刚体平面运动学原理，各舵轮轮心的瞬时速度由车体的线速度(Vx, Vy)和角速度(ω)线性叠加决定。</a:t>
            </a:r>
            <a:endParaRPr lang="en-US" sz="1100"/>
          </a:p>
        </p:txBody>
      </p:sp>
      <p:sp>
        <p:nvSpPr>
          <p:cNvPr id="13" name="AutoShape 13"/>
          <p:cNvSpPr/>
          <p:nvPr/>
        </p:nvSpPr>
        <p:spPr>
          <a:xfrm>
            <a:off x="508000" y="4064000"/>
            <a:ext cx="5334000" cy="1206500"/>
          </a:xfrm>
          <a:prstGeom prst="roundRect">
            <a:avLst>
              <a:gd name="adj" fmla="val 10526"/>
            </a:avLst>
          </a:prstGeom>
          <a:solidFill>
            <a:srgbClr val="FFFFFF">
              <a:alpha val="100000"/>
            </a:srgbClr>
          </a:solidFill>
          <a:ln w="25400" cap="flat" cmpd="sng">
            <a:noFill/>
            <a:prstDash val="solid"/>
            <a:round/>
          </a:ln>
          <a:effectLst>
            <a:outerShdw blurRad="127000" dist="50800" dir="5400000" algn="tl" rotWithShape="0">
              <a:srgbClr val="165DFF">
                <a:alpha val="10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508000" y="4064000"/>
            <a:ext cx="76200" cy="12065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4318000"/>
            <a:ext cx="508000" cy="508000"/>
          </a:xfrm>
          <a:prstGeom prst="rect">
            <a:avLst/>
          </a:prstGeom>
        </p:spPr>
      </p:pic>
      <p:sp>
        <p:nvSpPr>
          <p:cNvPr id="16" name="AutoShape 16"/>
          <p:cNvSpPr/>
          <p:nvPr/>
        </p:nvSpPr>
        <p:spPr>
          <a:xfrm>
            <a:off x="1524000" y="4191000"/>
            <a:ext cx="4064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微软雅黑"/>
                <a:ea typeface="微软雅黑"/>
                <a:cs typeface="微软雅黑"/>
                <a:sym typeface="微软雅黑"/>
              </a:rPr>
              <a:t>03. 逆运动学解算</a:t>
            </a:r>
            <a:endParaRPr lang="en-US" sz="1100"/>
          </a:p>
        </p:txBody>
      </p:sp>
      <p:sp>
        <p:nvSpPr>
          <p:cNvPr id="17" name="AutoShape 17"/>
          <p:cNvSpPr/>
          <p:nvPr/>
        </p:nvSpPr>
        <p:spPr>
          <a:xfrm>
            <a:off x="1524000" y="4572000"/>
            <a:ext cx="4064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46A73"/>
                </a:solidFill>
                <a:latin typeface="微软雅黑"/>
                <a:ea typeface="微软雅黑"/>
                <a:cs typeface="微软雅黑"/>
                <a:sym typeface="微软雅黑"/>
              </a:rPr>
              <a:t>根据车体的目标运动速度，逆向推导得到每个独立舵轮所需的控制指令：目标舵角(θ)与目标转速(v)。</a:t>
            </a:r>
            <a:endParaRPr lang="en-US" sz="1100"/>
          </a:p>
        </p:txBody>
      </p:sp>
      <p:sp>
        <p:nvSpPr>
          <p:cNvPr id="18" name="AutoShape 18"/>
          <p:cNvSpPr/>
          <p:nvPr/>
        </p:nvSpPr>
        <p:spPr>
          <a:xfrm>
            <a:off x="508000" y="5461000"/>
            <a:ext cx="5334000" cy="1016000"/>
          </a:xfrm>
          <a:prstGeom prst="roundRect">
            <a:avLst>
              <a:gd name="adj" fmla="val 12500"/>
            </a:avLst>
          </a:prstGeom>
          <a:solidFill>
            <a:srgbClr val="165DFF">
              <a:alpha val="100000"/>
            </a:srgbClr>
          </a:solidFill>
          <a:ln w="25400" cap="flat" cmpd="sng">
            <a:noFill/>
            <a:prstDash val="solid"/>
            <a:round/>
          </a:ln>
          <a:effectLst>
            <a:outerShdw blurRad="101600" dist="38100" dir="5400000" algn="tl" rotWithShape="0">
              <a:srgbClr val="165DFF">
                <a:alpha val="20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635000" y="5524500"/>
            <a:ext cx="5080000" cy="889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200" b="0" i="0" u="none" strike="noStrike">
                <a:solidFill>
                  <a:srgbClr val="FFFFFF"/>
                </a:solidFill>
                <a:latin typeface="Consolas"/>
                <a:ea typeface="Consolas"/>
                <a:cs typeface="Consolas"/>
                <a:sym typeface="Consolas"/>
              </a:rPr>
              <a:t>vᵢₓ = Vₓ - ωyᵢ | vᵢᵧ = Vᵧ + ωxᵢ | vᵢ = √(vᵢₓ² + vᵢᵧ²)</a:t>
            </a:r>
            <a:endParaRPr lang="en-US" sz="1100"/>
          </a:p>
          <a:p>
            <a:pPr indent="0" algn="ctr">
              <a:lnSpc>
                <a:spcPct val="108333"/>
              </a:lnSpc>
            </a:pPr>
            <a:r>
              <a:rPr lang="en-US" sz="1200" b="0" i="0" u="none" strike="noStrike">
                <a:solidFill>
                  <a:srgbClr val="FFFFFF"/>
                </a:solidFill>
                <a:latin typeface="Consolas"/>
                <a:ea typeface="Consolas"/>
                <a:cs typeface="Consolas"/>
                <a:sym typeface="Consolas"/>
              </a:rPr>
              <a:t>θᵢ = arctan2(vᵢᵧ, vᵢₓ) (目标舵角解算核心公式)</a:t>
            </a:r>
          </a:p>
        </p:txBody>
      </p:sp>
      <p:sp>
        <p:nvSpPr>
          <p:cNvPr id="20" name="AutoShape 20"/>
          <p:cNvSpPr/>
          <p:nvPr/>
        </p:nvSpPr>
        <p:spPr>
          <a:xfrm>
            <a:off x="6096000" y="1270000"/>
            <a:ext cx="5334000" cy="5207000"/>
          </a:xfrm>
          <a:prstGeom prst="roundRect">
            <a:avLst>
              <a:gd name="adj" fmla="val 2439"/>
            </a:avLst>
          </a:prstGeom>
          <a:solidFill>
            <a:srgbClr val="FFFFFF">
              <a:alpha val="100000"/>
            </a:srgbClr>
          </a:solidFill>
          <a:ln w="25400" cap="flat" cmpd="sng">
            <a:noFill/>
            <a:prstDash val="solid"/>
            <a:round/>
          </a:ln>
          <a:effectLst>
            <a:outerShdw blurRad="190500" dist="635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93000" y="2032000"/>
            <a:ext cx="2540000" cy="2540000"/>
          </a:xfrm>
          <a:prstGeom prst="rect">
            <a:avLst/>
          </a:prstGeom>
        </p:spPr>
      </p:pic>
      <p:sp>
        <p:nvSpPr>
          <p:cNvPr id="22" name="AutoShape 22"/>
          <p:cNvSpPr/>
          <p:nvPr/>
        </p:nvSpPr>
        <p:spPr>
          <a:xfrm>
            <a:off x="6350000" y="4826000"/>
            <a:ext cx="482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329"/>
                </a:solidFill>
                <a:latin typeface="微软雅黑"/>
                <a:ea typeface="微软雅黑"/>
                <a:cs typeface="微软雅黑"/>
                <a:sym typeface="微软雅黑"/>
              </a:rPr>
              <a:t>三舵轮几何布局与坐标系</a:t>
            </a:r>
            <a:endParaRPr lang="en-US" sz="1100"/>
          </a:p>
        </p:txBody>
      </p:sp>
      <p:sp>
        <p:nvSpPr>
          <p:cNvPr id="23" name="AutoShape 23"/>
          <p:cNvSpPr/>
          <p:nvPr/>
        </p:nvSpPr>
        <p:spPr>
          <a:xfrm>
            <a:off x="6350000" y="5461000"/>
            <a:ext cx="4826000" cy="635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300" b="0" i="0" u="none" strike="noStrike">
                <a:solidFill>
                  <a:srgbClr val="8F959E"/>
                </a:solidFill>
                <a:latin typeface="微软雅黑"/>
                <a:ea typeface="微软雅黑"/>
                <a:cs typeface="微软雅黑"/>
                <a:sym typeface="微软雅黑"/>
              </a:rPr>
              <a:t>此处放置底盘结构三维示意图或</a:t>
            </a:r>
            <a:br>
              <a:rPr lang="en-US" sz="1300" b="0" i="0" u="none" strike="noStrike">
                <a:solidFill>
                  <a:srgbClr val="8F959E"/>
                </a:solidFill>
                <a:latin typeface="微软雅黑"/>
                <a:ea typeface="微软雅黑"/>
                <a:cs typeface="微软雅黑"/>
                <a:sym typeface="微软雅黑"/>
              </a:rPr>
            </a:br>
            <a:r>
              <a:rPr lang="en-US" sz="1300" b="0" i="0" u="none" strike="noStrike">
                <a:solidFill>
                  <a:srgbClr val="8F959E"/>
                </a:solidFill>
                <a:latin typeface="微软雅黑"/>
                <a:ea typeface="微软雅黑"/>
                <a:cs typeface="微软雅黑"/>
                <a:sym typeface="微软雅黑"/>
              </a:rPr>
              <a:t>坐标系运动学分析矢量图</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165DFF"/>
                </a:solidFill>
                <a:latin typeface="微软雅黑"/>
                <a:ea typeface="微软雅黑"/>
                <a:cs typeface="微软雅黑"/>
                <a:sym typeface="微软雅黑"/>
              </a:rPr>
              <a:t>控制程序模块设计</a:t>
            </a:r>
            <a:endParaRPr lang="en-US" sz="1100"/>
          </a:p>
        </p:txBody>
      </p:sp>
      <p:sp>
        <p:nvSpPr>
          <p:cNvPr id="3" name="AutoShape 3"/>
          <p:cNvSpPr/>
          <p:nvPr/>
        </p:nvSpPr>
        <p:spPr>
          <a:xfrm>
            <a:off x="508000" y="1143000"/>
            <a:ext cx="5334000" cy="635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666666"/>
                </a:solidFill>
                <a:latin typeface="微软雅黑"/>
                <a:ea typeface="微软雅黑"/>
                <a:cs typeface="微软雅黑"/>
                <a:sym typeface="微软雅黑"/>
              </a:rPr>
              <a:t>基于嵌入式平台开发底盘控制程序，采用模块化设计思想将功能解耦，显著提升了代码的可读性、可维护性与调试效率。</a:t>
            </a:r>
            <a:endParaRPr lang="en-US" sz="1100"/>
          </a:p>
        </p:txBody>
      </p:sp>
      <p:sp>
        <p:nvSpPr>
          <p:cNvPr id="4" name="AutoShape 4"/>
          <p:cNvSpPr/>
          <p:nvPr/>
        </p:nvSpPr>
        <p:spPr>
          <a:xfrm>
            <a:off x="508000" y="2032000"/>
            <a:ext cx="2413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508000" y="2032000"/>
            <a:ext cx="76200" cy="1270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222500"/>
            <a:ext cx="406400" cy="406400"/>
          </a:xfrm>
          <a:prstGeom prst="rect">
            <a:avLst/>
          </a:prstGeom>
        </p:spPr>
      </p:pic>
      <p:sp>
        <p:nvSpPr>
          <p:cNvPr id="7" name="AutoShape 7"/>
          <p:cNvSpPr/>
          <p:nvPr/>
        </p:nvSpPr>
        <p:spPr>
          <a:xfrm>
            <a:off x="1333500" y="2222500"/>
            <a:ext cx="1460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速度输入模块</a:t>
            </a:r>
            <a:endParaRPr lang="en-US" sz="1100"/>
          </a:p>
        </p:txBody>
      </p:sp>
      <p:sp>
        <p:nvSpPr>
          <p:cNvPr id="8" name="AutoShape 8"/>
          <p:cNvSpPr/>
          <p:nvPr/>
        </p:nvSpPr>
        <p:spPr>
          <a:xfrm>
            <a:off x="1333500" y="2603500"/>
            <a:ext cx="1460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777777"/>
                </a:solidFill>
                <a:latin typeface="微软雅黑"/>
                <a:ea typeface="微软雅黑"/>
                <a:cs typeface="微软雅黑"/>
                <a:sym typeface="微软雅黑"/>
              </a:rPr>
              <a:t>解析手柄指令或上层规划系统下发的速度目标值。</a:t>
            </a:r>
            <a:endParaRPr lang="en-US" sz="1100"/>
          </a:p>
        </p:txBody>
      </p:sp>
      <p:sp>
        <p:nvSpPr>
          <p:cNvPr id="9" name="AutoShape 9"/>
          <p:cNvSpPr/>
          <p:nvPr/>
        </p:nvSpPr>
        <p:spPr>
          <a:xfrm>
            <a:off x="508000" y="3429000"/>
            <a:ext cx="2413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508000" y="3429000"/>
            <a:ext cx="76200" cy="1270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3619500"/>
            <a:ext cx="406400" cy="406400"/>
          </a:xfrm>
          <a:prstGeom prst="rect">
            <a:avLst/>
          </a:prstGeom>
        </p:spPr>
      </p:pic>
      <p:sp>
        <p:nvSpPr>
          <p:cNvPr id="12" name="AutoShape 12"/>
          <p:cNvSpPr/>
          <p:nvPr/>
        </p:nvSpPr>
        <p:spPr>
          <a:xfrm>
            <a:off x="1333500" y="3619500"/>
            <a:ext cx="1460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速度平滑模块</a:t>
            </a:r>
            <a:endParaRPr lang="en-US" sz="1100"/>
          </a:p>
        </p:txBody>
      </p:sp>
      <p:sp>
        <p:nvSpPr>
          <p:cNvPr id="13" name="AutoShape 13"/>
          <p:cNvSpPr/>
          <p:nvPr/>
        </p:nvSpPr>
        <p:spPr>
          <a:xfrm>
            <a:off x="1333500" y="4000500"/>
            <a:ext cx="1460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777777"/>
                </a:solidFill>
                <a:latin typeface="微软雅黑"/>
                <a:ea typeface="微软雅黑"/>
                <a:cs typeface="微软雅黑"/>
                <a:sym typeface="微软雅黑"/>
              </a:rPr>
              <a:t>限制加减速变化率，有效避免车体运动发生突变。</a:t>
            </a:r>
            <a:endParaRPr lang="en-US" sz="1100"/>
          </a:p>
        </p:txBody>
      </p:sp>
      <p:sp>
        <p:nvSpPr>
          <p:cNvPr id="14" name="AutoShape 14"/>
          <p:cNvSpPr/>
          <p:nvPr/>
        </p:nvSpPr>
        <p:spPr>
          <a:xfrm>
            <a:off x="508000" y="4826000"/>
            <a:ext cx="2413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508000" y="4826000"/>
            <a:ext cx="76200" cy="1270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5016500"/>
            <a:ext cx="406400" cy="406400"/>
          </a:xfrm>
          <a:prstGeom prst="rect">
            <a:avLst/>
          </a:prstGeom>
        </p:spPr>
      </p:pic>
      <p:sp>
        <p:nvSpPr>
          <p:cNvPr id="17" name="AutoShape 17"/>
          <p:cNvSpPr/>
          <p:nvPr/>
        </p:nvSpPr>
        <p:spPr>
          <a:xfrm>
            <a:off x="1333500" y="5016500"/>
            <a:ext cx="1460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逆运动学解算</a:t>
            </a:r>
            <a:endParaRPr lang="en-US" sz="1100"/>
          </a:p>
        </p:txBody>
      </p:sp>
      <p:sp>
        <p:nvSpPr>
          <p:cNvPr id="18" name="AutoShape 18"/>
          <p:cNvSpPr/>
          <p:nvPr/>
        </p:nvSpPr>
        <p:spPr>
          <a:xfrm>
            <a:off x="1333500" y="5397500"/>
            <a:ext cx="1460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777777"/>
                </a:solidFill>
                <a:latin typeface="微软雅黑"/>
                <a:ea typeface="微软雅黑"/>
                <a:cs typeface="微软雅黑"/>
                <a:sym typeface="微软雅黑"/>
              </a:rPr>
              <a:t>根据底盘模型，计算各舵轮的目标转速与角度。</a:t>
            </a:r>
            <a:endParaRPr lang="en-US" sz="1100"/>
          </a:p>
        </p:txBody>
      </p:sp>
      <p:sp>
        <p:nvSpPr>
          <p:cNvPr id="19" name="AutoShape 19"/>
          <p:cNvSpPr/>
          <p:nvPr/>
        </p:nvSpPr>
        <p:spPr>
          <a:xfrm>
            <a:off x="3175000" y="2032000"/>
            <a:ext cx="2413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3175000" y="2032000"/>
            <a:ext cx="76200" cy="1270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00" y="2222500"/>
            <a:ext cx="406400" cy="406400"/>
          </a:xfrm>
          <a:prstGeom prst="rect">
            <a:avLst/>
          </a:prstGeom>
        </p:spPr>
      </p:pic>
      <p:sp>
        <p:nvSpPr>
          <p:cNvPr id="22" name="AutoShape 22"/>
          <p:cNvSpPr/>
          <p:nvPr/>
        </p:nvSpPr>
        <p:spPr>
          <a:xfrm>
            <a:off x="4000500" y="2222500"/>
            <a:ext cx="1460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舵角就近选取</a:t>
            </a:r>
            <a:endParaRPr lang="en-US" sz="1100"/>
          </a:p>
        </p:txBody>
      </p:sp>
      <p:sp>
        <p:nvSpPr>
          <p:cNvPr id="23" name="AutoShape 23"/>
          <p:cNvSpPr/>
          <p:nvPr/>
        </p:nvSpPr>
        <p:spPr>
          <a:xfrm>
            <a:off x="4000500" y="2603500"/>
            <a:ext cx="1460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777777"/>
                </a:solidFill>
                <a:latin typeface="微软雅黑"/>
                <a:ea typeface="微软雅黑"/>
                <a:cs typeface="微软雅黑"/>
                <a:sym typeface="微软雅黑"/>
              </a:rPr>
              <a:t>选择最近的转向角度，减少舵机抖动，提高平稳性。</a:t>
            </a:r>
            <a:endParaRPr lang="en-US" sz="1100"/>
          </a:p>
        </p:txBody>
      </p:sp>
      <p:sp>
        <p:nvSpPr>
          <p:cNvPr id="24" name="AutoShape 24"/>
          <p:cNvSpPr/>
          <p:nvPr/>
        </p:nvSpPr>
        <p:spPr>
          <a:xfrm>
            <a:off x="3175000" y="3429000"/>
            <a:ext cx="2413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25" name="AutoShape 25"/>
          <p:cNvSpPr/>
          <p:nvPr/>
        </p:nvSpPr>
        <p:spPr>
          <a:xfrm>
            <a:off x="3175000" y="3429000"/>
            <a:ext cx="76200" cy="1270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00" y="3619500"/>
            <a:ext cx="406400" cy="406400"/>
          </a:xfrm>
          <a:prstGeom prst="rect">
            <a:avLst/>
          </a:prstGeom>
        </p:spPr>
      </p:pic>
      <p:sp>
        <p:nvSpPr>
          <p:cNvPr id="27" name="AutoShape 27"/>
          <p:cNvSpPr/>
          <p:nvPr/>
        </p:nvSpPr>
        <p:spPr>
          <a:xfrm>
            <a:off x="4000500" y="3619500"/>
            <a:ext cx="1460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执行器命令下发</a:t>
            </a:r>
            <a:endParaRPr lang="en-US" sz="1100"/>
          </a:p>
        </p:txBody>
      </p:sp>
      <p:sp>
        <p:nvSpPr>
          <p:cNvPr id="28" name="AutoShape 28"/>
          <p:cNvSpPr/>
          <p:nvPr/>
        </p:nvSpPr>
        <p:spPr>
          <a:xfrm>
            <a:off x="4000500" y="4000500"/>
            <a:ext cx="1460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777777"/>
                </a:solidFill>
                <a:latin typeface="微软雅黑"/>
                <a:ea typeface="微软雅黑"/>
                <a:cs typeface="微软雅黑"/>
                <a:sym typeface="微软雅黑"/>
              </a:rPr>
              <a:t>通过通信总线，将控制指令下发给电机驱动器。</a:t>
            </a:r>
            <a:endParaRPr lang="en-US" sz="1100"/>
          </a:p>
        </p:txBody>
      </p:sp>
      <p:sp>
        <p:nvSpPr>
          <p:cNvPr id="29" name="AutoShape 29"/>
          <p:cNvSpPr/>
          <p:nvPr/>
        </p:nvSpPr>
        <p:spPr>
          <a:xfrm>
            <a:off x="3175000" y="4826000"/>
            <a:ext cx="2413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30" name="AutoShape 30"/>
          <p:cNvSpPr/>
          <p:nvPr/>
        </p:nvSpPr>
        <p:spPr>
          <a:xfrm>
            <a:off x="3175000" y="4826000"/>
            <a:ext cx="76200" cy="1270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00" y="5016500"/>
            <a:ext cx="406400" cy="406400"/>
          </a:xfrm>
          <a:prstGeom prst="rect">
            <a:avLst/>
          </a:prstGeom>
        </p:spPr>
      </p:pic>
      <p:sp>
        <p:nvSpPr>
          <p:cNvPr id="32" name="AutoShape 32"/>
          <p:cNvSpPr/>
          <p:nvPr/>
        </p:nvSpPr>
        <p:spPr>
          <a:xfrm>
            <a:off x="4000500" y="5016500"/>
            <a:ext cx="1460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状态反馈模块</a:t>
            </a:r>
            <a:endParaRPr lang="en-US" sz="1100"/>
          </a:p>
        </p:txBody>
      </p:sp>
      <p:sp>
        <p:nvSpPr>
          <p:cNvPr id="33" name="AutoShape 33"/>
          <p:cNvSpPr/>
          <p:nvPr/>
        </p:nvSpPr>
        <p:spPr>
          <a:xfrm>
            <a:off x="4000500" y="5397500"/>
            <a:ext cx="1460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777777"/>
                </a:solidFill>
                <a:latin typeface="微软雅黑"/>
                <a:ea typeface="微软雅黑"/>
                <a:cs typeface="微软雅黑"/>
                <a:sym typeface="微软雅黑"/>
              </a:rPr>
              <a:t>实时读取电机编码器数据，更新系统状态变量。</a:t>
            </a:r>
            <a:endParaRPr lang="en-US" sz="1100"/>
          </a:p>
        </p:txBody>
      </p:sp>
      <p:sp>
        <p:nvSpPr>
          <p:cNvPr id="34" name="AutoShape 34"/>
          <p:cNvSpPr/>
          <p:nvPr/>
        </p:nvSpPr>
        <p:spPr>
          <a:xfrm>
            <a:off x="5842000" y="2032000"/>
            <a:ext cx="5588000" cy="4064000"/>
          </a:xfrm>
          <a:prstGeom prst="roundRect">
            <a:avLst>
              <a:gd name="adj" fmla="val 5000"/>
            </a:avLst>
          </a:prstGeom>
          <a:solidFill>
            <a:srgbClr val="FFFFFF">
              <a:alpha val="100000"/>
            </a:srgbClr>
          </a:solidFill>
          <a:ln w="25400" cap="flat" cmpd="sng">
            <a:noFill/>
            <a:prstDash val="solid"/>
            <a:round/>
          </a:ln>
          <a:effectLst>
            <a:outerShdw blurRad="203200" dist="76200" dir="5400000" algn="tl" rotWithShape="0">
              <a:srgbClr val="165DFF">
                <a:alpha val="15000"/>
              </a:srgbClr>
            </a:outerShdw>
          </a:effectLst>
        </p:spPr>
        <p:txBody>
          <a:bodyPr vert="horz" wrap="square" lIns="63500" tIns="63500" rIns="63500" bIns="63500" rtlCol="0" anchor="ctr"/>
          <a:lstStyle/>
          <a:p>
            <a:pPr algn="ctr">
              <a:defRPr/>
            </a:pPr>
            <a:endParaRPr/>
          </a:p>
        </p:txBody>
      </p:sp>
      <p:pic>
        <p:nvPicPr>
          <p:cNvPr id="35" name="Picture 3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47000" y="2540000"/>
            <a:ext cx="1270000" cy="1270000"/>
          </a:xfrm>
          <a:prstGeom prst="rect">
            <a:avLst/>
          </a:prstGeom>
        </p:spPr>
      </p:pic>
      <p:sp>
        <p:nvSpPr>
          <p:cNvPr id="36" name="AutoShape 36"/>
          <p:cNvSpPr/>
          <p:nvPr/>
        </p:nvSpPr>
        <p:spPr>
          <a:xfrm>
            <a:off x="6223000" y="4064000"/>
            <a:ext cx="4826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微软雅黑"/>
                <a:ea typeface="微软雅黑"/>
                <a:cs typeface="微软雅黑"/>
                <a:sym typeface="微软雅黑"/>
              </a:rPr>
              <a:t>程序执行逻辑流程可视化</a:t>
            </a:r>
            <a:endParaRPr lang="en-US" sz="1100"/>
          </a:p>
        </p:txBody>
      </p:sp>
      <p:sp>
        <p:nvSpPr>
          <p:cNvPr id="37" name="AutoShape 37"/>
          <p:cNvSpPr/>
          <p:nvPr/>
        </p:nvSpPr>
        <p:spPr>
          <a:xfrm>
            <a:off x="6477000" y="4826000"/>
            <a:ext cx="431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66666"/>
                </a:solidFill>
                <a:latin typeface="微软雅黑"/>
                <a:ea typeface="微软雅黑"/>
                <a:cs typeface="微软雅黑"/>
                <a:sym typeface="微软雅黑"/>
              </a:rPr>
              <a:t>左侧六大模块构成了完整的闭环控制链路。</a:t>
            </a:r>
            <a:br>
              <a:rPr lang="en-US" sz="1200" b="0" i="0" u="none" strike="noStrike">
                <a:solidFill>
                  <a:srgbClr val="666666"/>
                </a:solidFill>
                <a:latin typeface="微软雅黑"/>
                <a:ea typeface="微软雅黑"/>
                <a:cs typeface="微软雅黑"/>
                <a:sym typeface="微软雅黑"/>
              </a:rPr>
            </a:br>
            <a:r>
              <a:rPr lang="en-US" sz="1200" b="0" i="0" u="none" strike="noStrike">
                <a:solidFill>
                  <a:srgbClr val="666666"/>
                </a:solidFill>
                <a:latin typeface="微软雅黑"/>
                <a:ea typeface="微软雅黑"/>
                <a:cs typeface="微软雅黑"/>
                <a:sym typeface="微软雅黑"/>
              </a:rPr>
              <a:t>从指令输入到状态反馈，实现了底盘的精准运动控制。</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165DFF"/>
                </a:solidFill>
                <a:latin typeface="微软雅黑"/>
                <a:ea typeface="微软雅黑"/>
                <a:cs typeface="微软雅黑"/>
                <a:sym typeface="微软雅黑"/>
              </a:rPr>
              <a:t>遥控操作与控制链路</a:t>
            </a:r>
            <a:endParaRPr lang="en-US" sz="1100"/>
          </a:p>
        </p:txBody>
      </p:sp>
      <p:sp>
        <p:nvSpPr>
          <p:cNvPr id="3" name="AutoShape 3"/>
          <p:cNvSpPr/>
          <p:nvPr/>
        </p:nvSpPr>
        <p:spPr>
          <a:xfrm>
            <a:off x="508000" y="1397000"/>
            <a:ext cx="5461000" cy="1016000"/>
          </a:xfrm>
          <a:prstGeom prst="roundRect">
            <a:avLst>
              <a:gd name="adj" fmla="val 1000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397000"/>
            <a:ext cx="76200" cy="1016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587500"/>
            <a:ext cx="609600" cy="609600"/>
          </a:xfrm>
          <a:prstGeom prst="rect">
            <a:avLst/>
          </a:prstGeom>
        </p:spPr>
      </p:pic>
      <p:sp>
        <p:nvSpPr>
          <p:cNvPr id="6" name="AutoShape 6"/>
          <p:cNvSpPr/>
          <p:nvPr/>
        </p:nvSpPr>
        <p:spPr>
          <a:xfrm>
            <a:off x="1524000" y="14986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输入设备采集</a:t>
            </a:r>
            <a:endParaRPr lang="en-US" sz="1100"/>
          </a:p>
        </p:txBody>
      </p:sp>
      <p:sp>
        <p:nvSpPr>
          <p:cNvPr id="7" name="AutoShape 7"/>
          <p:cNvSpPr/>
          <p:nvPr/>
        </p:nvSpPr>
        <p:spPr>
          <a:xfrm>
            <a:off x="1524000" y="1854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66666"/>
                </a:solidFill>
                <a:latin typeface="微软雅黑"/>
                <a:ea typeface="微软雅黑"/>
                <a:cs typeface="微软雅黑"/>
                <a:sym typeface="微软雅黑"/>
              </a:rPr>
              <a:t>采用USB无线手柄作为输入设备，实时捕获并解析用户的摇杆与按键指令。</a:t>
            </a:r>
            <a:endParaRPr lang="en-US" sz="1100"/>
          </a:p>
        </p:txBody>
      </p:sp>
      <p:sp>
        <p:nvSpPr>
          <p:cNvPr id="8" name="AutoShape 8"/>
          <p:cNvSpPr/>
          <p:nvPr/>
        </p:nvSpPr>
        <p:spPr>
          <a:xfrm>
            <a:off x="508000" y="2540000"/>
            <a:ext cx="5461000" cy="1016000"/>
          </a:xfrm>
          <a:prstGeom prst="roundRect">
            <a:avLst>
              <a:gd name="adj" fmla="val 1000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508000" y="2540000"/>
            <a:ext cx="76200" cy="1016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2730500"/>
            <a:ext cx="609600" cy="609600"/>
          </a:xfrm>
          <a:prstGeom prst="rect">
            <a:avLst/>
          </a:prstGeom>
        </p:spPr>
      </p:pic>
      <p:sp>
        <p:nvSpPr>
          <p:cNvPr id="11" name="AutoShape 11"/>
          <p:cNvSpPr/>
          <p:nvPr/>
        </p:nvSpPr>
        <p:spPr>
          <a:xfrm>
            <a:off x="1524000" y="26416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运动学速度映射</a:t>
            </a:r>
            <a:endParaRPr lang="en-US" sz="1100"/>
          </a:p>
        </p:txBody>
      </p:sp>
      <p:sp>
        <p:nvSpPr>
          <p:cNvPr id="12" name="AutoShape 12"/>
          <p:cNvSpPr/>
          <p:nvPr/>
        </p:nvSpPr>
        <p:spPr>
          <a:xfrm>
            <a:off x="1524000" y="2997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66666"/>
                </a:solidFill>
                <a:latin typeface="微软雅黑"/>
                <a:ea typeface="微软雅黑"/>
                <a:cs typeface="微软雅黑"/>
                <a:sym typeface="微软雅黑"/>
              </a:rPr>
              <a:t>将手柄输出的[-1, 1]模拟量，映射为车体坐标系下的三自由度目标速度(Vx, Vy, ω)。</a:t>
            </a:r>
            <a:endParaRPr lang="en-US" sz="1100"/>
          </a:p>
        </p:txBody>
      </p:sp>
      <p:sp>
        <p:nvSpPr>
          <p:cNvPr id="13" name="AutoShape 13"/>
          <p:cNvSpPr/>
          <p:nvPr/>
        </p:nvSpPr>
        <p:spPr>
          <a:xfrm>
            <a:off x="508000" y="3683000"/>
            <a:ext cx="5461000" cy="1016000"/>
          </a:xfrm>
          <a:prstGeom prst="roundRect">
            <a:avLst>
              <a:gd name="adj" fmla="val 1000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08000" y="3683000"/>
            <a:ext cx="76200" cy="1016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3873500"/>
            <a:ext cx="609600" cy="609600"/>
          </a:xfrm>
          <a:prstGeom prst="rect">
            <a:avLst/>
          </a:prstGeom>
        </p:spPr>
      </p:pic>
      <p:sp>
        <p:nvSpPr>
          <p:cNvPr id="16" name="AutoShape 16"/>
          <p:cNvSpPr/>
          <p:nvPr/>
        </p:nvSpPr>
        <p:spPr>
          <a:xfrm>
            <a:off x="1524000" y="37846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S型曲线平滑滤波</a:t>
            </a:r>
            <a:endParaRPr lang="en-US" sz="1100"/>
          </a:p>
        </p:txBody>
      </p:sp>
      <p:sp>
        <p:nvSpPr>
          <p:cNvPr id="17" name="AutoShape 17"/>
          <p:cNvSpPr/>
          <p:nvPr/>
        </p:nvSpPr>
        <p:spPr>
          <a:xfrm>
            <a:off x="1524000" y="4140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66666"/>
                </a:solidFill>
                <a:latin typeface="微软雅黑"/>
                <a:ea typeface="微软雅黑"/>
                <a:cs typeface="微软雅黑"/>
                <a:sym typeface="微软雅黑"/>
              </a:rPr>
              <a:t>对突变的目标速度进行S型加减速插值处理，消除运动抖动，提高启停稳定性。</a:t>
            </a:r>
            <a:endParaRPr lang="en-US" sz="1100"/>
          </a:p>
        </p:txBody>
      </p:sp>
      <p:sp>
        <p:nvSpPr>
          <p:cNvPr id="18" name="AutoShape 18"/>
          <p:cNvSpPr/>
          <p:nvPr/>
        </p:nvSpPr>
        <p:spPr>
          <a:xfrm>
            <a:off x="508000" y="4826000"/>
            <a:ext cx="5461000" cy="1016000"/>
          </a:xfrm>
          <a:prstGeom prst="roundRect">
            <a:avLst>
              <a:gd name="adj" fmla="val 1000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508000" y="4826000"/>
            <a:ext cx="76200" cy="1016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5016500"/>
            <a:ext cx="609600" cy="609600"/>
          </a:xfrm>
          <a:prstGeom prst="rect">
            <a:avLst/>
          </a:prstGeom>
        </p:spPr>
      </p:pic>
      <p:sp>
        <p:nvSpPr>
          <p:cNvPr id="21" name="AutoShape 21"/>
          <p:cNvSpPr/>
          <p:nvPr/>
        </p:nvSpPr>
        <p:spPr>
          <a:xfrm>
            <a:off x="1524000" y="49276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a:ea typeface="微软雅黑"/>
                <a:cs typeface="微软雅黑"/>
                <a:sym typeface="微软雅黑"/>
              </a:rPr>
              <a:t>底盘控制闭环执行</a:t>
            </a:r>
            <a:endParaRPr lang="en-US" sz="1100"/>
          </a:p>
        </p:txBody>
      </p:sp>
      <p:sp>
        <p:nvSpPr>
          <p:cNvPr id="22" name="AutoShape 22"/>
          <p:cNvSpPr/>
          <p:nvPr/>
        </p:nvSpPr>
        <p:spPr>
          <a:xfrm>
            <a:off x="1524000" y="5283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66666"/>
                </a:solidFill>
                <a:latin typeface="微软雅黑"/>
                <a:ea typeface="微软雅黑"/>
                <a:cs typeface="微软雅黑"/>
                <a:sym typeface="微软雅黑"/>
              </a:rPr>
              <a:t>平滑后的目标速度送入底盘逆运动学解算模块，输出电机转速指令，驱动实物运动。</a:t>
            </a:r>
            <a:endParaRPr lang="en-US" sz="1100"/>
          </a:p>
        </p:txBody>
      </p:sp>
      <p:sp>
        <p:nvSpPr>
          <p:cNvPr id="23" name="AutoShape 23"/>
          <p:cNvSpPr/>
          <p:nvPr/>
        </p:nvSpPr>
        <p:spPr>
          <a:xfrm>
            <a:off x="6223000" y="1397000"/>
            <a:ext cx="5207000" cy="4953000"/>
          </a:xfrm>
          <a:prstGeom prst="roundRect">
            <a:avLst>
              <a:gd name="adj" fmla="val 3076"/>
            </a:avLst>
          </a:prstGeom>
          <a:solidFill>
            <a:srgbClr val="F0F5FF">
              <a:alpha val="100000"/>
            </a:srgbClr>
          </a:solidFill>
          <a:ln w="25400" cap="flat" cmpd="sng">
            <a:noFill/>
            <a:prstDash val="solid"/>
            <a:round/>
          </a:ln>
          <a:effectLst>
            <a:outerShdw blurRad="254000" dist="76200" dir="2700000" algn="tl" rotWithShape="0">
              <a:srgbClr val="165DFF">
                <a:alpha val="15000"/>
              </a:srgbClr>
            </a:outerShdw>
          </a:effectLst>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83500" y="2032000"/>
            <a:ext cx="1270000" cy="1270000"/>
          </a:xfrm>
          <a:prstGeom prst="rect">
            <a:avLst/>
          </a:prstGeom>
        </p:spPr>
      </p:pic>
      <p:sp>
        <p:nvSpPr>
          <p:cNvPr id="25" name="AutoShape 25"/>
          <p:cNvSpPr/>
          <p:nvPr/>
        </p:nvSpPr>
        <p:spPr>
          <a:xfrm>
            <a:off x="6540500" y="3556000"/>
            <a:ext cx="4572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65DFF"/>
                </a:solidFill>
                <a:latin typeface="微软雅黑"/>
                <a:ea typeface="微软雅黑"/>
                <a:cs typeface="微软雅黑"/>
                <a:sym typeface="微软雅黑"/>
              </a:rPr>
              <a:t>控制链路逻辑框架</a:t>
            </a:r>
            <a:endParaRPr lang="en-US" sz="1100"/>
          </a:p>
        </p:txBody>
      </p:sp>
      <p:sp>
        <p:nvSpPr>
          <p:cNvPr id="26" name="AutoShape 26"/>
          <p:cNvSpPr/>
          <p:nvPr/>
        </p:nvSpPr>
        <p:spPr>
          <a:xfrm>
            <a:off x="6921500" y="4191000"/>
            <a:ext cx="3937000" cy="25400"/>
          </a:xfrm>
          <a:prstGeom prst="roundRect">
            <a:avLst>
              <a:gd name="adj" fmla="val 0"/>
            </a:avLst>
          </a:prstGeom>
          <a:solidFill>
            <a:srgbClr val="C8D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540500" y="4572000"/>
            <a:ext cx="457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555555"/>
                </a:solidFill>
                <a:latin typeface="微软雅黑"/>
                <a:ea typeface="微软雅黑"/>
                <a:cs typeface="微软雅黑"/>
                <a:sym typeface="微软雅黑"/>
              </a:rPr>
              <a:t>指令输入 → 映射解析 → 平滑处理 → 运动解算 → 电机驱动</a:t>
            </a:r>
            <a:endParaRPr lang="en-US" sz="1100"/>
          </a:p>
          <a:p>
            <a:pPr indent="0" algn="ctr">
              <a:lnSpc>
                <a:spcPct val="108333"/>
              </a:lnSpc>
            </a:pPr>
            <a:r>
              <a:rPr lang="en-US" sz="1200" b="0" i="0" u="none" strike="noStrike">
                <a:solidFill>
                  <a:srgbClr val="787878"/>
                </a:solidFill>
                <a:latin typeface="微软雅黑"/>
                <a:ea typeface="微软雅黑"/>
                <a:cs typeface="微软雅黑"/>
                <a:sym typeface="微软雅黑"/>
              </a:rPr>
              <a:t>目前已完成基础链路调试，支持全向移动、定点转向等基础功能，验证了系统可行性。</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165DFF"/>
                </a:solidFill>
                <a:latin typeface="微软雅黑"/>
                <a:ea typeface="微软雅黑"/>
                <a:cs typeface="微软雅黑"/>
                <a:sym typeface="微软雅黑"/>
              </a:rPr>
              <a:t>仿真平台搭建</a:t>
            </a:r>
            <a:endParaRPr lang="en-US" sz="1100"/>
          </a:p>
        </p:txBody>
      </p:sp>
      <p:sp>
        <p:nvSpPr>
          <p:cNvPr id="3" name="AutoShape 3"/>
          <p:cNvSpPr/>
          <p:nvPr/>
        </p:nvSpPr>
        <p:spPr>
          <a:xfrm>
            <a:off x="508000" y="1270000"/>
            <a:ext cx="5334000" cy="4953000"/>
          </a:xfrm>
          <a:prstGeom prst="roundRect">
            <a:avLst>
              <a:gd name="adj" fmla="val 3076"/>
            </a:avLst>
          </a:prstGeom>
          <a:solidFill>
            <a:srgbClr val="FFFFFF">
              <a:alpha val="100000"/>
            </a:srgbClr>
          </a:solidFill>
          <a:ln w="25400" cap="flat" cmpd="sng">
            <a:noFill/>
            <a:prstDash val="solid"/>
            <a:round/>
          </a:ln>
          <a:effectLst>
            <a:outerShdw blurRad="254000" dist="63500" dir="5400000" algn="tl" rotWithShape="0">
              <a:srgbClr val="165DFF">
                <a:alpha val="10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762000" y="1524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300" b="0" i="0" u="none" strike="noStrike">
                <a:solidFill>
                  <a:srgbClr val="555555"/>
                </a:solidFill>
                <a:latin typeface="微软雅黑"/>
                <a:ea typeface="微软雅黑"/>
                <a:cs typeface="微软雅黑"/>
                <a:sym typeface="微软雅黑"/>
              </a:rPr>
              <a:t>基于 ROS 2 与 Gazebo 构建高精度虚拟环境，在实物调试前完成运动学模型验证与数据采集，降低研发风险。</a:t>
            </a:r>
            <a:endParaRPr lang="en-US" sz="1100"/>
          </a:p>
        </p:txBody>
      </p:sp>
      <p:sp>
        <p:nvSpPr>
          <p:cNvPr id="5" name="AutoShape 5"/>
          <p:cNvSpPr/>
          <p:nvPr/>
        </p:nvSpPr>
        <p:spPr>
          <a:xfrm>
            <a:off x="762000" y="2413000"/>
            <a:ext cx="4826000" cy="762000"/>
          </a:xfrm>
          <a:prstGeom prst="roundRect">
            <a:avLst>
              <a:gd name="adj" fmla="val 13333"/>
            </a:avLst>
          </a:prstGeom>
          <a:solidFill>
            <a:srgbClr val="EEF2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603500"/>
            <a:ext cx="381000" cy="381000"/>
          </a:xfrm>
          <a:prstGeom prst="rect">
            <a:avLst/>
          </a:prstGeom>
        </p:spPr>
      </p:pic>
      <p:sp>
        <p:nvSpPr>
          <p:cNvPr id="7" name="AutoShape 7"/>
          <p:cNvSpPr/>
          <p:nvPr/>
        </p:nvSpPr>
        <p:spPr>
          <a:xfrm>
            <a:off x="1524000" y="2514600"/>
            <a:ext cx="3937000" cy="558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333333"/>
                </a:solidFill>
                <a:latin typeface="微软雅黑"/>
                <a:ea typeface="微软雅黑"/>
                <a:cs typeface="微软雅黑"/>
                <a:sym typeface="微软雅黑"/>
              </a:rPr>
              <a:t>高精度模型构建</a:t>
            </a:r>
            <a:br>
              <a:rPr lang="en-US" sz="1600" b="0" i="0" u="none" strike="noStrike">
                <a:solidFill>
                  <a:srgbClr val="1F2329"/>
                </a:solidFill>
                <a:latin typeface="微软雅黑"/>
                <a:ea typeface="微软雅黑"/>
                <a:cs typeface="微软雅黑"/>
                <a:sym typeface="微软雅黑"/>
              </a:rPr>
            </a:br>
            <a:r>
              <a:rPr lang="en-US" sz="1100" b="0" i="0" u="none" strike="noStrike">
                <a:solidFill>
                  <a:srgbClr val="666666"/>
                </a:solidFill>
                <a:latin typeface="微软雅黑"/>
                <a:ea typeface="微软雅黑"/>
                <a:cs typeface="微软雅黑"/>
                <a:sym typeface="微软雅黑"/>
              </a:rPr>
              <a:t>建立三舵轮底盘三维模型，精准配置物理参数与惯性矩阵</a:t>
            </a:r>
            <a:endParaRPr lang="en-US" sz="1100"/>
          </a:p>
        </p:txBody>
      </p:sp>
      <p:sp>
        <p:nvSpPr>
          <p:cNvPr id="8" name="AutoShape 8"/>
          <p:cNvSpPr/>
          <p:nvPr/>
        </p:nvSpPr>
        <p:spPr>
          <a:xfrm>
            <a:off x="762000" y="3302000"/>
            <a:ext cx="4826000" cy="762000"/>
          </a:xfrm>
          <a:prstGeom prst="roundRect">
            <a:avLst>
              <a:gd name="adj" fmla="val 13333"/>
            </a:avLst>
          </a:prstGeom>
          <a:solidFill>
            <a:srgbClr val="EEF2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492500"/>
            <a:ext cx="381000" cy="381000"/>
          </a:xfrm>
          <a:prstGeom prst="rect">
            <a:avLst/>
          </a:prstGeom>
        </p:spPr>
      </p:pic>
      <p:sp>
        <p:nvSpPr>
          <p:cNvPr id="10" name="AutoShape 10"/>
          <p:cNvSpPr/>
          <p:nvPr/>
        </p:nvSpPr>
        <p:spPr>
          <a:xfrm>
            <a:off x="1524000" y="3403600"/>
            <a:ext cx="3937000" cy="558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333333"/>
                </a:solidFill>
                <a:latin typeface="微软雅黑"/>
                <a:ea typeface="微软雅黑"/>
                <a:cs typeface="微软雅黑"/>
                <a:sym typeface="微软雅黑"/>
              </a:rPr>
              <a:t>独立控制器设计</a:t>
            </a:r>
            <a:br>
              <a:rPr lang="en-US" sz="1600" b="0" i="0" u="none" strike="noStrike">
                <a:solidFill>
                  <a:srgbClr val="1F2329"/>
                </a:solidFill>
                <a:latin typeface="微软雅黑"/>
                <a:ea typeface="微软雅黑"/>
                <a:cs typeface="微软雅黑"/>
                <a:sym typeface="微软雅黑"/>
              </a:rPr>
            </a:br>
            <a:r>
              <a:rPr lang="en-US" sz="1100" b="0" i="0" u="none" strike="noStrike">
                <a:solidFill>
                  <a:srgbClr val="666666"/>
                </a:solidFill>
                <a:latin typeface="微软雅黑"/>
                <a:ea typeface="微软雅黑"/>
                <a:cs typeface="微软雅黑"/>
                <a:sym typeface="微软雅黑"/>
              </a:rPr>
              <a:t>为每个舵轮配置独立的转向 PID 控制器和轮速闭环控制器</a:t>
            </a:r>
            <a:endParaRPr lang="en-US" sz="1100"/>
          </a:p>
        </p:txBody>
      </p:sp>
      <p:sp>
        <p:nvSpPr>
          <p:cNvPr id="11" name="AutoShape 11"/>
          <p:cNvSpPr/>
          <p:nvPr/>
        </p:nvSpPr>
        <p:spPr>
          <a:xfrm>
            <a:off x="762000" y="4191000"/>
            <a:ext cx="4826000" cy="762000"/>
          </a:xfrm>
          <a:prstGeom prst="roundRect">
            <a:avLst>
              <a:gd name="adj" fmla="val 13333"/>
            </a:avLst>
          </a:prstGeom>
          <a:solidFill>
            <a:srgbClr val="EEF2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381500"/>
            <a:ext cx="381000" cy="381000"/>
          </a:xfrm>
          <a:prstGeom prst="rect">
            <a:avLst/>
          </a:prstGeom>
        </p:spPr>
      </p:pic>
      <p:sp>
        <p:nvSpPr>
          <p:cNvPr id="13" name="AutoShape 13"/>
          <p:cNvSpPr/>
          <p:nvPr/>
        </p:nvSpPr>
        <p:spPr>
          <a:xfrm>
            <a:off x="1524000" y="4292600"/>
            <a:ext cx="3937000" cy="558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333333"/>
                </a:solidFill>
                <a:latin typeface="微软雅黑"/>
                <a:ea typeface="微软雅黑"/>
                <a:cs typeface="微软雅黑"/>
                <a:sym typeface="微软雅黑"/>
              </a:rPr>
              <a:t>运动指令解算</a:t>
            </a:r>
            <a:br>
              <a:rPr lang="en-US" sz="1600" b="0" i="0" u="none" strike="noStrike">
                <a:solidFill>
                  <a:srgbClr val="1F2329"/>
                </a:solidFill>
                <a:latin typeface="微软雅黑"/>
                <a:ea typeface="微软雅黑"/>
                <a:cs typeface="微软雅黑"/>
                <a:sym typeface="微软雅黑"/>
              </a:rPr>
            </a:br>
            <a:r>
              <a:rPr lang="en-US" sz="1100" b="0" i="0" u="none" strike="noStrike">
                <a:solidFill>
                  <a:srgbClr val="666666"/>
                </a:solidFill>
                <a:latin typeface="微软雅黑"/>
                <a:ea typeface="微软雅黑"/>
                <a:cs typeface="微软雅黑"/>
                <a:sym typeface="微软雅黑"/>
              </a:rPr>
              <a:t>实现 cmd_vel 速度话题到底盘三舵轮执行命令的实时转换</a:t>
            </a:r>
            <a:endParaRPr lang="en-US" sz="1100"/>
          </a:p>
        </p:txBody>
      </p:sp>
      <p:sp>
        <p:nvSpPr>
          <p:cNvPr id="14" name="AutoShape 14"/>
          <p:cNvSpPr/>
          <p:nvPr/>
        </p:nvSpPr>
        <p:spPr>
          <a:xfrm>
            <a:off x="762000" y="5080000"/>
            <a:ext cx="4826000" cy="762000"/>
          </a:xfrm>
          <a:prstGeom prst="roundRect">
            <a:avLst>
              <a:gd name="adj" fmla="val 13333"/>
            </a:avLst>
          </a:prstGeom>
          <a:solidFill>
            <a:srgbClr val="EEF2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5270500"/>
            <a:ext cx="381000" cy="381000"/>
          </a:xfrm>
          <a:prstGeom prst="rect">
            <a:avLst/>
          </a:prstGeom>
        </p:spPr>
      </p:pic>
      <p:sp>
        <p:nvSpPr>
          <p:cNvPr id="16" name="AutoShape 16"/>
          <p:cNvSpPr/>
          <p:nvPr/>
        </p:nvSpPr>
        <p:spPr>
          <a:xfrm>
            <a:off x="1524000" y="5181600"/>
            <a:ext cx="3937000" cy="558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333333"/>
                </a:solidFill>
                <a:latin typeface="微软雅黑"/>
                <a:ea typeface="微软雅黑"/>
                <a:cs typeface="微软雅黑"/>
                <a:sym typeface="微软雅黑"/>
              </a:rPr>
              <a:t>全流程数据验证</a:t>
            </a:r>
            <a:br>
              <a:rPr lang="en-US" sz="1600" b="0" i="0" u="none" strike="noStrike">
                <a:solidFill>
                  <a:srgbClr val="1F2329"/>
                </a:solidFill>
                <a:latin typeface="微软雅黑"/>
                <a:ea typeface="微软雅黑"/>
                <a:cs typeface="微软雅黑"/>
                <a:sym typeface="微软雅黑"/>
              </a:rPr>
            </a:br>
            <a:r>
              <a:rPr lang="en-US" sz="1100" b="0" i="0" u="none" strike="noStrike">
                <a:solidFill>
                  <a:srgbClr val="666666"/>
                </a:solidFill>
                <a:latin typeface="微软雅黑"/>
                <a:ea typeface="微软雅黑"/>
                <a:cs typeface="微软雅黑"/>
                <a:sym typeface="微软雅黑"/>
              </a:rPr>
              <a:t>采集舵角、轮速及位姿数据，验证运动学模型逻辑正确性</a:t>
            </a:r>
            <a:endParaRPr lang="en-US" sz="1100"/>
          </a:p>
        </p:txBody>
      </p:sp>
      <p:sp>
        <p:nvSpPr>
          <p:cNvPr id="17" name="AutoShape 17"/>
          <p:cNvSpPr/>
          <p:nvPr/>
        </p:nvSpPr>
        <p:spPr>
          <a:xfrm>
            <a:off x="6096000" y="1270000"/>
            <a:ext cx="5588000" cy="4953000"/>
          </a:xfrm>
          <a:prstGeom prst="roundRect">
            <a:avLst>
              <a:gd name="adj" fmla="val 4102"/>
            </a:avLst>
          </a:prstGeom>
          <a:gradFill rotWithShape="1">
            <a:gsLst>
              <a:gs pos="0">
                <a:srgbClr val="165DFF">
                  <a:alpha val="100000"/>
                </a:srgbClr>
              </a:gs>
              <a:gs pos="100000">
                <a:srgbClr val="3B82F6">
                  <a:alpha val="100000"/>
                </a:srgbClr>
              </a:gs>
            </a:gsLst>
            <a:lin ang="2700000"/>
          </a:gradFill>
          <a:ln w="25400" cap="flat" cmpd="sng">
            <a:noFill/>
            <a:prstDash val="solid"/>
            <a:round/>
          </a:ln>
          <a:effectLst>
            <a:outerShdw blurRad="317500" dist="101600" dir="5400000" algn="tl" rotWithShape="0">
              <a:srgbClr val="165DFF">
                <a:alpha val="25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47000" y="2159000"/>
            <a:ext cx="1270000" cy="1270000"/>
          </a:xfrm>
          <a:prstGeom prst="rect">
            <a:avLst/>
          </a:prstGeom>
        </p:spPr>
      </p:pic>
      <p:sp>
        <p:nvSpPr>
          <p:cNvPr id="19" name="AutoShape 19"/>
          <p:cNvSpPr/>
          <p:nvPr/>
        </p:nvSpPr>
        <p:spPr>
          <a:xfrm>
            <a:off x="6350000" y="3810000"/>
            <a:ext cx="508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微软雅黑"/>
                <a:ea typeface="微软雅黑"/>
                <a:cs typeface="微软雅黑"/>
                <a:sym typeface="微软雅黑"/>
              </a:rPr>
              <a:t>Gazebo &amp; ROS 2 Simulation</a:t>
            </a:r>
            <a:endParaRPr lang="en-US" sz="1100"/>
          </a:p>
        </p:txBody>
      </p:sp>
      <p:sp>
        <p:nvSpPr>
          <p:cNvPr id="20" name="AutoShape 20"/>
          <p:cNvSpPr/>
          <p:nvPr/>
        </p:nvSpPr>
        <p:spPr>
          <a:xfrm>
            <a:off x="6350000" y="4572000"/>
            <a:ext cx="5080000" cy="762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300" b="0" i="0" u="none" strike="noStrike">
                <a:solidFill>
                  <a:srgbClr val="FFFFFF">
                    <a:alpha val="80000"/>
                  </a:srgbClr>
                </a:solidFill>
                <a:latin typeface="微软雅黑"/>
                <a:ea typeface="微软雅黑"/>
                <a:cs typeface="微软雅黑"/>
                <a:sym typeface="微软雅黑"/>
              </a:rPr>
              <a:t>Virtual Verification Environment</a:t>
            </a:r>
            <a:br>
              <a:rPr lang="en-US" sz="1300" b="0" i="0" u="none" strike="noStrike">
                <a:solidFill>
                  <a:srgbClr val="FFFFFF">
                    <a:alpha val="80000"/>
                  </a:srgbClr>
                </a:solidFill>
                <a:latin typeface="微软雅黑"/>
                <a:ea typeface="微软雅黑"/>
                <a:cs typeface="微软雅黑"/>
                <a:sym typeface="微软雅黑"/>
              </a:rPr>
            </a:br>
            <a:r>
              <a:rPr lang="en-US" sz="1300" b="0" i="0" u="none" strike="noStrike">
                <a:solidFill>
                  <a:srgbClr val="FFFFFF">
                    <a:alpha val="80000"/>
                  </a:srgbClr>
                </a:solidFill>
                <a:latin typeface="微软雅黑"/>
                <a:ea typeface="微软雅黑"/>
                <a:cs typeface="微软雅黑"/>
                <a:sym typeface="微软雅黑"/>
              </a:rPr>
              <a:t>for Omni-directional Chassis</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5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165DFF"/>
                </a:solidFill>
                <a:latin typeface="微软雅黑"/>
                <a:ea typeface="微软雅黑"/>
                <a:cs typeface="微软雅黑"/>
                <a:sym typeface="微软雅黑"/>
              </a:rPr>
              <a:t>实物平台与基础运动测试</a:t>
            </a:r>
            <a:endParaRPr lang="en-US" sz="1100"/>
          </a:p>
        </p:txBody>
      </p:sp>
      <p:sp>
        <p:nvSpPr>
          <p:cNvPr id="3" name="AutoShape 3"/>
          <p:cNvSpPr/>
          <p:nvPr/>
        </p:nvSpPr>
        <p:spPr>
          <a:xfrm>
            <a:off x="508000" y="1143000"/>
            <a:ext cx="1117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95959"/>
                </a:solidFill>
                <a:latin typeface="微软雅黑"/>
                <a:ea typeface="微软雅黑"/>
                <a:cs typeface="微软雅黑"/>
                <a:sym typeface="微软雅黑"/>
              </a:rPr>
              <a:t>基于企业提供的三舵轮底盘实物平台，开展了一系列典型工况的基础运动测试，旨在验证控制链路的完整性与运动控制的稳定性。</a:t>
            </a:r>
            <a:endParaRPr lang="en-US" sz="1100"/>
          </a:p>
        </p:txBody>
      </p:sp>
      <p:sp>
        <p:nvSpPr>
          <p:cNvPr id="4" name="AutoShape 4"/>
          <p:cNvSpPr/>
          <p:nvPr/>
        </p:nvSpPr>
        <p:spPr>
          <a:xfrm>
            <a:off x="508000" y="1905000"/>
            <a:ext cx="5461000" cy="2032000"/>
          </a:xfrm>
          <a:prstGeom prst="roundRect">
            <a:avLst>
              <a:gd name="adj" fmla="val 7500"/>
            </a:avLst>
          </a:prstGeom>
          <a:solidFill>
            <a:srgbClr val="FFFFFF">
              <a:alpha val="100000"/>
            </a:srgbClr>
          </a:solidFill>
          <a:ln w="25400" cap="flat" cmpd="sng">
            <a:noFill/>
            <a:prstDash val="solid"/>
            <a:round/>
          </a:ln>
          <a:effectLst>
            <a:outerShdw blurRad="203200" dist="50800" dir="2700000" algn="tl" rotWithShape="0">
              <a:srgbClr val="165DFF">
                <a:alpha val="10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2159000"/>
            <a:ext cx="1016000" cy="1016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413000"/>
            <a:ext cx="508000" cy="508000"/>
          </a:xfrm>
          <a:prstGeom prst="rect">
            <a:avLst/>
          </a:prstGeom>
        </p:spPr>
      </p:pic>
      <p:sp>
        <p:nvSpPr>
          <p:cNvPr id="7" name="AutoShape 7"/>
          <p:cNvSpPr/>
          <p:nvPr/>
        </p:nvSpPr>
        <p:spPr>
          <a:xfrm>
            <a:off x="2032000" y="22225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65DFF"/>
                </a:solidFill>
                <a:latin typeface="微软雅黑"/>
                <a:ea typeface="微软雅黑"/>
                <a:cs typeface="微软雅黑"/>
                <a:sym typeface="微软雅黑"/>
              </a:rPr>
              <a:t>硬件平台搭建</a:t>
            </a:r>
            <a:endParaRPr lang="en-US" sz="1100"/>
          </a:p>
        </p:txBody>
      </p:sp>
      <p:sp>
        <p:nvSpPr>
          <p:cNvPr id="8" name="AutoShape 8"/>
          <p:cNvSpPr/>
          <p:nvPr/>
        </p:nvSpPr>
        <p:spPr>
          <a:xfrm>
            <a:off x="2032000" y="2730500"/>
            <a:ext cx="3429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666666"/>
                </a:solidFill>
                <a:latin typeface="微软雅黑"/>
                <a:ea typeface="微软雅黑"/>
                <a:cs typeface="微软雅黑"/>
                <a:sym typeface="微软雅黑"/>
              </a:rPr>
              <a:t>完成核心控制板与电机驱动器的硬件连接与调试，构建稳定的底层通信环境，为上层运动控制算法提供可靠的物理载体。</a:t>
            </a:r>
            <a:endParaRPr lang="en-US" sz="1100"/>
          </a:p>
        </p:txBody>
      </p:sp>
      <p:sp>
        <p:nvSpPr>
          <p:cNvPr id="9" name="AutoShape 9"/>
          <p:cNvSpPr/>
          <p:nvPr/>
        </p:nvSpPr>
        <p:spPr>
          <a:xfrm>
            <a:off x="6223000" y="1905000"/>
            <a:ext cx="5461000" cy="2032000"/>
          </a:xfrm>
          <a:prstGeom prst="roundRect">
            <a:avLst>
              <a:gd name="adj" fmla="val 7500"/>
            </a:avLst>
          </a:prstGeom>
          <a:solidFill>
            <a:srgbClr val="FFFFFF">
              <a:alpha val="100000"/>
            </a:srgbClr>
          </a:solidFill>
          <a:ln w="25400" cap="flat" cmpd="sng">
            <a:noFill/>
            <a:prstDash val="solid"/>
            <a:round/>
          </a:ln>
          <a:effectLst>
            <a:outerShdw blurRad="203200" dist="50800" dir="2700000" algn="tl" rotWithShape="0">
              <a:srgbClr val="165DFF">
                <a:alpha val="10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477000" y="2159000"/>
            <a:ext cx="1016000" cy="1016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2413000"/>
            <a:ext cx="508000" cy="508000"/>
          </a:xfrm>
          <a:prstGeom prst="rect">
            <a:avLst/>
          </a:prstGeom>
        </p:spPr>
      </p:pic>
      <p:sp>
        <p:nvSpPr>
          <p:cNvPr id="12" name="AutoShape 12"/>
          <p:cNvSpPr/>
          <p:nvPr/>
        </p:nvSpPr>
        <p:spPr>
          <a:xfrm>
            <a:off x="7747000" y="22225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65DFF"/>
                </a:solidFill>
                <a:latin typeface="微软雅黑"/>
                <a:ea typeface="微软雅黑"/>
                <a:cs typeface="微软雅黑"/>
                <a:sym typeface="微软雅黑"/>
              </a:rPr>
              <a:t>典型工况测试</a:t>
            </a:r>
            <a:endParaRPr lang="en-US" sz="1100"/>
          </a:p>
        </p:txBody>
      </p:sp>
      <p:sp>
        <p:nvSpPr>
          <p:cNvPr id="13" name="AutoShape 13"/>
          <p:cNvSpPr/>
          <p:nvPr/>
        </p:nvSpPr>
        <p:spPr>
          <a:xfrm>
            <a:off x="7747000" y="2730500"/>
            <a:ext cx="3429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666666"/>
                </a:solidFill>
                <a:latin typeface="微软雅黑"/>
                <a:ea typeface="微软雅黑"/>
                <a:cs typeface="微软雅黑"/>
                <a:sym typeface="微软雅黑"/>
              </a:rPr>
              <a:t>覆盖前进、后退、横移、原地旋转等基础运动模式，全方位验证底盘在不同运动学约束下的响应能力与轨迹跟踪效果。</a:t>
            </a:r>
            <a:endParaRPr lang="en-US" sz="1100"/>
          </a:p>
        </p:txBody>
      </p:sp>
      <p:sp>
        <p:nvSpPr>
          <p:cNvPr id="14" name="AutoShape 14"/>
          <p:cNvSpPr/>
          <p:nvPr/>
        </p:nvSpPr>
        <p:spPr>
          <a:xfrm>
            <a:off x="508000" y="4191000"/>
            <a:ext cx="5461000" cy="2032000"/>
          </a:xfrm>
          <a:prstGeom prst="roundRect">
            <a:avLst>
              <a:gd name="adj" fmla="val 7500"/>
            </a:avLst>
          </a:prstGeom>
          <a:solidFill>
            <a:srgbClr val="FFFFFF">
              <a:alpha val="100000"/>
            </a:srgbClr>
          </a:solidFill>
          <a:ln w="25400" cap="flat" cmpd="sng">
            <a:noFill/>
            <a:prstDash val="solid"/>
            <a:round/>
          </a:ln>
          <a:effectLst>
            <a:outerShdw blurRad="203200" dist="50800" dir="2700000" algn="tl" rotWithShape="0">
              <a:srgbClr val="165DFF">
                <a:alpha val="10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762000" y="4445000"/>
            <a:ext cx="1016000" cy="1016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699000"/>
            <a:ext cx="508000" cy="508000"/>
          </a:xfrm>
          <a:prstGeom prst="rect">
            <a:avLst/>
          </a:prstGeom>
        </p:spPr>
      </p:pic>
      <p:sp>
        <p:nvSpPr>
          <p:cNvPr id="17" name="AutoShape 17"/>
          <p:cNvSpPr/>
          <p:nvPr/>
        </p:nvSpPr>
        <p:spPr>
          <a:xfrm>
            <a:off x="2032000" y="45085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65DFF"/>
                </a:solidFill>
                <a:latin typeface="微软雅黑"/>
                <a:ea typeface="微软雅黑"/>
                <a:cs typeface="微软雅黑"/>
                <a:sym typeface="微软雅黑"/>
              </a:rPr>
              <a:t>运动性能验证</a:t>
            </a:r>
            <a:endParaRPr lang="en-US" sz="1100"/>
          </a:p>
        </p:txBody>
      </p:sp>
      <p:sp>
        <p:nvSpPr>
          <p:cNvPr id="18" name="AutoShape 18"/>
          <p:cNvSpPr/>
          <p:nvPr/>
        </p:nvSpPr>
        <p:spPr>
          <a:xfrm>
            <a:off x="2032000" y="5016500"/>
            <a:ext cx="3429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666666"/>
                </a:solidFill>
                <a:latin typeface="微软雅黑"/>
                <a:ea typeface="微软雅黑"/>
                <a:cs typeface="微软雅黑"/>
                <a:sym typeface="微软雅黑"/>
              </a:rPr>
              <a:t>实物底盘能够稳定、准确地复现所有预设的典型动作，控制链路已完全打通，初步验证了运动学模型与控制算法的可行性。</a:t>
            </a:r>
            <a:endParaRPr lang="en-US" sz="1100"/>
          </a:p>
        </p:txBody>
      </p:sp>
      <p:sp>
        <p:nvSpPr>
          <p:cNvPr id="19" name="AutoShape 19"/>
          <p:cNvSpPr/>
          <p:nvPr/>
        </p:nvSpPr>
        <p:spPr>
          <a:xfrm>
            <a:off x="6223000" y="4191000"/>
            <a:ext cx="5461000" cy="2032000"/>
          </a:xfrm>
          <a:prstGeom prst="roundRect">
            <a:avLst>
              <a:gd name="adj" fmla="val 7500"/>
            </a:avLst>
          </a:prstGeom>
          <a:solidFill>
            <a:srgbClr val="FFFFFF">
              <a:alpha val="100000"/>
            </a:srgbClr>
          </a:solidFill>
          <a:ln w="25400" cap="flat" cmpd="sng">
            <a:noFill/>
            <a:prstDash val="solid"/>
            <a:round/>
          </a:ln>
          <a:effectLst>
            <a:outerShdw blurRad="203200" dist="50800" dir="2700000" algn="tl" rotWithShape="0">
              <a:srgbClr val="165DFF">
                <a:alpha val="10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6477000" y="4445000"/>
            <a:ext cx="1016000" cy="1016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1000" y="4699000"/>
            <a:ext cx="508000" cy="508000"/>
          </a:xfrm>
          <a:prstGeom prst="rect">
            <a:avLst/>
          </a:prstGeom>
        </p:spPr>
      </p:pic>
      <p:sp>
        <p:nvSpPr>
          <p:cNvPr id="22" name="AutoShape 22"/>
          <p:cNvSpPr/>
          <p:nvPr/>
        </p:nvSpPr>
        <p:spPr>
          <a:xfrm>
            <a:off x="7747000" y="45085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65DFF"/>
                </a:solidFill>
                <a:latin typeface="微软雅黑"/>
                <a:ea typeface="微软雅黑"/>
                <a:cs typeface="微软雅黑"/>
                <a:sym typeface="微软雅黑"/>
              </a:rPr>
              <a:t>实验数据采集</a:t>
            </a:r>
            <a:endParaRPr lang="en-US" sz="1100"/>
          </a:p>
        </p:txBody>
      </p:sp>
      <p:sp>
        <p:nvSpPr>
          <p:cNvPr id="23" name="AutoShape 23"/>
          <p:cNvSpPr/>
          <p:nvPr/>
        </p:nvSpPr>
        <p:spPr>
          <a:xfrm>
            <a:off x="7747000" y="5016500"/>
            <a:ext cx="3429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666666"/>
                </a:solidFill>
                <a:latin typeface="微软雅黑"/>
                <a:ea typeface="微软雅黑"/>
                <a:cs typeface="微软雅黑"/>
                <a:sym typeface="微软雅黑"/>
              </a:rPr>
              <a:t>实时记录各工况下的舵角变化、电机转速等关键数据曲线，建立完整的实验数据库，为后续控制算法的参数优化提供数据支撑。</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381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65DFF"/>
                </a:solidFill>
                <a:latin typeface="微软雅黑"/>
                <a:ea typeface="微软雅黑"/>
                <a:cs typeface="微软雅黑"/>
                <a:sym typeface="微软雅黑"/>
              </a:rPr>
              <a:t>存在问题与后续工作规划</a:t>
            </a:r>
            <a:endParaRPr lang="en-US" sz="1100"/>
          </a:p>
        </p:txBody>
      </p:sp>
      <p:sp>
        <p:nvSpPr>
          <p:cNvPr id="3" name="AutoShape 3"/>
          <p:cNvSpPr/>
          <p:nvPr/>
        </p:nvSpPr>
        <p:spPr>
          <a:xfrm>
            <a:off x="508000" y="1270000"/>
            <a:ext cx="5334000" cy="4953000"/>
          </a:xfrm>
          <a:prstGeom prst="roundRect">
            <a:avLst>
              <a:gd name="adj" fmla="val 3076"/>
            </a:avLst>
          </a:prstGeom>
          <a:solidFill>
            <a:srgbClr val="F0F5FF">
              <a:alpha val="100000"/>
            </a:srgbClr>
          </a:solidFill>
          <a:ln w="12700" cap="flat" cmpd="sng">
            <a:solidFill>
              <a:srgbClr val="165DFF">
                <a:alpha val="2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98500" y="1460500"/>
            <a:ext cx="4953000" cy="609600"/>
          </a:xfrm>
          <a:prstGeom prst="roundRect">
            <a:avLst>
              <a:gd name="adj" fmla="val 16666"/>
            </a:avLst>
          </a:prstGeom>
          <a:solidFill>
            <a:srgbClr val="165DFF">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微软雅黑"/>
                <a:ea typeface="微软雅黑"/>
                <a:cs typeface="微软雅黑"/>
                <a:sym typeface="微软雅黑"/>
              </a:rPr>
              <a:t>当前存在的问题</a:t>
            </a:r>
            <a:endParaRPr lang="en-US" sz="1100"/>
          </a:p>
        </p:txBody>
      </p:sp>
      <p:sp>
        <p:nvSpPr>
          <p:cNvPr id="5" name="AutoShape 5"/>
          <p:cNvSpPr/>
          <p:nvPr/>
        </p:nvSpPr>
        <p:spPr>
          <a:xfrm>
            <a:off x="698500" y="2286000"/>
            <a:ext cx="4953000" cy="825500"/>
          </a:xfrm>
          <a:prstGeom prst="roundRect">
            <a:avLst>
              <a:gd name="adj" fmla="val 12307"/>
            </a:avLst>
          </a:prstGeom>
          <a:solidFill>
            <a:srgbClr val="FFFFFF">
              <a:alpha val="100000"/>
            </a:srgbClr>
          </a:solidFill>
          <a:ln w="25400" cap="flat" cmpd="sng">
            <a:noFill/>
            <a:prstDash val="solid"/>
            <a:round/>
          </a:ln>
          <a:effectLst>
            <a:outerShdw blurRad="76200" dist="254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2489200"/>
            <a:ext cx="406400" cy="406400"/>
          </a:xfrm>
          <a:prstGeom prst="rect">
            <a:avLst/>
          </a:prstGeom>
        </p:spPr>
      </p:pic>
      <p:sp>
        <p:nvSpPr>
          <p:cNvPr id="7" name="AutoShape 7"/>
          <p:cNvSpPr/>
          <p:nvPr/>
        </p:nvSpPr>
        <p:spPr>
          <a:xfrm>
            <a:off x="1524000" y="2349500"/>
            <a:ext cx="3937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65DFF"/>
                </a:solidFill>
                <a:latin typeface="微软雅黑"/>
                <a:ea typeface="微软雅黑"/>
                <a:cs typeface="微软雅黑"/>
                <a:sym typeface="微软雅黑"/>
              </a:rPr>
              <a:t>01. 机械控制精度待提升</a:t>
            </a:r>
            <a:endParaRPr lang="en-US" sz="1100"/>
          </a:p>
          <a:p>
            <a:pPr indent="0" algn="l">
              <a:lnSpc>
                <a:spcPct val="100000"/>
              </a:lnSpc>
            </a:pPr>
            <a:r>
              <a:rPr lang="en-US" sz="1100" b="0" i="0" u="none" strike="noStrike">
                <a:solidFill>
                  <a:srgbClr val="555555"/>
                </a:solidFill>
                <a:latin typeface="微软雅黑"/>
                <a:ea typeface="微软雅黑"/>
                <a:cs typeface="微软雅黑"/>
                <a:sym typeface="微软雅黑"/>
              </a:rPr>
              <a:t>舵角连续性与机械限位问题仍需进一步优化，解决控制死区。</a:t>
            </a:r>
          </a:p>
        </p:txBody>
      </p:sp>
      <p:sp>
        <p:nvSpPr>
          <p:cNvPr id="8" name="AutoShape 8"/>
          <p:cNvSpPr/>
          <p:nvPr/>
        </p:nvSpPr>
        <p:spPr>
          <a:xfrm>
            <a:off x="698500" y="3302000"/>
            <a:ext cx="4953000" cy="825500"/>
          </a:xfrm>
          <a:prstGeom prst="roundRect">
            <a:avLst>
              <a:gd name="adj" fmla="val 12307"/>
            </a:avLst>
          </a:prstGeom>
          <a:solidFill>
            <a:srgbClr val="FFFFFF">
              <a:alpha val="100000"/>
            </a:srgbClr>
          </a:solidFill>
          <a:ln w="25400" cap="flat" cmpd="sng">
            <a:noFill/>
            <a:prstDash val="solid"/>
            <a:round/>
          </a:ln>
          <a:effectLst>
            <a:outerShdw blurRad="76200" dist="254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 y="3505200"/>
            <a:ext cx="406400" cy="406400"/>
          </a:xfrm>
          <a:prstGeom prst="rect">
            <a:avLst/>
          </a:prstGeom>
        </p:spPr>
      </p:pic>
      <p:sp>
        <p:nvSpPr>
          <p:cNvPr id="10" name="AutoShape 10"/>
          <p:cNvSpPr/>
          <p:nvPr/>
        </p:nvSpPr>
        <p:spPr>
          <a:xfrm>
            <a:off x="1524000" y="3365500"/>
            <a:ext cx="3937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65DFF"/>
                </a:solidFill>
                <a:latin typeface="微软雅黑"/>
                <a:ea typeface="微软雅黑"/>
                <a:cs typeface="微软雅黑"/>
                <a:sym typeface="微软雅黑"/>
              </a:rPr>
              <a:t>02. 实物平台非理想特性</a:t>
            </a:r>
            <a:endParaRPr lang="en-US" sz="1100"/>
          </a:p>
          <a:p>
            <a:pPr indent="0" algn="l">
              <a:lnSpc>
                <a:spcPct val="100000"/>
              </a:lnSpc>
            </a:pPr>
            <a:r>
              <a:rPr lang="en-US" sz="1100" b="0" i="0" u="none" strike="noStrike">
                <a:solidFill>
                  <a:srgbClr val="555555"/>
                </a:solidFill>
                <a:latin typeface="微软雅黑"/>
                <a:ea typeface="微软雅黑"/>
                <a:cs typeface="微软雅黑"/>
                <a:sym typeface="微软雅黑"/>
              </a:rPr>
              <a:t>平台动态响应受摩擦、机械间隙和执行器延迟等物理因素显著干扰。</a:t>
            </a:r>
          </a:p>
        </p:txBody>
      </p:sp>
      <p:sp>
        <p:nvSpPr>
          <p:cNvPr id="11" name="AutoShape 11"/>
          <p:cNvSpPr/>
          <p:nvPr/>
        </p:nvSpPr>
        <p:spPr>
          <a:xfrm>
            <a:off x="698500" y="4318000"/>
            <a:ext cx="4953000" cy="825500"/>
          </a:xfrm>
          <a:prstGeom prst="roundRect">
            <a:avLst>
              <a:gd name="adj" fmla="val 12307"/>
            </a:avLst>
          </a:prstGeom>
          <a:solidFill>
            <a:srgbClr val="FFFFFF">
              <a:alpha val="100000"/>
            </a:srgbClr>
          </a:solidFill>
          <a:ln w="25400" cap="flat" cmpd="sng">
            <a:noFill/>
            <a:prstDash val="solid"/>
            <a:round/>
          </a:ln>
          <a:effectLst>
            <a:outerShdw blurRad="76200" dist="254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9000" y="4521200"/>
            <a:ext cx="406400" cy="406400"/>
          </a:xfrm>
          <a:prstGeom prst="rect">
            <a:avLst/>
          </a:prstGeom>
        </p:spPr>
      </p:pic>
      <p:sp>
        <p:nvSpPr>
          <p:cNvPr id="13" name="AutoShape 13"/>
          <p:cNvSpPr/>
          <p:nvPr/>
        </p:nvSpPr>
        <p:spPr>
          <a:xfrm>
            <a:off x="1524000" y="4381500"/>
            <a:ext cx="3937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65DFF"/>
                </a:solidFill>
                <a:latin typeface="微软雅黑"/>
                <a:ea typeface="微软雅黑"/>
                <a:cs typeface="微软雅黑"/>
                <a:sym typeface="微软雅黑"/>
              </a:rPr>
              <a:t>03. 虚实运动一致性待析</a:t>
            </a:r>
            <a:endParaRPr lang="en-US" sz="1100"/>
          </a:p>
          <a:p>
            <a:pPr indent="0" algn="l">
              <a:lnSpc>
                <a:spcPct val="100000"/>
              </a:lnSpc>
            </a:pPr>
            <a:r>
              <a:rPr lang="en-US" sz="1100" b="0" i="0" u="none" strike="noStrike">
                <a:solidFill>
                  <a:srgbClr val="555555"/>
                </a:solidFill>
                <a:latin typeface="微软雅黑"/>
                <a:ea typeface="微软雅黑"/>
                <a:cs typeface="微软雅黑"/>
                <a:sym typeface="微软雅黑"/>
              </a:rPr>
              <a:t>仿真环境与实物平台之间的运动特性差异尚未进行系统性的量化分析。</a:t>
            </a:r>
          </a:p>
        </p:txBody>
      </p:sp>
      <p:sp>
        <p:nvSpPr>
          <p:cNvPr id="14" name="AutoShape 14"/>
          <p:cNvSpPr/>
          <p:nvPr/>
        </p:nvSpPr>
        <p:spPr>
          <a:xfrm>
            <a:off x="698500" y="5334000"/>
            <a:ext cx="4953000" cy="825500"/>
          </a:xfrm>
          <a:prstGeom prst="roundRect">
            <a:avLst>
              <a:gd name="adj" fmla="val 12307"/>
            </a:avLst>
          </a:prstGeom>
          <a:solidFill>
            <a:srgbClr val="FFFFFF">
              <a:alpha val="100000"/>
            </a:srgbClr>
          </a:solidFill>
          <a:ln w="25400" cap="flat" cmpd="sng">
            <a:noFill/>
            <a:prstDash val="solid"/>
            <a:round/>
          </a:ln>
          <a:effectLst>
            <a:outerShdw blurRad="76200" dist="254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 y="5537200"/>
            <a:ext cx="406400" cy="406400"/>
          </a:xfrm>
          <a:prstGeom prst="rect">
            <a:avLst/>
          </a:prstGeom>
        </p:spPr>
      </p:pic>
      <p:sp>
        <p:nvSpPr>
          <p:cNvPr id="16" name="AutoShape 16"/>
          <p:cNvSpPr/>
          <p:nvPr/>
        </p:nvSpPr>
        <p:spPr>
          <a:xfrm>
            <a:off x="1524000" y="5397500"/>
            <a:ext cx="3937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65DFF"/>
                </a:solidFill>
                <a:latin typeface="微软雅黑"/>
                <a:ea typeface="微软雅黑"/>
                <a:cs typeface="微软雅黑"/>
                <a:sym typeface="微软雅黑"/>
              </a:rPr>
              <a:t>04. 复杂工况数据缺失</a:t>
            </a:r>
            <a:endParaRPr lang="en-US" sz="1100"/>
          </a:p>
          <a:p>
            <a:pPr indent="0" algn="l">
              <a:lnSpc>
                <a:spcPct val="100000"/>
              </a:lnSpc>
            </a:pPr>
            <a:r>
              <a:rPr lang="en-US" sz="1100" b="0" i="0" u="none" strike="noStrike">
                <a:solidFill>
                  <a:srgbClr val="555555"/>
                </a:solidFill>
                <a:latin typeface="微软雅黑"/>
                <a:ea typeface="微软雅黑"/>
                <a:cs typeface="微软雅黑"/>
                <a:sym typeface="微软雅黑"/>
              </a:rPr>
              <a:t>斜向运动、曲线运动等复杂工况下的实验样本数据积累尚不充足。</a:t>
            </a:r>
          </a:p>
        </p:txBody>
      </p:sp>
      <p:sp>
        <p:nvSpPr>
          <p:cNvPr id="17" name="AutoShape 17"/>
          <p:cNvSpPr/>
          <p:nvPr/>
        </p:nvSpPr>
        <p:spPr>
          <a:xfrm>
            <a:off x="6223000" y="1270000"/>
            <a:ext cx="5334000" cy="4953000"/>
          </a:xfrm>
          <a:prstGeom prst="roundRect">
            <a:avLst>
              <a:gd name="adj" fmla="val 3076"/>
            </a:avLst>
          </a:prstGeom>
          <a:solidFill>
            <a:srgbClr val="F0F5FF">
              <a:alpha val="100000"/>
            </a:srgbClr>
          </a:solidFill>
          <a:ln w="12700" cap="flat" cmpd="sng">
            <a:solidFill>
              <a:srgbClr val="165DFF">
                <a:alpha val="2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13500" y="1460500"/>
            <a:ext cx="4953000" cy="609600"/>
          </a:xfrm>
          <a:prstGeom prst="roundRect">
            <a:avLst>
              <a:gd name="adj" fmla="val 16666"/>
            </a:avLst>
          </a:prstGeom>
          <a:solidFill>
            <a:srgbClr val="165DFF">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微软雅黑"/>
                <a:ea typeface="微软雅黑"/>
                <a:cs typeface="微软雅黑"/>
                <a:sym typeface="微软雅黑"/>
              </a:rPr>
              <a:t>下一步工作计划</a:t>
            </a:r>
            <a:endParaRPr lang="en-US" sz="1100"/>
          </a:p>
        </p:txBody>
      </p:sp>
      <p:sp>
        <p:nvSpPr>
          <p:cNvPr id="19" name="AutoShape 19"/>
          <p:cNvSpPr/>
          <p:nvPr/>
        </p:nvSpPr>
        <p:spPr>
          <a:xfrm>
            <a:off x="6413500" y="2286000"/>
            <a:ext cx="4953000" cy="825500"/>
          </a:xfrm>
          <a:prstGeom prst="roundRect">
            <a:avLst>
              <a:gd name="adj" fmla="val 12307"/>
            </a:avLst>
          </a:prstGeom>
          <a:solidFill>
            <a:srgbClr val="FFFFFF">
              <a:alpha val="100000"/>
            </a:srgbClr>
          </a:solidFill>
          <a:ln w="25400" cap="flat" cmpd="sng">
            <a:noFill/>
            <a:prstDash val="solid"/>
            <a:round/>
          </a:ln>
          <a:effectLst>
            <a:outerShdw blurRad="76200" dist="254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2489200"/>
            <a:ext cx="406400" cy="406400"/>
          </a:xfrm>
          <a:prstGeom prst="rect">
            <a:avLst/>
          </a:prstGeom>
        </p:spPr>
      </p:pic>
      <p:sp>
        <p:nvSpPr>
          <p:cNvPr id="21" name="AutoShape 21"/>
          <p:cNvSpPr/>
          <p:nvPr/>
        </p:nvSpPr>
        <p:spPr>
          <a:xfrm>
            <a:off x="7239000" y="2349500"/>
            <a:ext cx="3937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65DFF"/>
                </a:solidFill>
                <a:latin typeface="微软雅黑"/>
                <a:ea typeface="微软雅黑"/>
                <a:cs typeface="微软雅黑"/>
                <a:sym typeface="微软雅黑"/>
              </a:rPr>
              <a:t>01. 深化实物实验测试</a:t>
            </a:r>
            <a:endParaRPr lang="en-US" sz="1100"/>
          </a:p>
          <a:p>
            <a:pPr indent="0" algn="l">
              <a:lnSpc>
                <a:spcPct val="100000"/>
              </a:lnSpc>
            </a:pPr>
            <a:r>
              <a:rPr lang="en-US" sz="1100" b="0" i="0" u="none" strike="noStrike">
                <a:solidFill>
                  <a:srgbClr val="555555"/>
                </a:solidFill>
                <a:latin typeface="微软雅黑"/>
                <a:ea typeface="微软雅黑"/>
                <a:cs typeface="微软雅黑"/>
                <a:sym typeface="微软雅黑"/>
              </a:rPr>
              <a:t>针对斜向、曲线等复杂工况开展大量实物测试，补充完善实验数据集。</a:t>
            </a:r>
          </a:p>
        </p:txBody>
      </p:sp>
      <p:sp>
        <p:nvSpPr>
          <p:cNvPr id="22" name="AutoShape 22"/>
          <p:cNvSpPr/>
          <p:nvPr/>
        </p:nvSpPr>
        <p:spPr>
          <a:xfrm>
            <a:off x="6413500" y="3302000"/>
            <a:ext cx="4953000" cy="825500"/>
          </a:xfrm>
          <a:prstGeom prst="roundRect">
            <a:avLst>
              <a:gd name="adj" fmla="val 12307"/>
            </a:avLst>
          </a:prstGeom>
          <a:solidFill>
            <a:srgbClr val="FFFFFF">
              <a:alpha val="100000"/>
            </a:srgbClr>
          </a:solidFill>
          <a:ln w="25400" cap="flat" cmpd="sng">
            <a:noFill/>
            <a:prstDash val="solid"/>
            <a:round/>
          </a:ln>
          <a:effectLst>
            <a:outerShdw blurRad="76200" dist="254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505200"/>
            <a:ext cx="406400" cy="406400"/>
          </a:xfrm>
          <a:prstGeom prst="rect">
            <a:avLst/>
          </a:prstGeom>
        </p:spPr>
      </p:pic>
      <p:sp>
        <p:nvSpPr>
          <p:cNvPr id="24" name="AutoShape 24"/>
          <p:cNvSpPr/>
          <p:nvPr/>
        </p:nvSpPr>
        <p:spPr>
          <a:xfrm>
            <a:off x="7239000" y="3365500"/>
            <a:ext cx="3937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65DFF"/>
                </a:solidFill>
                <a:latin typeface="微软雅黑"/>
                <a:ea typeface="微软雅黑"/>
                <a:cs typeface="微软雅黑"/>
                <a:sym typeface="微软雅黑"/>
              </a:rPr>
              <a:t>02. 优化舵轮控制算法</a:t>
            </a:r>
            <a:endParaRPr lang="en-US" sz="1100"/>
          </a:p>
          <a:p>
            <a:pPr indent="0" algn="l">
              <a:lnSpc>
                <a:spcPct val="100000"/>
              </a:lnSpc>
            </a:pPr>
            <a:r>
              <a:rPr lang="en-US" sz="1100" b="0" i="0" u="none" strike="noStrike">
                <a:solidFill>
                  <a:srgbClr val="555555"/>
                </a:solidFill>
                <a:latin typeface="微软雅黑"/>
                <a:ea typeface="微软雅黑"/>
                <a:cs typeface="微软雅黑"/>
                <a:sym typeface="微软雅黑"/>
              </a:rPr>
              <a:t>改进多舵轮协调控制逻辑，补偿机械间隙，提高平台运动的平滑性。</a:t>
            </a:r>
          </a:p>
        </p:txBody>
      </p:sp>
      <p:sp>
        <p:nvSpPr>
          <p:cNvPr id="25" name="AutoShape 25"/>
          <p:cNvSpPr/>
          <p:nvPr/>
        </p:nvSpPr>
        <p:spPr>
          <a:xfrm>
            <a:off x="6413500" y="4318000"/>
            <a:ext cx="4953000" cy="825500"/>
          </a:xfrm>
          <a:prstGeom prst="roundRect">
            <a:avLst>
              <a:gd name="adj" fmla="val 12307"/>
            </a:avLst>
          </a:prstGeom>
          <a:solidFill>
            <a:srgbClr val="FFFFFF">
              <a:alpha val="100000"/>
            </a:srgbClr>
          </a:solidFill>
          <a:ln w="25400" cap="flat" cmpd="sng">
            <a:noFill/>
            <a:prstDash val="solid"/>
            <a:round/>
          </a:ln>
          <a:effectLst>
            <a:outerShdw blurRad="76200" dist="254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4521200"/>
            <a:ext cx="406400" cy="406400"/>
          </a:xfrm>
          <a:prstGeom prst="rect">
            <a:avLst/>
          </a:prstGeom>
        </p:spPr>
      </p:pic>
      <p:sp>
        <p:nvSpPr>
          <p:cNvPr id="27" name="AutoShape 27"/>
          <p:cNvSpPr/>
          <p:nvPr/>
        </p:nvSpPr>
        <p:spPr>
          <a:xfrm>
            <a:off x="7239000" y="4381500"/>
            <a:ext cx="3937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65DFF"/>
                </a:solidFill>
                <a:latin typeface="微软雅黑"/>
                <a:ea typeface="微软雅黑"/>
                <a:cs typeface="微软雅黑"/>
                <a:sym typeface="微软雅黑"/>
              </a:rPr>
              <a:t>03. 量化分析差异来源</a:t>
            </a:r>
            <a:endParaRPr lang="en-US" sz="1100"/>
          </a:p>
          <a:p>
            <a:pPr indent="0" algn="l">
              <a:lnSpc>
                <a:spcPct val="100000"/>
              </a:lnSpc>
            </a:pPr>
            <a:r>
              <a:rPr lang="en-US" sz="1100" b="0" i="0" u="none" strike="noStrike">
                <a:solidFill>
                  <a:srgbClr val="555555"/>
                </a:solidFill>
                <a:latin typeface="微软雅黑"/>
                <a:ea typeface="微软雅黑"/>
                <a:cs typeface="微软雅黑"/>
                <a:sym typeface="微软雅黑"/>
              </a:rPr>
              <a:t>系统对比仿真与实物的运动结果，建立误差模型，深入挖掘差异根源。</a:t>
            </a:r>
          </a:p>
        </p:txBody>
      </p:sp>
      <p:sp>
        <p:nvSpPr>
          <p:cNvPr id="28" name="AutoShape 28"/>
          <p:cNvSpPr/>
          <p:nvPr/>
        </p:nvSpPr>
        <p:spPr>
          <a:xfrm>
            <a:off x="6413500" y="5334000"/>
            <a:ext cx="4953000" cy="825500"/>
          </a:xfrm>
          <a:prstGeom prst="roundRect">
            <a:avLst>
              <a:gd name="adj" fmla="val 12307"/>
            </a:avLst>
          </a:prstGeom>
          <a:solidFill>
            <a:srgbClr val="FFFFFF">
              <a:alpha val="100000"/>
            </a:srgbClr>
          </a:solidFill>
          <a:ln w="25400" cap="flat" cmpd="sng">
            <a:noFill/>
            <a:prstDash val="solid"/>
            <a:round/>
          </a:ln>
          <a:effectLst>
            <a:outerShdw blurRad="76200" dist="254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29" name="Picture 2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5537200"/>
            <a:ext cx="406400" cy="406400"/>
          </a:xfrm>
          <a:prstGeom prst="rect">
            <a:avLst/>
          </a:prstGeom>
        </p:spPr>
      </p:pic>
      <p:sp>
        <p:nvSpPr>
          <p:cNvPr id="30" name="AutoShape 30"/>
          <p:cNvSpPr/>
          <p:nvPr/>
        </p:nvSpPr>
        <p:spPr>
          <a:xfrm>
            <a:off x="7239000" y="5397500"/>
            <a:ext cx="3937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65DFF"/>
                </a:solidFill>
                <a:latin typeface="微软雅黑"/>
                <a:ea typeface="微软雅黑"/>
                <a:cs typeface="微软雅黑"/>
                <a:sym typeface="微软雅黑"/>
              </a:rPr>
              <a:t>04. 完成学位论文撰写</a:t>
            </a:r>
            <a:endParaRPr lang="en-US" sz="1100"/>
          </a:p>
          <a:p>
            <a:pPr indent="0" algn="l">
              <a:lnSpc>
                <a:spcPct val="100000"/>
              </a:lnSpc>
            </a:pPr>
            <a:r>
              <a:rPr lang="en-US" sz="1100" b="0" i="0" u="none" strike="noStrike">
                <a:solidFill>
                  <a:srgbClr val="555555"/>
                </a:solidFill>
                <a:latin typeface="微软雅黑"/>
                <a:ea typeface="微软雅黑"/>
                <a:cs typeface="微软雅黑"/>
                <a:sym typeface="微软雅黑"/>
              </a:rPr>
              <a:t>基于整理后的实验数据与分析结论，按规范完成论文撰写与成果总结。</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635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65DFF"/>
                </a:solidFill>
                <a:latin typeface="微软雅黑"/>
                <a:ea typeface="微软雅黑"/>
                <a:cs typeface="微软雅黑"/>
                <a:sym typeface="微软雅黑"/>
              </a:rPr>
              <a:t>致 谢</a:t>
            </a:r>
            <a:endParaRPr lang="en-US" sz="1100"/>
          </a:p>
        </p:txBody>
      </p:sp>
      <p:sp>
        <p:nvSpPr>
          <p:cNvPr id="3" name="AutoShape 3"/>
          <p:cNvSpPr/>
          <p:nvPr/>
        </p:nvSpPr>
        <p:spPr>
          <a:xfrm>
            <a:off x="762000" y="1778000"/>
            <a:ext cx="3302000" cy="2413000"/>
          </a:xfrm>
          <a:prstGeom prst="roundRect">
            <a:avLst>
              <a:gd name="adj" fmla="val 8421"/>
            </a:avLst>
          </a:prstGeom>
          <a:solidFill>
            <a:srgbClr val="FFFFFF">
              <a:alpha val="100000"/>
            </a:srgbClr>
          </a:solidFill>
          <a:ln w="25400" cap="flat" cmpd="sng">
            <a:noFill/>
            <a:prstDash val="solid"/>
            <a:round/>
          </a:ln>
          <a:effectLst>
            <a:outerShdw blurRad="190500" dist="50800" dir="5400000" algn="tl" rotWithShape="0">
              <a:srgbClr val="165DFF">
                <a:alpha val="12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08200" y="2032000"/>
            <a:ext cx="609600" cy="609600"/>
          </a:xfrm>
          <a:prstGeom prst="rect">
            <a:avLst/>
          </a:prstGeom>
        </p:spPr>
      </p:pic>
      <p:sp>
        <p:nvSpPr>
          <p:cNvPr id="5" name="AutoShape 5"/>
          <p:cNvSpPr/>
          <p:nvPr/>
        </p:nvSpPr>
        <p:spPr>
          <a:xfrm>
            <a:off x="762000" y="27940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329"/>
                </a:solidFill>
                <a:latin typeface="微软雅黑"/>
                <a:ea typeface="微软雅黑"/>
                <a:cs typeface="微软雅黑"/>
                <a:sym typeface="微软雅黑"/>
              </a:rPr>
              <a:t>恩师指引</a:t>
            </a:r>
            <a:endParaRPr lang="en-US" sz="1100"/>
          </a:p>
        </p:txBody>
      </p:sp>
      <p:sp>
        <p:nvSpPr>
          <p:cNvPr id="6" name="AutoShape 6"/>
          <p:cNvSpPr/>
          <p:nvPr/>
        </p:nvSpPr>
        <p:spPr>
          <a:xfrm>
            <a:off x="1016000" y="3365500"/>
            <a:ext cx="2794000" cy="762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200" b="0" i="0" u="none" strike="noStrike">
                <a:solidFill>
                  <a:srgbClr val="646A73"/>
                </a:solidFill>
                <a:latin typeface="微软雅黑"/>
                <a:ea typeface="微软雅黑"/>
                <a:cs typeface="微软雅黑"/>
                <a:sym typeface="微软雅黑"/>
              </a:rPr>
              <a:t>感谢指导教师张光华老师的悉心指导</a:t>
            </a:r>
            <a:br>
              <a:rPr lang="en-US" sz="1200" b="0" i="0" u="none" strike="noStrike">
                <a:solidFill>
                  <a:srgbClr val="646A73"/>
                </a:solidFill>
                <a:latin typeface="微软雅黑"/>
                <a:ea typeface="微软雅黑"/>
                <a:cs typeface="微软雅黑"/>
                <a:sym typeface="微软雅黑"/>
              </a:rPr>
            </a:br>
            <a:r>
              <a:rPr lang="en-US" sz="1200" b="0" i="0" u="none" strike="noStrike">
                <a:solidFill>
                  <a:srgbClr val="646A73"/>
                </a:solidFill>
                <a:latin typeface="微软雅黑"/>
                <a:ea typeface="微软雅黑"/>
                <a:cs typeface="微软雅黑"/>
                <a:sym typeface="微软雅黑"/>
              </a:rPr>
              <a:t>与谆谆教诲，为研究指明方向</a:t>
            </a:r>
            <a:endParaRPr lang="en-US" sz="1100"/>
          </a:p>
        </p:txBody>
      </p:sp>
      <p:sp>
        <p:nvSpPr>
          <p:cNvPr id="7" name="AutoShape 7"/>
          <p:cNvSpPr/>
          <p:nvPr/>
        </p:nvSpPr>
        <p:spPr>
          <a:xfrm>
            <a:off x="4445000" y="1778000"/>
            <a:ext cx="3302000" cy="2413000"/>
          </a:xfrm>
          <a:prstGeom prst="roundRect">
            <a:avLst>
              <a:gd name="adj" fmla="val 8421"/>
            </a:avLst>
          </a:prstGeom>
          <a:solidFill>
            <a:srgbClr val="FFFFFF">
              <a:alpha val="100000"/>
            </a:srgbClr>
          </a:solidFill>
          <a:ln w="25400" cap="flat" cmpd="sng">
            <a:noFill/>
            <a:prstDash val="solid"/>
            <a:round/>
          </a:ln>
          <a:effectLst>
            <a:outerShdw blurRad="190500" dist="50800" dir="5400000" algn="tl" rotWithShape="0">
              <a:srgbClr val="165DFF">
                <a:alpha val="12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91200" y="2032000"/>
            <a:ext cx="609600" cy="609600"/>
          </a:xfrm>
          <a:prstGeom prst="rect">
            <a:avLst/>
          </a:prstGeom>
        </p:spPr>
      </p:pic>
      <p:sp>
        <p:nvSpPr>
          <p:cNvPr id="9" name="AutoShape 9"/>
          <p:cNvSpPr/>
          <p:nvPr/>
        </p:nvSpPr>
        <p:spPr>
          <a:xfrm>
            <a:off x="4445000" y="27940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329"/>
                </a:solidFill>
                <a:latin typeface="微软雅黑"/>
                <a:ea typeface="微软雅黑"/>
                <a:cs typeface="微软雅黑"/>
                <a:sym typeface="微软雅黑"/>
              </a:rPr>
              <a:t>技术护航</a:t>
            </a:r>
            <a:endParaRPr lang="en-US" sz="1100"/>
          </a:p>
        </p:txBody>
      </p:sp>
      <p:sp>
        <p:nvSpPr>
          <p:cNvPr id="10" name="AutoShape 10"/>
          <p:cNvSpPr/>
          <p:nvPr/>
        </p:nvSpPr>
        <p:spPr>
          <a:xfrm>
            <a:off x="4699000" y="3365500"/>
            <a:ext cx="2794000" cy="762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200" b="0" i="0" u="none" strike="noStrike">
                <a:solidFill>
                  <a:srgbClr val="646A73"/>
                </a:solidFill>
                <a:latin typeface="微软雅黑"/>
                <a:ea typeface="微软雅黑"/>
                <a:cs typeface="微软雅黑"/>
                <a:sym typeface="微软雅黑"/>
              </a:rPr>
              <a:t>感谢企业导师在项目实施中提供的</a:t>
            </a:r>
            <a:br>
              <a:rPr lang="en-US" sz="1200" b="0" i="0" u="none" strike="noStrike">
                <a:solidFill>
                  <a:srgbClr val="646A73"/>
                </a:solidFill>
                <a:latin typeface="微软雅黑"/>
                <a:ea typeface="微软雅黑"/>
                <a:cs typeface="微软雅黑"/>
                <a:sym typeface="微软雅黑"/>
              </a:rPr>
            </a:br>
            <a:r>
              <a:rPr lang="en-US" sz="1200" b="0" i="0" u="none" strike="noStrike">
                <a:solidFill>
                  <a:srgbClr val="646A73"/>
                </a:solidFill>
                <a:latin typeface="微软雅黑"/>
                <a:ea typeface="微软雅黑"/>
                <a:cs typeface="微软雅黑"/>
                <a:sym typeface="微软雅黑"/>
              </a:rPr>
              <a:t>关键技术支持与宝贵实践建议</a:t>
            </a:r>
            <a:endParaRPr lang="en-US" sz="1100"/>
          </a:p>
        </p:txBody>
      </p:sp>
      <p:sp>
        <p:nvSpPr>
          <p:cNvPr id="11" name="AutoShape 11"/>
          <p:cNvSpPr/>
          <p:nvPr/>
        </p:nvSpPr>
        <p:spPr>
          <a:xfrm>
            <a:off x="8128000" y="1778000"/>
            <a:ext cx="3302000" cy="2413000"/>
          </a:xfrm>
          <a:prstGeom prst="roundRect">
            <a:avLst>
              <a:gd name="adj" fmla="val 8421"/>
            </a:avLst>
          </a:prstGeom>
          <a:solidFill>
            <a:srgbClr val="FFFFFF">
              <a:alpha val="100000"/>
            </a:srgbClr>
          </a:solidFill>
          <a:ln w="25400" cap="flat" cmpd="sng">
            <a:noFill/>
            <a:prstDash val="solid"/>
            <a:round/>
          </a:ln>
          <a:effectLst>
            <a:outerShdw blurRad="190500" dist="50800" dir="5400000" algn="tl" rotWithShape="0">
              <a:srgbClr val="165DFF">
                <a:alpha val="12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74200" y="2032000"/>
            <a:ext cx="609600" cy="609600"/>
          </a:xfrm>
          <a:prstGeom prst="rect">
            <a:avLst/>
          </a:prstGeom>
        </p:spPr>
      </p:pic>
      <p:sp>
        <p:nvSpPr>
          <p:cNvPr id="13" name="AutoShape 13"/>
          <p:cNvSpPr/>
          <p:nvPr/>
        </p:nvSpPr>
        <p:spPr>
          <a:xfrm>
            <a:off x="8128000" y="27940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329"/>
                </a:solidFill>
                <a:latin typeface="微软雅黑"/>
                <a:ea typeface="微软雅黑"/>
                <a:cs typeface="微软雅黑"/>
                <a:sym typeface="微软雅黑"/>
              </a:rPr>
              <a:t>专家指正</a:t>
            </a:r>
            <a:endParaRPr lang="en-US" sz="1100"/>
          </a:p>
        </p:txBody>
      </p:sp>
      <p:sp>
        <p:nvSpPr>
          <p:cNvPr id="14" name="AutoShape 14"/>
          <p:cNvSpPr/>
          <p:nvPr/>
        </p:nvSpPr>
        <p:spPr>
          <a:xfrm>
            <a:off x="8382000" y="3365500"/>
            <a:ext cx="2794000" cy="762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200" b="0" i="0" u="none" strike="noStrike">
                <a:solidFill>
                  <a:srgbClr val="646A73"/>
                </a:solidFill>
                <a:latin typeface="微软雅黑"/>
                <a:ea typeface="微软雅黑"/>
                <a:cs typeface="微软雅黑"/>
                <a:sym typeface="微软雅黑"/>
              </a:rPr>
              <a:t>感谢各位评委老师百忙之中莅临</a:t>
            </a:r>
            <a:br>
              <a:rPr lang="en-US" sz="1200" b="0" i="0" u="none" strike="noStrike">
                <a:solidFill>
                  <a:srgbClr val="646A73"/>
                </a:solidFill>
                <a:latin typeface="微软雅黑"/>
                <a:ea typeface="微软雅黑"/>
                <a:cs typeface="微软雅黑"/>
                <a:sym typeface="微软雅黑"/>
              </a:rPr>
            </a:br>
            <a:r>
              <a:rPr lang="en-US" sz="1200" b="0" i="0" u="none" strike="noStrike">
                <a:solidFill>
                  <a:srgbClr val="646A73"/>
                </a:solidFill>
                <a:latin typeface="微软雅黑"/>
                <a:ea typeface="微软雅黑"/>
                <a:cs typeface="微软雅黑"/>
                <a:sym typeface="微软雅黑"/>
              </a:rPr>
              <a:t>聆听汇报并提出专业的修改意见</a:t>
            </a:r>
            <a:endParaRPr lang="en-US" sz="1100"/>
          </a:p>
        </p:txBody>
      </p:sp>
      <p:sp>
        <p:nvSpPr>
          <p:cNvPr id="15" name="AutoShape 15"/>
          <p:cNvSpPr/>
          <p:nvPr/>
        </p:nvSpPr>
        <p:spPr>
          <a:xfrm>
            <a:off x="0" y="4953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333333"/>
                </a:solidFill>
                <a:latin typeface="微软雅黑"/>
                <a:ea typeface="微软雅黑"/>
                <a:cs typeface="微软雅黑"/>
                <a:sym typeface="微软雅黑"/>
              </a:rPr>
              <a:t>汇报人：黄增祥</a:t>
            </a:r>
            <a:endParaRPr lang="en-US" sz="1100"/>
          </a:p>
        </p:txBody>
      </p:sp>
      <p:sp>
        <p:nvSpPr>
          <p:cNvPr id="16" name="AutoShape 16"/>
          <p:cNvSpPr/>
          <p:nvPr/>
        </p:nvSpPr>
        <p:spPr>
          <a:xfrm>
            <a:off x="0" y="55245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888888"/>
                </a:solidFill>
                <a:latin typeface="微软雅黑"/>
                <a:ea typeface="微软雅黑"/>
                <a:cs typeface="微软雅黑"/>
                <a:sym typeface="微软雅黑"/>
              </a:rPr>
              <a:t>2026.04.22</a:t>
            </a:r>
            <a:endParaRPr lang="en-US" sz="1100"/>
          </a:p>
        </p:txBody>
      </p:sp>
      <p:pic>
        <p:nvPicPr>
          <p:cNvPr id="17" name="Picture 17"/>
          <p:cNvPicPr>
            <a:picLocks noChangeAspect="1"/>
          </p:cNvPicPr>
          <p:nvPr/>
        </p:nvPicPr>
        <p:blipFill>
          <a:blip r:embed="rId6"/>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917</Words>
  <Application>Microsoft Office PowerPoint</Application>
  <PresentationFormat>宽屏</PresentationFormat>
  <Paragraphs>191</Paragraphs>
  <Slides>12</Slides>
  <Notes>12</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12</vt:i4>
      </vt:variant>
    </vt:vector>
  </HeadingPairs>
  <TitlesOfParts>
    <vt:vector size="17" baseType="lpstr">
      <vt:lpstr>微软雅黑</vt:lpstr>
      <vt:lpstr>Arial</vt:lpstr>
      <vt:lpstr>Consolas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zengxiang huang</dc:creator>
  <cp:lastModifiedBy>zengxiang huang</cp:lastModifiedBy>
  <cp:revision>1</cp:revision>
  <dcterms:modified xsi:type="dcterms:W3CDTF">2026-04-20T00:47:57Z</dcterms:modified>
</cp:coreProperties>
</file>