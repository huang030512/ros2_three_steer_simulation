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346" r:id="rId2"/>
    <p:sldId id="16768878" r:id="rId3"/>
    <p:sldId id="16768877" r:id="rId4"/>
    <p:sldId id="16768879" r:id="rId5"/>
    <p:sldId id="16602507" r:id="rId6"/>
    <p:sldId id="16768881" r:id="rId7"/>
    <p:sldId id="16768880" r:id="rId8"/>
    <p:sldId id="265" r:id="rId9"/>
    <p:sldId id="16768883" r:id="rId10"/>
    <p:sldId id="16768884" r:id="rId11"/>
    <p:sldId id="16768885" r:id="rId12"/>
  </p:sldIdLst>
  <p:sldSz cx="18288000" cy="10287000"/>
  <p:notesSz cx="6858000" cy="9144000"/>
  <p:embeddedFontLst>
    <p:embeddedFont>
      <p:font typeface="思源宋体 CN Medium" panose="02010600030101010101" charset="-122"/>
      <p:regular r:id="rId14"/>
    </p:embeddedFont>
    <p:embeddedFont>
      <p:font typeface="等线" panose="02010600030101010101" pitchFamily="2" charset="-122"/>
      <p:regular r:id="rId15"/>
      <p:bold r:id="rId16"/>
    </p:embeddedFont>
    <p:embeddedFont>
      <p:font typeface="微软雅黑" panose="020B0503020204020204" pitchFamily="34" charset="-122"/>
      <p:regular r:id="rId17"/>
      <p:bold r:id="rId18"/>
    </p:embeddedFont>
  </p:embeddedFontLst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220" autoAdjust="0"/>
  </p:normalViewPr>
  <p:slideViewPr>
    <p:cSldViewPr>
      <p:cViewPr>
        <p:scale>
          <a:sx n="75" d="100"/>
          <a:sy n="75" d="100"/>
        </p:scale>
        <p:origin x="47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82AEE-3CB5-4FA6-87C0-29AD08406F69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51750-56FB-4D3B-9B04-EF1C4F6A1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50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18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3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874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16C9B7-F7DA-5F1A-E1DC-9F4796A3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48AA-F531-4641-8E7B-4B2D7D97DE14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537D59-6FF8-CBFF-BA9D-8ED935AA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B0D67-24C7-1A6E-6DB8-3009AA50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B85B-0492-46EC-85E8-2FEC0FE861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845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pos="7265">
          <p15:clr>
            <a:srgbClr val="FBAE40"/>
          </p15:clr>
        </p15:guide>
        <p15:guide id="6" orient="horz" pos="3861">
          <p15:clr>
            <a:srgbClr val="FBAE40"/>
          </p15:clr>
        </p15:guide>
        <p15:guide id="7" orient="horz" pos="3929">
          <p15:clr>
            <a:srgbClr val="FBAE40"/>
          </p15:clr>
        </p15:guide>
        <p15:guide id="8" pos="4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90600" y="192881"/>
            <a:ext cx="16287750" cy="13501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94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C6079C-6EA9-D201-0346-0C501722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D68F5-7F10-49C4-BFCB-8EE430654F52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D8905F-98DA-3BFF-376B-0BEA9BFA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FA93CF-156A-898D-767F-F3542D02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7563-B1E9-4D30-9604-67F655C407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413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7265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orient="horz" pos="3929">
          <p15:clr>
            <a:srgbClr val="FBAE40"/>
          </p15:clr>
        </p15:guide>
        <p15:guide id="8" orient="horz" pos="38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196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490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47CD-035B-44D7-A407-58182F2FF4C4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C2C98-909A-4F44-A6B0-C0D338BFBA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197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6DE12-646F-4D47-A7DC-0A1D61F665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67B8-09CB-4E1D-8382-869FED8A83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1760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97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未来坊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286000" y="1984444"/>
            <a:ext cx="13716000" cy="3280502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9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403057"/>
            <a:ext cx="13716000" cy="2483643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1357517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683-CDA7-4A26-98F7-747B91C41EC5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47D9-1E1E-447A-96C1-F34692167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45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1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415E5A74-C751-C7D6-C748-DC976415B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77" b="31377"/>
          <a:stretch/>
        </p:blipFill>
        <p:spPr>
          <a:xfrm>
            <a:off x="0" y="6470243"/>
            <a:ext cx="18288000" cy="38178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8E67DFA-8C1F-9B14-7A50-A3818FB86CE0}"/>
              </a:ext>
            </a:extLst>
          </p:cNvPr>
          <p:cNvSpPr/>
          <p:nvPr/>
        </p:nvSpPr>
        <p:spPr>
          <a:xfrm>
            <a:off x="0" y="6470243"/>
            <a:ext cx="18288000" cy="381571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1371600">
              <a:defRPr/>
            </a:pPr>
            <a:endParaRPr lang="zh-CN" altLang="en-US" sz="27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DE17D8-0C61-EF20-14E3-E65916E1A68F}"/>
              </a:ext>
            </a:extLst>
          </p:cNvPr>
          <p:cNvSpPr/>
          <p:nvPr/>
        </p:nvSpPr>
        <p:spPr>
          <a:xfrm>
            <a:off x="1042988" y="996554"/>
            <a:ext cx="16202025" cy="8293893"/>
          </a:xfrm>
          <a:prstGeom prst="roundRect">
            <a:avLst>
              <a:gd name="adj" fmla="val 7202"/>
            </a:avLst>
          </a:prstGeom>
          <a:solidFill>
            <a:schemeClr val="bg1"/>
          </a:solidFill>
          <a:ln w="6350">
            <a:solidFill>
              <a:schemeClr val="accent1"/>
            </a:solidFill>
          </a:ln>
          <a:effectLst>
            <a:outerShdw blurRad="254000" dist="25400" dir="2700000" algn="tl" rotWithShape="0">
              <a:schemeClr val="accent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>
              <a:defRPr/>
            </a:pPr>
            <a:endParaRPr lang="zh-CN" altLang="en-US" sz="27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1D1FB7-1A5F-110C-6CE4-E3011F79C053}"/>
              </a:ext>
            </a:extLst>
          </p:cNvPr>
          <p:cNvSpPr txBox="1"/>
          <p:nvPr/>
        </p:nvSpPr>
        <p:spPr>
          <a:xfrm>
            <a:off x="3814763" y="3619500"/>
            <a:ext cx="106584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>
              <a:defRPr/>
            </a:pPr>
            <a:r>
              <a:rPr lang="zh-CN" altLang="en-US" sz="8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毕业设计中期答辩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AB2E68-89CD-9EA5-BC5D-FD89AB28679A}"/>
              </a:ext>
            </a:extLst>
          </p:cNvPr>
          <p:cNvSpPr txBox="1"/>
          <p:nvPr/>
        </p:nvSpPr>
        <p:spPr>
          <a:xfrm>
            <a:off x="0" y="5492723"/>
            <a:ext cx="1828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600">
              <a:defRPr/>
            </a:pPr>
            <a:r>
              <a:rPr lang="zh-CN" altLang="en-US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机器人移动底盘的全向运动控制方法研究与实现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6638A4C-3073-5C03-AA4C-4FFF4CA3136E}"/>
              </a:ext>
            </a:extLst>
          </p:cNvPr>
          <p:cNvGrpSpPr/>
          <p:nvPr/>
        </p:nvGrpSpPr>
        <p:grpSpPr>
          <a:xfrm>
            <a:off x="5348288" y="7951470"/>
            <a:ext cx="7591425" cy="634365"/>
            <a:chOff x="6368" y="8156"/>
            <a:chExt cx="7970" cy="666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80780D3-9F1A-E6BC-B040-D03CFCE248C8}"/>
                </a:ext>
              </a:extLst>
            </p:cNvPr>
            <p:cNvSpPr txBox="1"/>
            <p:nvPr/>
          </p:nvSpPr>
          <p:spPr>
            <a:xfrm>
              <a:off x="6368" y="8156"/>
              <a:ext cx="3969" cy="666"/>
            </a:xfrm>
            <a:prstGeom prst="rect">
              <a:avLst/>
            </a:prstGeom>
            <a:noFill/>
            <a:effectLst/>
          </p:spPr>
          <p:txBody>
            <a:bodyPr wrap="square" lIns="171450" tIns="85725" rIns="171450" bIns="85725" rtlCol="0">
              <a:spAutoFit/>
            </a:bodyPr>
            <a:lstStyle/>
            <a:p>
              <a:pPr defTabSz="1371600">
                <a:defRPr/>
              </a:pPr>
              <a:r>
                <a:rPr lang="zh-CN" altLang="en-US" sz="3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汇报人</a:t>
              </a:r>
              <a:r>
                <a:rPr lang="zh-CN" altLang="en-US" sz="3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：黄增祥</a:t>
              </a:r>
              <a:endParaRPr lang="en-US" altLang="zh-CN" sz="3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E5655F7-B4A7-5ED7-72D8-2D3DF2C49C0F}"/>
                </a:ext>
              </a:extLst>
            </p:cNvPr>
            <p:cNvSpPr txBox="1"/>
            <p:nvPr/>
          </p:nvSpPr>
          <p:spPr>
            <a:xfrm>
              <a:off x="10564" y="8156"/>
              <a:ext cx="3774" cy="666"/>
            </a:xfrm>
            <a:prstGeom prst="rect">
              <a:avLst/>
            </a:prstGeom>
            <a:noFill/>
            <a:effectLst/>
          </p:spPr>
          <p:txBody>
            <a:bodyPr wrap="square" lIns="171450" tIns="85725" rIns="171450" bIns="85725" rtlCol="0">
              <a:spAutoFit/>
            </a:bodyPr>
            <a:lstStyle/>
            <a:p>
              <a:pPr defTabSz="1371600">
                <a:defRPr/>
              </a:pPr>
              <a:r>
                <a:rPr lang="zh-CN" altLang="en-US" sz="3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时间</a:t>
              </a:r>
              <a:r>
                <a:rPr lang="zh-CN" altLang="en-US" sz="3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：</a:t>
              </a:r>
              <a:r>
                <a:rPr lang="en-US" altLang="zh-CN" sz="30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2026.04.24</a:t>
              </a:r>
            </a:p>
          </p:txBody>
        </p: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7EA7FA9-5147-ADC7-F038-91CD6153F624}"/>
              </a:ext>
            </a:extLst>
          </p:cNvPr>
          <p:cNvCxnSpPr>
            <a:cxnSpLocks/>
          </p:cNvCxnSpPr>
          <p:nvPr/>
        </p:nvCxnSpPr>
        <p:spPr>
          <a:xfrm>
            <a:off x="4442460" y="3444240"/>
            <a:ext cx="94030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E39766C-E588-9F0D-0475-0FCD295ED494}"/>
              </a:ext>
            </a:extLst>
          </p:cNvPr>
          <p:cNvCxnSpPr>
            <a:cxnSpLocks/>
          </p:cNvCxnSpPr>
          <p:nvPr/>
        </p:nvCxnSpPr>
        <p:spPr>
          <a:xfrm>
            <a:off x="4442460" y="5257800"/>
            <a:ext cx="94030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F8E4E37-C4BD-A057-02B9-343DB24F1606}"/>
              </a:ext>
            </a:extLst>
          </p:cNvPr>
          <p:cNvGrpSpPr/>
          <p:nvPr/>
        </p:nvGrpSpPr>
        <p:grpSpPr>
          <a:xfrm>
            <a:off x="1161904" y="7318025"/>
            <a:ext cx="2652860" cy="1646786"/>
            <a:chOff x="5399970" y="6921288"/>
            <a:chExt cx="1768573" cy="1097857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105651FE-3DAF-8092-A7EF-9561B4DE9403}"/>
                </a:ext>
              </a:extLst>
            </p:cNvPr>
            <p:cNvGrpSpPr/>
            <p:nvPr/>
          </p:nvGrpSpPr>
          <p:grpSpPr>
            <a:xfrm>
              <a:off x="5399970" y="7665140"/>
              <a:ext cx="1768573" cy="354005"/>
              <a:chOff x="5399970" y="7705815"/>
              <a:chExt cx="1768573" cy="354005"/>
            </a:xfrm>
          </p:grpSpPr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0FBE386E-97D3-8532-B26E-6EEAAE78461A}"/>
                  </a:ext>
                </a:extLst>
              </p:cNvPr>
              <p:cNvSpPr/>
              <p:nvPr/>
            </p:nvSpPr>
            <p:spPr>
              <a:xfrm>
                <a:off x="5399970" y="7705815"/>
                <a:ext cx="160290" cy="155962"/>
              </a:xfrm>
              <a:custGeom>
                <a:avLst/>
                <a:gdLst>
                  <a:gd name="connsiteX0" fmla="*/ 177685 w 177855"/>
                  <a:gd name="connsiteY0" fmla="*/ 86392 h 173053"/>
                  <a:gd name="connsiteX1" fmla="*/ -146 w 177855"/>
                  <a:gd name="connsiteY1" fmla="*/ 86392 h 173053"/>
                  <a:gd name="connsiteX2" fmla="*/ 177685 w 177855"/>
                  <a:gd name="connsiteY2" fmla="*/ 86392 h 173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7855" h="173053">
                    <a:moveTo>
                      <a:pt x="177685" y="86392"/>
                    </a:moveTo>
                    <a:cubicBezTo>
                      <a:pt x="179371" y="201759"/>
                      <a:pt x="-1851" y="201768"/>
                      <a:pt x="-146" y="86392"/>
                    </a:cubicBezTo>
                    <a:cubicBezTo>
                      <a:pt x="-1832" y="-28975"/>
                      <a:pt x="179381" y="-28975"/>
                      <a:pt x="177685" y="86392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403E2BDA-50C7-8827-88D9-B8E1AF31C1A7}"/>
                  </a:ext>
                </a:extLst>
              </p:cNvPr>
              <p:cNvSpPr/>
              <p:nvPr/>
            </p:nvSpPr>
            <p:spPr>
              <a:xfrm>
                <a:off x="5400048" y="7919234"/>
                <a:ext cx="1768495" cy="36000"/>
              </a:xfrm>
              <a:custGeom>
                <a:avLst/>
                <a:gdLst>
                  <a:gd name="connsiteX0" fmla="*/ 1742583 w 1768495"/>
                  <a:gd name="connsiteY0" fmla="*/ -129 h 52872"/>
                  <a:gd name="connsiteX1" fmla="*/ 26273 w 1768495"/>
                  <a:gd name="connsiteY1" fmla="*/ -129 h 52872"/>
                  <a:gd name="connsiteX2" fmla="*/ -158 w 1768495"/>
                  <a:gd name="connsiteY2" fmla="*/ 26303 h 52872"/>
                  <a:gd name="connsiteX3" fmla="*/ 26273 w 1768495"/>
                  <a:gd name="connsiteY3" fmla="*/ 52735 h 52872"/>
                  <a:gd name="connsiteX4" fmla="*/ 1742583 w 1768495"/>
                  <a:gd name="connsiteY4" fmla="*/ 52735 h 52872"/>
                  <a:gd name="connsiteX5" fmla="*/ 1742583 w 1768495"/>
                  <a:gd name="connsiteY5" fmla="*/ -129 h 52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8495" h="52872">
                    <a:moveTo>
                      <a:pt x="1742583" y="-129"/>
                    </a:moveTo>
                    <a:lnTo>
                      <a:pt x="26273" y="-129"/>
                    </a:lnTo>
                    <a:cubicBezTo>
                      <a:pt x="11672" y="-129"/>
                      <a:pt x="-158" y="11701"/>
                      <a:pt x="-158" y="26303"/>
                    </a:cubicBezTo>
                    <a:cubicBezTo>
                      <a:pt x="-158" y="40905"/>
                      <a:pt x="11672" y="52735"/>
                      <a:pt x="26273" y="52735"/>
                    </a:cubicBezTo>
                    <a:lnTo>
                      <a:pt x="1742583" y="52735"/>
                    </a:lnTo>
                    <a:cubicBezTo>
                      <a:pt x="1777350" y="53306"/>
                      <a:pt x="1776492" y="-700"/>
                      <a:pt x="1742583" y="-129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A1260368-B074-45D8-E9CD-93A59DA661AE}"/>
                  </a:ext>
                </a:extLst>
              </p:cNvPr>
              <p:cNvSpPr/>
              <p:nvPr/>
            </p:nvSpPr>
            <p:spPr>
              <a:xfrm>
                <a:off x="5400000" y="8023820"/>
                <a:ext cx="1158335" cy="36000"/>
              </a:xfrm>
              <a:custGeom>
                <a:avLst/>
                <a:gdLst>
                  <a:gd name="connsiteX0" fmla="*/ 1132459 w 1158335"/>
                  <a:gd name="connsiteY0" fmla="*/ -130 h 52965"/>
                  <a:gd name="connsiteX1" fmla="*/ 26321 w 1158335"/>
                  <a:gd name="connsiteY1" fmla="*/ -130 h 52965"/>
                  <a:gd name="connsiteX2" fmla="*/ -158 w 1158335"/>
                  <a:gd name="connsiteY2" fmla="*/ 26349 h 52965"/>
                  <a:gd name="connsiteX3" fmla="*/ 26321 w 1158335"/>
                  <a:gd name="connsiteY3" fmla="*/ 52829 h 52965"/>
                  <a:gd name="connsiteX4" fmla="*/ 1132459 w 1158335"/>
                  <a:gd name="connsiteY4" fmla="*/ 52829 h 52965"/>
                  <a:gd name="connsiteX5" fmla="*/ 1132459 w 1158335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335" h="52965">
                    <a:moveTo>
                      <a:pt x="1132459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8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132459" y="52829"/>
                    </a:lnTo>
                    <a:cubicBezTo>
                      <a:pt x="1167035" y="53305"/>
                      <a:pt x="1166464" y="-607"/>
                      <a:pt x="1132459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10E8E05-A3DB-9EEB-C2D6-116BB580AACD}"/>
                </a:ext>
              </a:extLst>
            </p:cNvPr>
            <p:cNvGrpSpPr/>
            <p:nvPr/>
          </p:nvGrpSpPr>
          <p:grpSpPr>
            <a:xfrm>
              <a:off x="5399985" y="6921288"/>
              <a:ext cx="1768543" cy="462447"/>
              <a:chOff x="5400000" y="6921288"/>
              <a:chExt cx="1768543" cy="462447"/>
            </a:xfrm>
          </p:grpSpPr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866D8B0C-49B3-ED95-6EDB-2779F2E2BB77}"/>
                  </a:ext>
                </a:extLst>
              </p:cNvPr>
              <p:cNvSpPr/>
              <p:nvPr/>
            </p:nvSpPr>
            <p:spPr>
              <a:xfrm>
                <a:off x="5400000" y="7133422"/>
                <a:ext cx="1768543" cy="36000"/>
              </a:xfrm>
              <a:custGeom>
                <a:avLst/>
                <a:gdLst>
                  <a:gd name="connsiteX0" fmla="*/ 1742631 w 1768543"/>
                  <a:gd name="connsiteY0" fmla="*/ -130 h 52965"/>
                  <a:gd name="connsiteX1" fmla="*/ 26321 w 1768543"/>
                  <a:gd name="connsiteY1" fmla="*/ -130 h 52965"/>
                  <a:gd name="connsiteX2" fmla="*/ -158 w 1768543"/>
                  <a:gd name="connsiteY2" fmla="*/ 26349 h 52965"/>
                  <a:gd name="connsiteX3" fmla="*/ 26321 w 1768543"/>
                  <a:gd name="connsiteY3" fmla="*/ 52829 h 52965"/>
                  <a:gd name="connsiteX4" fmla="*/ 1742631 w 1768543"/>
                  <a:gd name="connsiteY4" fmla="*/ 52829 h 52965"/>
                  <a:gd name="connsiteX5" fmla="*/ 1742631 w 1768543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8543" h="52965">
                    <a:moveTo>
                      <a:pt x="1742631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8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742631" y="52829"/>
                    </a:lnTo>
                    <a:cubicBezTo>
                      <a:pt x="1777397" y="53305"/>
                      <a:pt x="1776540" y="-606"/>
                      <a:pt x="1742631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66CFE459-E57A-D958-CAE2-D279E9B1ACDD}"/>
                  </a:ext>
                </a:extLst>
              </p:cNvPr>
              <p:cNvSpPr/>
              <p:nvPr/>
            </p:nvSpPr>
            <p:spPr>
              <a:xfrm>
                <a:off x="5400000" y="7238102"/>
                <a:ext cx="1158335" cy="36000"/>
              </a:xfrm>
              <a:custGeom>
                <a:avLst/>
                <a:gdLst>
                  <a:gd name="connsiteX0" fmla="*/ 1132459 w 1158335"/>
                  <a:gd name="connsiteY0" fmla="*/ -130 h 52965"/>
                  <a:gd name="connsiteX1" fmla="*/ 26321 w 1158335"/>
                  <a:gd name="connsiteY1" fmla="*/ -130 h 52965"/>
                  <a:gd name="connsiteX2" fmla="*/ -158 w 1158335"/>
                  <a:gd name="connsiteY2" fmla="*/ 26349 h 52965"/>
                  <a:gd name="connsiteX3" fmla="*/ 26321 w 1158335"/>
                  <a:gd name="connsiteY3" fmla="*/ 52829 h 52965"/>
                  <a:gd name="connsiteX4" fmla="*/ 1132459 w 1158335"/>
                  <a:gd name="connsiteY4" fmla="*/ 52829 h 52965"/>
                  <a:gd name="connsiteX5" fmla="*/ 1132459 w 1158335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335" h="52965">
                    <a:moveTo>
                      <a:pt x="1132459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9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132459" y="52829"/>
                    </a:lnTo>
                    <a:cubicBezTo>
                      <a:pt x="1167035" y="53305"/>
                      <a:pt x="1166464" y="-606"/>
                      <a:pt x="1132459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8D8BDF1C-501F-DFEE-F5DD-436DE6AFE058}"/>
                  </a:ext>
                </a:extLst>
              </p:cNvPr>
              <p:cNvSpPr/>
              <p:nvPr/>
            </p:nvSpPr>
            <p:spPr>
              <a:xfrm>
                <a:off x="5400000" y="7347735"/>
                <a:ext cx="1158335" cy="36000"/>
              </a:xfrm>
              <a:custGeom>
                <a:avLst/>
                <a:gdLst>
                  <a:gd name="connsiteX0" fmla="*/ 1132459 w 1158335"/>
                  <a:gd name="connsiteY0" fmla="*/ -130 h 52965"/>
                  <a:gd name="connsiteX1" fmla="*/ 26321 w 1158335"/>
                  <a:gd name="connsiteY1" fmla="*/ -130 h 52965"/>
                  <a:gd name="connsiteX2" fmla="*/ -158 w 1158335"/>
                  <a:gd name="connsiteY2" fmla="*/ 26349 h 52965"/>
                  <a:gd name="connsiteX3" fmla="*/ 26321 w 1158335"/>
                  <a:gd name="connsiteY3" fmla="*/ 52829 h 52965"/>
                  <a:gd name="connsiteX4" fmla="*/ 1132459 w 1158335"/>
                  <a:gd name="connsiteY4" fmla="*/ 52829 h 52965"/>
                  <a:gd name="connsiteX5" fmla="*/ 1132459 w 1158335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335" h="52965">
                    <a:moveTo>
                      <a:pt x="1132459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8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132459" y="52829"/>
                    </a:lnTo>
                    <a:cubicBezTo>
                      <a:pt x="1167035" y="53305"/>
                      <a:pt x="1166464" y="-607"/>
                      <a:pt x="1132459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F922ADE8-14C8-30FF-89BC-43F7179B17DA}"/>
                  </a:ext>
                </a:extLst>
              </p:cNvPr>
              <p:cNvSpPr/>
              <p:nvPr/>
            </p:nvSpPr>
            <p:spPr>
              <a:xfrm>
                <a:off x="5401163" y="6921288"/>
                <a:ext cx="159097" cy="154794"/>
              </a:xfrm>
              <a:custGeom>
                <a:avLst/>
                <a:gdLst>
                  <a:gd name="connsiteX0" fmla="*/ 176362 w 176531"/>
                  <a:gd name="connsiteY0" fmla="*/ 85750 h 171757"/>
                  <a:gd name="connsiteX1" fmla="*/ -146 w 176531"/>
                  <a:gd name="connsiteY1" fmla="*/ 85740 h 171757"/>
                  <a:gd name="connsiteX2" fmla="*/ 176362 w 176531"/>
                  <a:gd name="connsiteY2" fmla="*/ 85750 h 171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531" h="171757">
                    <a:moveTo>
                      <a:pt x="176362" y="85750"/>
                    </a:moveTo>
                    <a:cubicBezTo>
                      <a:pt x="178038" y="200250"/>
                      <a:pt x="-1832" y="200250"/>
                      <a:pt x="-146" y="85740"/>
                    </a:cubicBezTo>
                    <a:cubicBezTo>
                      <a:pt x="-1814" y="-28760"/>
                      <a:pt x="178047" y="-28760"/>
                      <a:pt x="176362" y="8575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D7F6982-7A73-5662-5B92-F3F2C0E58202}"/>
              </a:ext>
            </a:extLst>
          </p:cNvPr>
          <p:cNvGrpSpPr/>
          <p:nvPr/>
        </p:nvGrpSpPr>
        <p:grpSpPr>
          <a:xfrm flipH="1">
            <a:off x="14468207" y="1263221"/>
            <a:ext cx="2652860" cy="1646786"/>
            <a:chOff x="5399970" y="6921288"/>
            <a:chExt cx="1768573" cy="1097857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6AF7E11E-0973-31B1-767D-16C521028949}"/>
                </a:ext>
              </a:extLst>
            </p:cNvPr>
            <p:cNvGrpSpPr/>
            <p:nvPr/>
          </p:nvGrpSpPr>
          <p:grpSpPr>
            <a:xfrm>
              <a:off x="5399970" y="7665140"/>
              <a:ext cx="1768573" cy="354005"/>
              <a:chOff x="5399970" y="7705815"/>
              <a:chExt cx="1768573" cy="354005"/>
            </a:xfrm>
          </p:grpSpPr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E8130F66-E98B-65C9-CC72-BB9CD04CF862}"/>
                  </a:ext>
                </a:extLst>
              </p:cNvPr>
              <p:cNvSpPr/>
              <p:nvPr/>
            </p:nvSpPr>
            <p:spPr>
              <a:xfrm>
                <a:off x="5399970" y="7705815"/>
                <a:ext cx="160290" cy="155962"/>
              </a:xfrm>
              <a:custGeom>
                <a:avLst/>
                <a:gdLst>
                  <a:gd name="connsiteX0" fmla="*/ 177685 w 177855"/>
                  <a:gd name="connsiteY0" fmla="*/ 86392 h 173053"/>
                  <a:gd name="connsiteX1" fmla="*/ -146 w 177855"/>
                  <a:gd name="connsiteY1" fmla="*/ 86392 h 173053"/>
                  <a:gd name="connsiteX2" fmla="*/ 177685 w 177855"/>
                  <a:gd name="connsiteY2" fmla="*/ 86392 h 173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7855" h="173053">
                    <a:moveTo>
                      <a:pt x="177685" y="86392"/>
                    </a:moveTo>
                    <a:cubicBezTo>
                      <a:pt x="179371" y="201759"/>
                      <a:pt x="-1851" y="201768"/>
                      <a:pt x="-146" y="86392"/>
                    </a:cubicBezTo>
                    <a:cubicBezTo>
                      <a:pt x="-1832" y="-28975"/>
                      <a:pt x="179381" y="-28975"/>
                      <a:pt x="177685" y="86392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95EA25B5-D3CF-57A0-09DB-92603E134797}"/>
                  </a:ext>
                </a:extLst>
              </p:cNvPr>
              <p:cNvSpPr/>
              <p:nvPr/>
            </p:nvSpPr>
            <p:spPr>
              <a:xfrm>
                <a:off x="5400048" y="7919234"/>
                <a:ext cx="1768495" cy="36000"/>
              </a:xfrm>
              <a:custGeom>
                <a:avLst/>
                <a:gdLst>
                  <a:gd name="connsiteX0" fmla="*/ 1742583 w 1768495"/>
                  <a:gd name="connsiteY0" fmla="*/ -129 h 52872"/>
                  <a:gd name="connsiteX1" fmla="*/ 26273 w 1768495"/>
                  <a:gd name="connsiteY1" fmla="*/ -129 h 52872"/>
                  <a:gd name="connsiteX2" fmla="*/ -158 w 1768495"/>
                  <a:gd name="connsiteY2" fmla="*/ 26303 h 52872"/>
                  <a:gd name="connsiteX3" fmla="*/ 26273 w 1768495"/>
                  <a:gd name="connsiteY3" fmla="*/ 52735 h 52872"/>
                  <a:gd name="connsiteX4" fmla="*/ 1742583 w 1768495"/>
                  <a:gd name="connsiteY4" fmla="*/ 52735 h 52872"/>
                  <a:gd name="connsiteX5" fmla="*/ 1742583 w 1768495"/>
                  <a:gd name="connsiteY5" fmla="*/ -129 h 52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8495" h="52872">
                    <a:moveTo>
                      <a:pt x="1742583" y="-129"/>
                    </a:moveTo>
                    <a:lnTo>
                      <a:pt x="26273" y="-129"/>
                    </a:lnTo>
                    <a:cubicBezTo>
                      <a:pt x="11672" y="-129"/>
                      <a:pt x="-158" y="11701"/>
                      <a:pt x="-158" y="26303"/>
                    </a:cubicBezTo>
                    <a:cubicBezTo>
                      <a:pt x="-158" y="40905"/>
                      <a:pt x="11672" y="52735"/>
                      <a:pt x="26273" y="52735"/>
                    </a:cubicBezTo>
                    <a:lnTo>
                      <a:pt x="1742583" y="52735"/>
                    </a:lnTo>
                    <a:cubicBezTo>
                      <a:pt x="1777350" y="53306"/>
                      <a:pt x="1776492" y="-700"/>
                      <a:pt x="1742583" y="-129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23406F87-84E4-3CD5-1A78-A163F1F89623}"/>
                  </a:ext>
                </a:extLst>
              </p:cNvPr>
              <p:cNvSpPr/>
              <p:nvPr/>
            </p:nvSpPr>
            <p:spPr>
              <a:xfrm>
                <a:off x="5400000" y="8023820"/>
                <a:ext cx="1158335" cy="36000"/>
              </a:xfrm>
              <a:custGeom>
                <a:avLst/>
                <a:gdLst>
                  <a:gd name="connsiteX0" fmla="*/ 1132459 w 1158335"/>
                  <a:gd name="connsiteY0" fmla="*/ -130 h 52965"/>
                  <a:gd name="connsiteX1" fmla="*/ 26321 w 1158335"/>
                  <a:gd name="connsiteY1" fmla="*/ -130 h 52965"/>
                  <a:gd name="connsiteX2" fmla="*/ -158 w 1158335"/>
                  <a:gd name="connsiteY2" fmla="*/ 26349 h 52965"/>
                  <a:gd name="connsiteX3" fmla="*/ 26321 w 1158335"/>
                  <a:gd name="connsiteY3" fmla="*/ 52829 h 52965"/>
                  <a:gd name="connsiteX4" fmla="*/ 1132459 w 1158335"/>
                  <a:gd name="connsiteY4" fmla="*/ 52829 h 52965"/>
                  <a:gd name="connsiteX5" fmla="*/ 1132459 w 1158335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335" h="52965">
                    <a:moveTo>
                      <a:pt x="1132459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8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132459" y="52829"/>
                    </a:lnTo>
                    <a:cubicBezTo>
                      <a:pt x="1167035" y="53305"/>
                      <a:pt x="1166464" y="-607"/>
                      <a:pt x="1132459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70F67244-5F20-0739-DD61-ED8B20C50F62}"/>
                </a:ext>
              </a:extLst>
            </p:cNvPr>
            <p:cNvGrpSpPr/>
            <p:nvPr/>
          </p:nvGrpSpPr>
          <p:grpSpPr>
            <a:xfrm>
              <a:off x="5399985" y="6921288"/>
              <a:ext cx="1768543" cy="462447"/>
              <a:chOff x="5400000" y="6921288"/>
              <a:chExt cx="1768543" cy="462447"/>
            </a:xfrm>
          </p:grpSpPr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A7D9FD40-1F3F-DFA7-4C5E-DC666F0C3CCB}"/>
                  </a:ext>
                </a:extLst>
              </p:cNvPr>
              <p:cNvSpPr/>
              <p:nvPr/>
            </p:nvSpPr>
            <p:spPr>
              <a:xfrm>
                <a:off x="5400000" y="7133422"/>
                <a:ext cx="1768543" cy="36000"/>
              </a:xfrm>
              <a:custGeom>
                <a:avLst/>
                <a:gdLst>
                  <a:gd name="connsiteX0" fmla="*/ 1742631 w 1768543"/>
                  <a:gd name="connsiteY0" fmla="*/ -130 h 52965"/>
                  <a:gd name="connsiteX1" fmla="*/ 26321 w 1768543"/>
                  <a:gd name="connsiteY1" fmla="*/ -130 h 52965"/>
                  <a:gd name="connsiteX2" fmla="*/ -158 w 1768543"/>
                  <a:gd name="connsiteY2" fmla="*/ 26349 h 52965"/>
                  <a:gd name="connsiteX3" fmla="*/ 26321 w 1768543"/>
                  <a:gd name="connsiteY3" fmla="*/ 52829 h 52965"/>
                  <a:gd name="connsiteX4" fmla="*/ 1742631 w 1768543"/>
                  <a:gd name="connsiteY4" fmla="*/ 52829 h 52965"/>
                  <a:gd name="connsiteX5" fmla="*/ 1742631 w 1768543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8543" h="52965">
                    <a:moveTo>
                      <a:pt x="1742631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8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742631" y="52829"/>
                    </a:lnTo>
                    <a:cubicBezTo>
                      <a:pt x="1777397" y="53305"/>
                      <a:pt x="1776540" y="-606"/>
                      <a:pt x="1742631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D5A1842F-A694-75CC-A383-D99EF95ECE4A}"/>
                  </a:ext>
                </a:extLst>
              </p:cNvPr>
              <p:cNvSpPr/>
              <p:nvPr/>
            </p:nvSpPr>
            <p:spPr>
              <a:xfrm>
                <a:off x="5400000" y="7238102"/>
                <a:ext cx="1158335" cy="36000"/>
              </a:xfrm>
              <a:custGeom>
                <a:avLst/>
                <a:gdLst>
                  <a:gd name="connsiteX0" fmla="*/ 1132459 w 1158335"/>
                  <a:gd name="connsiteY0" fmla="*/ -130 h 52965"/>
                  <a:gd name="connsiteX1" fmla="*/ 26321 w 1158335"/>
                  <a:gd name="connsiteY1" fmla="*/ -130 h 52965"/>
                  <a:gd name="connsiteX2" fmla="*/ -158 w 1158335"/>
                  <a:gd name="connsiteY2" fmla="*/ 26349 h 52965"/>
                  <a:gd name="connsiteX3" fmla="*/ 26321 w 1158335"/>
                  <a:gd name="connsiteY3" fmla="*/ 52829 h 52965"/>
                  <a:gd name="connsiteX4" fmla="*/ 1132459 w 1158335"/>
                  <a:gd name="connsiteY4" fmla="*/ 52829 h 52965"/>
                  <a:gd name="connsiteX5" fmla="*/ 1132459 w 1158335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335" h="52965">
                    <a:moveTo>
                      <a:pt x="1132459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9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132459" y="52829"/>
                    </a:lnTo>
                    <a:cubicBezTo>
                      <a:pt x="1167035" y="53305"/>
                      <a:pt x="1166464" y="-606"/>
                      <a:pt x="1132459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6F1655E7-223E-05A3-82E9-DF90DA8325EA}"/>
                  </a:ext>
                </a:extLst>
              </p:cNvPr>
              <p:cNvSpPr/>
              <p:nvPr/>
            </p:nvSpPr>
            <p:spPr>
              <a:xfrm>
                <a:off x="5400000" y="7347735"/>
                <a:ext cx="1158335" cy="36000"/>
              </a:xfrm>
              <a:custGeom>
                <a:avLst/>
                <a:gdLst>
                  <a:gd name="connsiteX0" fmla="*/ 1132459 w 1158335"/>
                  <a:gd name="connsiteY0" fmla="*/ -130 h 52965"/>
                  <a:gd name="connsiteX1" fmla="*/ 26321 w 1158335"/>
                  <a:gd name="connsiteY1" fmla="*/ -130 h 52965"/>
                  <a:gd name="connsiteX2" fmla="*/ -158 w 1158335"/>
                  <a:gd name="connsiteY2" fmla="*/ 26349 h 52965"/>
                  <a:gd name="connsiteX3" fmla="*/ 26321 w 1158335"/>
                  <a:gd name="connsiteY3" fmla="*/ 52829 h 52965"/>
                  <a:gd name="connsiteX4" fmla="*/ 1132459 w 1158335"/>
                  <a:gd name="connsiteY4" fmla="*/ 52829 h 52965"/>
                  <a:gd name="connsiteX5" fmla="*/ 1132459 w 1158335"/>
                  <a:gd name="connsiteY5" fmla="*/ -130 h 52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335" h="52965">
                    <a:moveTo>
                      <a:pt x="1132459" y="-130"/>
                    </a:moveTo>
                    <a:lnTo>
                      <a:pt x="26321" y="-130"/>
                    </a:lnTo>
                    <a:cubicBezTo>
                      <a:pt x="11700" y="-130"/>
                      <a:pt x="-158" y="11728"/>
                      <a:pt x="-158" y="26349"/>
                    </a:cubicBezTo>
                    <a:cubicBezTo>
                      <a:pt x="-158" y="40970"/>
                      <a:pt x="11700" y="52829"/>
                      <a:pt x="26321" y="52829"/>
                    </a:cubicBezTo>
                    <a:lnTo>
                      <a:pt x="1132459" y="52829"/>
                    </a:lnTo>
                    <a:cubicBezTo>
                      <a:pt x="1167035" y="53305"/>
                      <a:pt x="1166464" y="-607"/>
                      <a:pt x="1132459" y="-13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1F4254EC-4EE9-F1BA-67F3-98A9AA76A9E7}"/>
                  </a:ext>
                </a:extLst>
              </p:cNvPr>
              <p:cNvSpPr/>
              <p:nvPr/>
            </p:nvSpPr>
            <p:spPr>
              <a:xfrm>
                <a:off x="5401163" y="6921288"/>
                <a:ext cx="159097" cy="154794"/>
              </a:xfrm>
              <a:custGeom>
                <a:avLst/>
                <a:gdLst>
                  <a:gd name="connsiteX0" fmla="*/ 176362 w 176531"/>
                  <a:gd name="connsiteY0" fmla="*/ 85750 h 171757"/>
                  <a:gd name="connsiteX1" fmla="*/ -146 w 176531"/>
                  <a:gd name="connsiteY1" fmla="*/ 85740 h 171757"/>
                  <a:gd name="connsiteX2" fmla="*/ 176362 w 176531"/>
                  <a:gd name="connsiteY2" fmla="*/ 85750 h 171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531" h="171757">
                    <a:moveTo>
                      <a:pt x="176362" y="85750"/>
                    </a:moveTo>
                    <a:cubicBezTo>
                      <a:pt x="178038" y="200250"/>
                      <a:pt x="-1832" y="200250"/>
                      <a:pt x="-146" y="85740"/>
                    </a:cubicBezTo>
                    <a:cubicBezTo>
                      <a:pt x="-1814" y="-28760"/>
                      <a:pt x="178047" y="-28760"/>
                      <a:pt x="176362" y="85750"/>
                    </a:cubicBezTo>
                    <a:close/>
                  </a:path>
                </a:pathLst>
              </a:custGeom>
              <a:solidFill>
                <a:schemeClr val="accent1">
                  <a:alpha val="23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00"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067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3" name="Rectangle 14"/>
          <p:cNvSpPr>
            <a:spLocks noChangeArrowheads="1"/>
          </p:cNvSpPr>
          <p:nvPr/>
        </p:nvSpPr>
        <p:spPr bwMode="auto">
          <a:xfrm>
            <a:off x="9471250" y="1155389"/>
            <a:ext cx="125156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Part 1</a:t>
            </a:r>
          </a:p>
        </p:txBody>
      </p:sp>
      <p:sp>
        <p:nvSpPr>
          <p:cNvPr id="21514" name="Rectangle 17"/>
          <p:cNvSpPr>
            <a:spLocks noChangeArrowheads="1"/>
          </p:cNvSpPr>
          <p:nvPr/>
        </p:nvSpPr>
        <p:spPr bwMode="auto">
          <a:xfrm>
            <a:off x="9471250" y="3002528"/>
            <a:ext cx="125156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Part 2</a:t>
            </a:r>
          </a:p>
        </p:txBody>
      </p:sp>
      <p:sp>
        <p:nvSpPr>
          <p:cNvPr id="21515" name="Rectangle 20"/>
          <p:cNvSpPr>
            <a:spLocks noChangeArrowheads="1"/>
          </p:cNvSpPr>
          <p:nvPr/>
        </p:nvSpPr>
        <p:spPr bwMode="auto">
          <a:xfrm>
            <a:off x="9471250" y="4849667"/>
            <a:ext cx="125156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Part 3</a:t>
            </a:r>
          </a:p>
        </p:txBody>
      </p:sp>
      <p:sp>
        <p:nvSpPr>
          <p:cNvPr id="21516" name="Rectangle 23"/>
          <p:cNvSpPr>
            <a:spLocks noChangeArrowheads="1"/>
          </p:cNvSpPr>
          <p:nvPr/>
        </p:nvSpPr>
        <p:spPr bwMode="auto">
          <a:xfrm>
            <a:off x="9471250" y="6696806"/>
            <a:ext cx="125156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Part 4</a:t>
            </a:r>
          </a:p>
        </p:txBody>
      </p:sp>
      <p:sp>
        <p:nvSpPr>
          <p:cNvPr id="21517" name="Rectangle 26"/>
          <p:cNvSpPr>
            <a:spLocks noChangeArrowheads="1"/>
          </p:cNvSpPr>
          <p:nvPr/>
        </p:nvSpPr>
        <p:spPr bwMode="auto">
          <a:xfrm>
            <a:off x="9471250" y="8543943"/>
            <a:ext cx="125156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Part 5</a:t>
            </a:r>
          </a:p>
        </p:txBody>
      </p:sp>
      <p:sp>
        <p:nvSpPr>
          <p:cNvPr id="9232" name="TextBox 58"/>
          <p:cNvSpPr txBox="1">
            <a:spLocks noChangeArrowheads="1"/>
          </p:cNvSpPr>
          <p:nvPr/>
        </p:nvSpPr>
        <p:spPr bwMode="auto">
          <a:xfrm>
            <a:off x="10852621" y="3002528"/>
            <a:ext cx="5998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3600" b="1" dirty="0"/>
              <a:t>系统方案与运动学建模</a:t>
            </a:r>
            <a:endParaRPr lang="zh-CN" altLang="en-US" sz="3600" b="1" dirty="0"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9233" name="TextBox 59"/>
          <p:cNvSpPr txBox="1">
            <a:spLocks noChangeArrowheads="1"/>
          </p:cNvSpPr>
          <p:nvPr/>
        </p:nvSpPr>
        <p:spPr bwMode="auto">
          <a:xfrm>
            <a:off x="10852620" y="1155389"/>
            <a:ext cx="47683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3600" b="1" dirty="0"/>
              <a:t>课题来源与研究背景</a:t>
            </a:r>
            <a:endParaRPr lang="zh-CN" altLang="en-US" sz="3600" b="1" dirty="0"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9234" name="TextBox 68"/>
          <p:cNvSpPr txBox="1">
            <a:spLocks noChangeArrowheads="1"/>
          </p:cNvSpPr>
          <p:nvPr/>
        </p:nvSpPr>
        <p:spPr bwMode="auto">
          <a:xfrm>
            <a:off x="10852620" y="4849667"/>
            <a:ext cx="644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3600" b="1" dirty="0"/>
              <a:t>控制程序设计</a:t>
            </a:r>
            <a:endParaRPr lang="zh-CN" altLang="en-US" sz="3600" b="1" dirty="0"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9235" name="TextBox 69"/>
          <p:cNvSpPr txBox="1">
            <a:spLocks noChangeArrowheads="1"/>
          </p:cNvSpPr>
          <p:nvPr/>
        </p:nvSpPr>
        <p:spPr bwMode="auto">
          <a:xfrm>
            <a:off x="10852620" y="6696806"/>
            <a:ext cx="60034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3600" b="1" dirty="0"/>
              <a:t>仿真平台搭建与验证</a:t>
            </a:r>
            <a:endParaRPr lang="zh-CN" altLang="en-US" sz="3600" b="1" dirty="0">
              <a:latin typeface="Calibri" panose="020F050202020403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9236" name="TextBox 70"/>
          <p:cNvSpPr txBox="1">
            <a:spLocks noChangeArrowheads="1"/>
          </p:cNvSpPr>
          <p:nvPr/>
        </p:nvSpPr>
        <p:spPr bwMode="auto">
          <a:xfrm>
            <a:off x="10852620" y="8543944"/>
            <a:ext cx="60034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/>
              <a:t>后续工作规划</a:t>
            </a:r>
          </a:p>
        </p:txBody>
      </p:sp>
      <p:sp>
        <p:nvSpPr>
          <p:cNvPr id="26" name="任意多边形: 形状 25"/>
          <p:cNvSpPr/>
          <p:nvPr/>
        </p:nvSpPr>
        <p:spPr>
          <a:xfrm rot="16200000">
            <a:off x="-2755044" y="2685851"/>
            <a:ext cx="10356194" cy="4846107"/>
          </a:xfrm>
          <a:custGeom>
            <a:avLst/>
            <a:gdLst>
              <a:gd name="connsiteX0" fmla="*/ 537642 w 13081000"/>
              <a:gd name="connsiteY0" fmla="*/ 0 h 2540000"/>
              <a:gd name="connsiteX1" fmla="*/ 6002858 w 13081000"/>
              <a:gd name="connsiteY1" fmla="*/ 0 h 2540000"/>
              <a:gd name="connsiteX2" fmla="*/ 6540500 w 13081000"/>
              <a:gd name="connsiteY2" fmla="*/ 537642 h 2540000"/>
              <a:gd name="connsiteX3" fmla="*/ 7078142 w 13081000"/>
              <a:gd name="connsiteY3" fmla="*/ 0 h 2540000"/>
              <a:gd name="connsiteX4" fmla="*/ 12543358 w 13081000"/>
              <a:gd name="connsiteY4" fmla="*/ 0 h 2540000"/>
              <a:gd name="connsiteX5" fmla="*/ 13081000 w 13081000"/>
              <a:gd name="connsiteY5" fmla="*/ 537642 h 2540000"/>
              <a:gd name="connsiteX6" fmla="*/ 13081000 w 13081000"/>
              <a:gd name="connsiteY6" fmla="*/ 2002358 h 2540000"/>
              <a:gd name="connsiteX7" fmla="*/ 12543358 w 13081000"/>
              <a:gd name="connsiteY7" fmla="*/ 2540000 h 2540000"/>
              <a:gd name="connsiteX8" fmla="*/ 7078142 w 13081000"/>
              <a:gd name="connsiteY8" fmla="*/ 2540000 h 2540000"/>
              <a:gd name="connsiteX9" fmla="*/ 6540500 w 13081000"/>
              <a:gd name="connsiteY9" fmla="*/ 2002358 h 2540000"/>
              <a:gd name="connsiteX10" fmla="*/ 6002858 w 13081000"/>
              <a:gd name="connsiteY10" fmla="*/ 2540000 h 2540000"/>
              <a:gd name="connsiteX11" fmla="*/ 537642 w 13081000"/>
              <a:gd name="connsiteY11" fmla="*/ 2540000 h 2540000"/>
              <a:gd name="connsiteX12" fmla="*/ 0 w 13081000"/>
              <a:gd name="connsiteY12" fmla="*/ 2002358 h 2540000"/>
              <a:gd name="connsiteX13" fmla="*/ 0 w 13081000"/>
              <a:gd name="connsiteY13" fmla="*/ 537642 h 2540000"/>
              <a:gd name="connsiteX14" fmla="*/ 537642 w 13081000"/>
              <a:gd name="connsiteY14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73" h="5088">
                <a:moveTo>
                  <a:pt x="10873" y="0"/>
                </a:moveTo>
                <a:lnTo>
                  <a:pt x="10873" y="5086"/>
                </a:lnTo>
                <a:lnTo>
                  <a:pt x="6246" y="5086"/>
                </a:lnTo>
                <a:lnTo>
                  <a:pt x="6224" y="5086"/>
                </a:lnTo>
                <a:lnTo>
                  <a:pt x="6202" y="5087"/>
                </a:lnTo>
                <a:cubicBezTo>
                  <a:pt x="5748" y="5104"/>
                  <a:pt x="5389" y="4287"/>
                  <a:pt x="5400" y="3756"/>
                </a:cubicBezTo>
                <a:lnTo>
                  <a:pt x="5400" y="3725"/>
                </a:lnTo>
                <a:lnTo>
                  <a:pt x="5400" y="3688"/>
                </a:lnTo>
                <a:lnTo>
                  <a:pt x="5400" y="3721"/>
                </a:lnTo>
                <a:lnTo>
                  <a:pt x="5400" y="3755"/>
                </a:lnTo>
                <a:lnTo>
                  <a:pt x="5400" y="3756"/>
                </a:lnTo>
                <a:lnTo>
                  <a:pt x="5400" y="3789"/>
                </a:lnTo>
                <a:cubicBezTo>
                  <a:pt x="5411" y="4462"/>
                  <a:pt x="4931" y="5103"/>
                  <a:pt x="4609" y="5088"/>
                </a:cubicBezTo>
                <a:lnTo>
                  <a:pt x="4591" y="5088"/>
                </a:lnTo>
                <a:lnTo>
                  <a:pt x="4573" y="5086"/>
                </a:lnTo>
                <a:lnTo>
                  <a:pt x="4553" y="5086"/>
                </a:lnTo>
                <a:lnTo>
                  <a:pt x="0" y="5086"/>
                </a:lnTo>
                <a:lnTo>
                  <a:pt x="0" y="0"/>
                </a:lnTo>
                <a:lnTo>
                  <a:pt x="108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任意多边形: 形状 27"/>
          <p:cNvSpPr/>
          <p:nvPr/>
        </p:nvSpPr>
        <p:spPr>
          <a:xfrm rot="16200000">
            <a:off x="-1648988" y="3627120"/>
            <a:ext cx="10328910" cy="2990850"/>
          </a:xfrm>
          <a:custGeom>
            <a:avLst/>
            <a:gdLst>
              <a:gd name="connsiteX0" fmla="*/ 537642 w 13081000"/>
              <a:gd name="connsiteY0" fmla="*/ 0 h 2540000"/>
              <a:gd name="connsiteX1" fmla="*/ 6002858 w 13081000"/>
              <a:gd name="connsiteY1" fmla="*/ 0 h 2540000"/>
              <a:gd name="connsiteX2" fmla="*/ 6540500 w 13081000"/>
              <a:gd name="connsiteY2" fmla="*/ 537642 h 2540000"/>
              <a:gd name="connsiteX3" fmla="*/ 7078142 w 13081000"/>
              <a:gd name="connsiteY3" fmla="*/ 0 h 2540000"/>
              <a:gd name="connsiteX4" fmla="*/ 12543358 w 13081000"/>
              <a:gd name="connsiteY4" fmla="*/ 0 h 2540000"/>
              <a:gd name="connsiteX5" fmla="*/ 13081000 w 13081000"/>
              <a:gd name="connsiteY5" fmla="*/ 537642 h 2540000"/>
              <a:gd name="connsiteX6" fmla="*/ 13081000 w 13081000"/>
              <a:gd name="connsiteY6" fmla="*/ 2002358 h 2540000"/>
              <a:gd name="connsiteX7" fmla="*/ 12543358 w 13081000"/>
              <a:gd name="connsiteY7" fmla="*/ 2540000 h 2540000"/>
              <a:gd name="connsiteX8" fmla="*/ 7078142 w 13081000"/>
              <a:gd name="connsiteY8" fmla="*/ 2540000 h 2540000"/>
              <a:gd name="connsiteX9" fmla="*/ 6540500 w 13081000"/>
              <a:gd name="connsiteY9" fmla="*/ 2002358 h 2540000"/>
              <a:gd name="connsiteX10" fmla="*/ 6002858 w 13081000"/>
              <a:gd name="connsiteY10" fmla="*/ 2540000 h 2540000"/>
              <a:gd name="connsiteX11" fmla="*/ 537642 w 13081000"/>
              <a:gd name="connsiteY11" fmla="*/ 2540000 h 2540000"/>
              <a:gd name="connsiteX12" fmla="*/ 0 w 13081000"/>
              <a:gd name="connsiteY12" fmla="*/ 2002358 h 2540000"/>
              <a:gd name="connsiteX13" fmla="*/ 0 w 13081000"/>
              <a:gd name="connsiteY13" fmla="*/ 537642 h 2540000"/>
              <a:gd name="connsiteX14" fmla="*/ 537642 w 13081000"/>
              <a:gd name="connsiteY14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44" h="3141">
                <a:moveTo>
                  <a:pt x="0" y="0"/>
                </a:moveTo>
                <a:lnTo>
                  <a:pt x="4553" y="0"/>
                </a:lnTo>
                <a:lnTo>
                  <a:pt x="4576" y="0"/>
                </a:lnTo>
                <a:cubicBezTo>
                  <a:pt x="5033" y="-11"/>
                  <a:pt x="5400" y="346"/>
                  <a:pt x="5400" y="633"/>
                </a:cubicBezTo>
                <a:lnTo>
                  <a:pt x="5400" y="647"/>
                </a:lnTo>
                <a:lnTo>
                  <a:pt x="5400" y="665"/>
                </a:lnTo>
                <a:lnTo>
                  <a:pt x="5400" y="649"/>
                </a:lnTo>
                <a:lnTo>
                  <a:pt x="5400" y="633"/>
                </a:lnTo>
                <a:lnTo>
                  <a:pt x="5400" y="633"/>
                </a:lnTo>
                <a:cubicBezTo>
                  <a:pt x="5386" y="302"/>
                  <a:pt x="5854" y="-18"/>
                  <a:pt x="6226" y="0"/>
                </a:cubicBezTo>
                <a:lnTo>
                  <a:pt x="6247" y="0"/>
                </a:lnTo>
                <a:lnTo>
                  <a:pt x="10844" y="0"/>
                </a:lnTo>
                <a:lnTo>
                  <a:pt x="10844" y="3140"/>
                </a:lnTo>
                <a:lnTo>
                  <a:pt x="6247" y="3140"/>
                </a:lnTo>
                <a:lnTo>
                  <a:pt x="6224" y="3140"/>
                </a:lnTo>
                <a:cubicBezTo>
                  <a:pt x="5767" y="3151"/>
                  <a:pt x="5400" y="2794"/>
                  <a:pt x="5400" y="2507"/>
                </a:cubicBezTo>
                <a:lnTo>
                  <a:pt x="5400" y="2493"/>
                </a:lnTo>
                <a:lnTo>
                  <a:pt x="5400" y="2475"/>
                </a:lnTo>
                <a:lnTo>
                  <a:pt x="5400" y="2491"/>
                </a:lnTo>
                <a:lnTo>
                  <a:pt x="5400" y="2507"/>
                </a:lnTo>
                <a:lnTo>
                  <a:pt x="5400" y="2507"/>
                </a:lnTo>
                <a:cubicBezTo>
                  <a:pt x="5414" y="2838"/>
                  <a:pt x="4946" y="3158"/>
                  <a:pt x="4574" y="3140"/>
                </a:cubicBezTo>
                <a:lnTo>
                  <a:pt x="4553" y="3140"/>
                </a:lnTo>
                <a:lnTo>
                  <a:pt x="0" y="314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37" name="Rectangle 3"/>
          <p:cNvSpPr txBox="1">
            <a:spLocks noChangeArrowheads="1"/>
          </p:cNvSpPr>
          <p:nvPr/>
        </p:nvSpPr>
        <p:spPr bwMode="auto">
          <a:xfrm>
            <a:off x="715381" y="4532909"/>
            <a:ext cx="2686598" cy="9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  <p:sp>
        <p:nvSpPr>
          <p:cNvPr id="9238" name="Text Box 5"/>
          <p:cNvSpPr txBox="1">
            <a:spLocks noChangeArrowheads="1"/>
          </p:cNvSpPr>
          <p:nvPr/>
        </p:nvSpPr>
        <p:spPr bwMode="auto">
          <a:xfrm>
            <a:off x="598748" y="5370782"/>
            <a:ext cx="288383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2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C</a:t>
            </a:r>
            <a:r>
              <a:rPr lang="zh-CN" altLang="en-US" sz="42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t>ontents</a:t>
            </a:r>
          </a:p>
        </p:txBody>
      </p:sp>
      <p:sp>
        <p:nvSpPr>
          <p:cNvPr id="29" name="直接连接符 60"/>
          <p:cNvSpPr>
            <a:spLocks noChangeShapeType="1"/>
          </p:cNvSpPr>
          <p:nvPr/>
        </p:nvSpPr>
        <p:spPr bwMode="auto">
          <a:xfrm flipH="1">
            <a:off x="8502518" y="95250"/>
            <a:ext cx="0" cy="10096500"/>
          </a:xfrm>
          <a:prstGeom prst="line">
            <a:avLst/>
          </a:prstGeom>
          <a:noFill/>
          <a:ln w="22225">
            <a:solidFill>
              <a:schemeClr val="accent1"/>
            </a:solidFill>
            <a:miter lim="800000"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743244" y="785258"/>
            <a:ext cx="1695161" cy="1695161"/>
          </a:xfrm>
          <a:prstGeom prst="ellipse">
            <a:avLst/>
          </a:prstGeom>
          <a:noFill/>
          <a:ln>
            <a:noFill/>
          </a:ln>
          <a:effectLst>
            <a:innerShdw blurRad="114300">
              <a:srgbClr val="447A8D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7770722" y="785258"/>
            <a:ext cx="1432760" cy="14327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schemeClr val="accent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770722" y="2632397"/>
            <a:ext cx="1432760" cy="14327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schemeClr val="accent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770722" y="6326675"/>
            <a:ext cx="1432760" cy="14327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schemeClr val="accent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7770722" y="4479536"/>
            <a:ext cx="1432760" cy="14327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schemeClr val="accent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770722" y="8173813"/>
            <a:ext cx="1432760" cy="14327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schemeClr val="accent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+mj-ea"/>
              <a:ea typeface="+mj-ea"/>
              <a:cs typeface="微软雅黑" panose="020B0503020204020204" pitchFamily="34" charset="-122"/>
            </a:endParaRPr>
          </a:p>
        </p:txBody>
      </p:sp>
      <p:sp>
        <p:nvSpPr>
          <p:cNvPr id="441" name="Freeform 10"/>
          <p:cNvSpPr>
            <a:spLocks noEditPoints="1"/>
          </p:cNvSpPr>
          <p:nvPr/>
        </p:nvSpPr>
        <p:spPr bwMode="auto">
          <a:xfrm>
            <a:off x="8136256" y="1122998"/>
            <a:ext cx="734378" cy="757238"/>
          </a:xfrm>
          <a:custGeom>
            <a:avLst/>
            <a:gdLst>
              <a:gd name="T0" fmla="*/ 270 w 272"/>
              <a:gd name="T1" fmla="*/ 16 h 280"/>
              <a:gd name="T2" fmla="*/ 271 w 272"/>
              <a:gd name="T3" fmla="*/ 17 h 280"/>
              <a:gd name="T4" fmla="*/ 45 w 272"/>
              <a:gd name="T5" fmla="*/ 132 h 280"/>
              <a:gd name="T6" fmla="*/ 144 w 272"/>
              <a:gd name="T7" fmla="*/ 132 h 280"/>
              <a:gd name="T8" fmla="*/ 136 w 272"/>
              <a:gd name="T9" fmla="*/ 151 h 280"/>
              <a:gd name="T10" fmla="*/ 45 w 272"/>
              <a:gd name="T11" fmla="*/ 151 h 280"/>
              <a:gd name="T12" fmla="*/ 45 w 272"/>
              <a:gd name="T13" fmla="*/ 132 h 280"/>
              <a:gd name="T14" fmla="*/ 115 w 272"/>
              <a:gd name="T15" fmla="*/ 199 h 280"/>
              <a:gd name="T16" fmla="*/ 112 w 272"/>
              <a:gd name="T17" fmla="*/ 238 h 280"/>
              <a:gd name="T18" fmla="*/ 111 w 272"/>
              <a:gd name="T19" fmla="*/ 251 h 280"/>
              <a:gd name="T20" fmla="*/ 111 w 272"/>
              <a:gd name="T21" fmla="*/ 252 h 280"/>
              <a:gd name="T22" fmla="*/ 115 w 272"/>
              <a:gd name="T23" fmla="*/ 253 h 280"/>
              <a:gd name="T24" fmla="*/ 158 w 272"/>
              <a:gd name="T25" fmla="*/ 220 h 280"/>
              <a:gd name="T26" fmla="*/ 131 w 272"/>
              <a:gd name="T27" fmla="*/ 207 h 280"/>
              <a:gd name="T28" fmla="*/ 134 w 272"/>
              <a:gd name="T29" fmla="*/ 203 h 280"/>
              <a:gd name="T30" fmla="*/ 145 w 272"/>
              <a:gd name="T31" fmla="*/ 208 h 280"/>
              <a:gd name="T32" fmla="*/ 154 w 272"/>
              <a:gd name="T33" fmla="*/ 212 h 280"/>
              <a:gd name="T34" fmla="*/ 269 w 272"/>
              <a:gd name="T35" fmla="*/ 32 h 280"/>
              <a:gd name="T36" fmla="*/ 270 w 272"/>
              <a:gd name="T37" fmla="*/ 16 h 280"/>
              <a:gd name="T38" fmla="*/ 250 w 272"/>
              <a:gd name="T39" fmla="*/ 6 h 280"/>
              <a:gd name="T40" fmla="*/ 242 w 272"/>
              <a:gd name="T41" fmla="*/ 2 h 280"/>
              <a:gd name="T42" fmla="*/ 118 w 272"/>
              <a:gd name="T43" fmla="*/ 195 h 280"/>
              <a:gd name="T44" fmla="*/ 114 w 272"/>
              <a:gd name="T45" fmla="*/ 235 h 280"/>
              <a:gd name="T46" fmla="*/ 119 w 272"/>
              <a:gd name="T47" fmla="*/ 238 h 280"/>
              <a:gd name="T48" fmla="*/ 0 w 272"/>
              <a:gd name="T49" fmla="*/ 105 h 280"/>
              <a:gd name="T50" fmla="*/ 62 w 272"/>
              <a:gd name="T51" fmla="*/ 36 h 280"/>
              <a:gd name="T52" fmla="*/ 78 w 272"/>
              <a:gd name="T53" fmla="*/ 28 h 280"/>
              <a:gd name="T54" fmla="*/ 160 w 272"/>
              <a:gd name="T55" fmla="*/ 28 h 280"/>
              <a:gd name="T56" fmla="*/ 189 w 272"/>
              <a:gd name="T57" fmla="*/ 61 h 280"/>
              <a:gd name="T58" fmla="*/ 170 w 272"/>
              <a:gd name="T59" fmla="*/ 56 h 280"/>
              <a:gd name="T60" fmla="*/ 89 w 272"/>
              <a:gd name="T61" fmla="*/ 47 h 280"/>
              <a:gd name="T62" fmla="*/ 60 w 272"/>
              <a:gd name="T63" fmla="*/ 116 h 280"/>
              <a:gd name="T64" fmla="*/ 19 w 272"/>
              <a:gd name="T65" fmla="*/ 251 h 280"/>
              <a:gd name="T66" fmla="*/ 29 w 272"/>
              <a:gd name="T67" fmla="*/ 261 h 280"/>
              <a:gd name="T68" fmla="*/ 103 w 272"/>
              <a:gd name="T69" fmla="*/ 271 h 280"/>
              <a:gd name="T70" fmla="*/ 160 w 272"/>
              <a:gd name="T71" fmla="*/ 261 h 280"/>
              <a:gd name="T72" fmla="*/ 170 w 272"/>
              <a:gd name="T73" fmla="*/ 212 h 280"/>
              <a:gd name="T74" fmla="*/ 189 w 272"/>
              <a:gd name="T75" fmla="*/ 252 h 280"/>
              <a:gd name="T76" fmla="*/ 29 w 272"/>
              <a:gd name="T77" fmla="*/ 280 h 280"/>
              <a:gd name="T78" fmla="*/ 0 w 272"/>
              <a:gd name="T79" fmla="*/ 105 h 280"/>
              <a:gd name="T80" fmla="*/ 45 w 272"/>
              <a:gd name="T81" fmla="*/ 169 h 280"/>
              <a:gd name="T82" fmla="*/ 69 w 272"/>
              <a:gd name="T83" fmla="*/ 169 h 280"/>
              <a:gd name="T84" fmla="*/ 114 w 272"/>
              <a:gd name="T85" fmla="*/ 188 h 280"/>
              <a:gd name="T86" fmla="*/ 45 w 272"/>
              <a:gd name="T87" fmla="*/ 188 h 280"/>
              <a:gd name="T88" fmla="*/ 45 w 272"/>
              <a:gd name="T89" fmla="*/ 169 h 280"/>
              <a:gd name="T90" fmla="*/ 45 w 272"/>
              <a:gd name="T91" fmla="*/ 207 h 280"/>
              <a:gd name="T92" fmla="*/ 106 w 272"/>
              <a:gd name="T93" fmla="*/ 226 h 280"/>
              <a:gd name="T94" fmla="*/ 45 w 272"/>
              <a:gd name="T95" fmla="*/ 226 h 280"/>
              <a:gd name="T96" fmla="*/ 45 w 272"/>
              <a:gd name="T97" fmla="*/ 207 h 280"/>
              <a:gd name="T98" fmla="*/ 70 w 272"/>
              <a:gd name="T99" fmla="*/ 55 h 280"/>
              <a:gd name="T100" fmla="*/ 60 w 272"/>
              <a:gd name="T101" fmla="*/ 97 h 280"/>
              <a:gd name="T102" fmla="*/ 70 w 272"/>
              <a:gd name="T103" fmla="*/ 55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72" h="280">
                <a:moveTo>
                  <a:pt x="250" y="6"/>
                </a:moveTo>
                <a:cubicBezTo>
                  <a:pt x="270" y="16"/>
                  <a:pt x="270" y="16"/>
                  <a:pt x="270" y="16"/>
                </a:cubicBezTo>
                <a:moveTo>
                  <a:pt x="270" y="16"/>
                </a:moveTo>
                <a:cubicBezTo>
                  <a:pt x="271" y="17"/>
                  <a:pt x="271" y="17"/>
                  <a:pt x="271" y="17"/>
                </a:cubicBezTo>
                <a:moveTo>
                  <a:pt x="45" y="132"/>
                </a:moveTo>
                <a:cubicBezTo>
                  <a:pt x="45" y="132"/>
                  <a:pt x="45" y="132"/>
                  <a:pt x="45" y="132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44" y="132"/>
                  <a:pt x="144" y="132"/>
                  <a:pt x="144" y="132"/>
                </a:cubicBezTo>
                <a:cubicBezTo>
                  <a:pt x="145" y="132"/>
                  <a:pt x="146" y="132"/>
                  <a:pt x="147" y="132"/>
                </a:cubicBezTo>
                <a:cubicBezTo>
                  <a:pt x="136" y="151"/>
                  <a:pt x="136" y="151"/>
                  <a:pt x="136" y="151"/>
                </a:cubicBezTo>
                <a:cubicBezTo>
                  <a:pt x="70" y="151"/>
                  <a:pt x="70" y="151"/>
                  <a:pt x="70" y="151"/>
                </a:cubicBezTo>
                <a:cubicBezTo>
                  <a:pt x="45" y="151"/>
                  <a:pt x="45" y="151"/>
                  <a:pt x="45" y="151"/>
                </a:cubicBezTo>
                <a:cubicBezTo>
                  <a:pt x="40" y="151"/>
                  <a:pt x="35" y="146"/>
                  <a:pt x="35" y="141"/>
                </a:cubicBezTo>
                <a:cubicBezTo>
                  <a:pt x="35" y="136"/>
                  <a:pt x="40" y="132"/>
                  <a:pt x="45" y="132"/>
                </a:cubicBezTo>
                <a:close/>
                <a:moveTo>
                  <a:pt x="131" y="207"/>
                </a:moveTo>
                <a:cubicBezTo>
                  <a:pt x="115" y="199"/>
                  <a:pt x="115" y="199"/>
                  <a:pt x="115" y="199"/>
                </a:cubicBezTo>
                <a:cubicBezTo>
                  <a:pt x="112" y="234"/>
                  <a:pt x="112" y="234"/>
                  <a:pt x="112" y="234"/>
                </a:cubicBezTo>
                <a:cubicBezTo>
                  <a:pt x="112" y="238"/>
                  <a:pt x="112" y="238"/>
                  <a:pt x="112" y="238"/>
                </a:cubicBezTo>
                <a:cubicBezTo>
                  <a:pt x="112" y="238"/>
                  <a:pt x="112" y="238"/>
                  <a:pt x="112" y="238"/>
                </a:cubicBezTo>
                <a:cubicBezTo>
                  <a:pt x="111" y="251"/>
                  <a:pt x="111" y="251"/>
                  <a:pt x="111" y="251"/>
                </a:cubicBezTo>
                <a:cubicBezTo>
                  <a:pt x="111" y="251"/>
                  <a:pt x="111" y="251"/>
                  <a:pt x="111" y="251"/>
                </a:cubicBezTo>
                <a:cubicBezTo>
                  <a:pt x="111" y="252"/>
                  <a:pt x="111" y="252"/>
                  <a:pt x="111" y="252"/>
                </a:cubicBezTo>
                <a:cubicBezTo>
                  <a:pt x="111" y="257"/>
                  <a:pt x="111" y="257"/>
                  <a:pt x="111" y="257"/>
                </a:cubicBezTo>
                <a:cubicBezTo>
                  <a:pt x="115" y="253"/>
                  <a:pt x="115" y="253"/>
                  <a:pt x="115" y="253"/>
                </a:cubicBezTo>
                <a:cubicBezTo>
                  <a:pt x="129" y="242"/>
                  <a:pt x="129" y="242"/>
                  <a:pt x="129" y="242"/>
                </a:cubicBezTo>
                <a:cubicBezTo>
                  <a:pt x="158" y="220"/>
                  <a:pt x="158" y="220"/>
                  <a:pt x="158" y="220"/>
                </a:cubicBezTo>
                <a:cubicBezTo>
                  <a:pt x="145" y="214"/>
                  <a:pt x="145" y="214"/>
                  <a:pt x="145" y="214"/>
                </a:cubicBezTo>
                <a:lnTo>
                  <a:pt x="131" y="207"/>
                </a:lnTo>
                <a:close/>
                <a:moveTo>
                  <a:pt x="125" y="198"/>
                </a:moveTo>
                <a:cubicBezTo>
                  <a:pt x="134" y="203"/>
                  <a:pt x="134" y="203"/>
                  <a:pt x="134" y="203"/>
                </a:cubicBezTo>
                <a:cubicBezTo>
                  <a:pt x="145" y="208"/>
                  <a:pt x="145" y="208"/>
                  <a:pt x="145" y="208"/>
                </a:cubicBezTo>
                <a:cubicBezTo>
                  <a:pt x="145" y="208"/>
                  <a:pt x="145" y="208"/>
                  <a:pt x="145" y="208"/>
                </a:cubicBezTo>
                <a:cubicBezTo>
                  <a:pt x="154" y="212"/>
                  <a:pt x="154" y="212"/>
                  <a:pt x="154" y="212"/>
                </a:cubicBezTo>
                <a:cubicBezTo>
                  <a:pt x="154" y="212"/>
                  <a:pt x="154" y="212"/>
                  <a:pt x="154" y="212"/>
                </a:cubicBezTo>
                <a:cubicBezTo>
                  <a:pt x="160" y="216"/>
                  <a:pt x="160" y="216"/>
                  <a:pt x="160" y="216"/>
                </a:cubicBezTo>
                <a:cubicBezTo>
                  <a:pt x="269" y="32"/>
                  <a:pt x="269" y="32"/>
                  <a:pt x="269" y="32"/>
                </a:cubicBezTo>
                <a:cubicBezTo>
                  <a:pt x="272" y="26"/>
                  <a:pt x="272" y="20"/>
                  <a:pt x="270" y="16"/>
                </a:cubicBezTo>
                <a:cubicBezTo>
                  <a:pt x="270" y="16"/>
                  <a:pt x="270" y="16"/>
                  <a:pt x="270" y="16"/>
                </a:cubicBezTo>
                <a:cubicBezTo>
                  <a:pt x="261" y="12"/>
                  <a:pt x="261" y="12"/>
                  <a:pt x="261" y="12"/>
                </a:cubicBezTo>
                <a:cubicBezTo>
                  <a:pt x="250" y="6"/>
                  <a:pt x="250" y="6"/>
                  <a:pt x="250" y="6"/>
                </a:cubicBezTo>
                <a:cubicBezTo>
                  <a:pt x="242" y="2"/>
                  <a:pt x="242" y="2"/>
                  <a:pt x="242" y="2"/>
                </a:cubicBezTo>
                <a:cubicBezTo>
                  <a:pt x="242" y="2"/>
                  <a:pt x="242" y="2"/>
                  <a:pt x="242" y="2"/>
                </a:cubicBezTo>
                <a:cubicBezTo>
                  <a:pt x="237" y="0"/>
                  <a:pt x="231" y="3"/>
                  <a:pt x="227" y="9"/>
                </a:cubicBezTo>
                <a:cubicBezTo>
                  <a:pt x="118" y="195"/>
                  <a:pt x="118" y="195"/>
                  <a:pt x="118" y="195"/>
                </a:cubicBezTo>
                <a:cubicBezTo>
                  <a:pt x="125" y="198"/>
                  <a:pt x="125" y="198"/>
                  <a:pt x="125" y="198"/>
                </a:cubicBezTo>
                <a:close/>
                <a:moveTo>
                  <a:pt x="114" y="235"/>
                </a:moveTo>
                <a:cubicBezTo>
                  <a:pt x="114" y="235"/>
                  <a:pt x="114" y="235"/>
                  <a:pt x="114" y="235"/>
                </a:cubicBezTo>
                <a:cubicBezTo>
                  <a:pt x="119" y="238"/>
                  <a:pt x="119" y="238"/>
                  <a:pt x="119" y="238"/>
                </a:cubicBezTo>
                <a:lnTo>
                  <a:pt x="114" y="235"/>
                </a:lnTo>
                <a:close/>
                <a:moveTo>
                  <a:pt x="0" y="105"/>
                </a:moveTo>
                <a:cubicBezTo>
                  <a:pt x="1" y="99"/>
                  <a:pt x="4" y="94"/>
                  <a:pt x="8" y="90"/>
                </a:cubicBezTo>
                <a:cubicBezTo>
                  <a:pt x="62" y="36"/>
                  <a:pt x="62" y="36"/>
                  <a:pt x="62" y="36"/>
                </a:cubicBezTo>
                <a:cubicBezTo>
                  <a:pt x="67" y="32"/>
                  <a:pt x="72" y="29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9" y="28"/>
                  <a:pt x="79" y="28"/>
                  <a:pt x="79" y="28"/>
                </a:cubicBezTo>
                <a:cubicBezTo>
                  <a:pt x="160" y="28"/>
                  <a:pt x="160" y="28"/>
                  <a:pt x="160" y="28"/>
                </a:cubicBezTo>
                <a:cubicBezTo>
                  <a:pt x="176" y="28"/>
                  <a:pt x="189" y="41"/>
                  <a:pt x="189" y="56"/>
                </a:cubicBezTo>
                <a:cubicBezTo>
                  <a:pt x="189" y="61"/>
                  <a:pt x="189" y="61"/>
                  <a:pt x="189" y="61"/>
                </a:cubicBezTo>
                <a:cubicBezTo>
                  <a:pt x="170" y="94"/>
                  <a:pt x="170" y="94"/>
                  <a:pt x="170" y="94"/>
                </a:cubicBezTo>
                <a:cubicBezTo>
                  <a:pt x="170" y="56"/>
                  <a:pt x="170" y="56"/>
                  <a:pt x="170" y="56"/>
                </a:cubicBezTo>
                <a:cubicBezTo>
                  <a:pt x="170" y="51"/>
                  <a:pt x="165" y="47"/>
                  <a:pt x="160" y="47"/>
                </a:cubicBezTo>
                <a:cubicBezTo>
                  <a:pt x="89" y="47"/>
                  <a:pt x="89" y="47"/>
                  <a:pt x="89" y="47"/>
                </a:cubicBezTo>
                <a:cubicBezTo>
                  <a:pt x="89" y="87"/>
                  <a:pt x="89" y="87"/>
                  <a:pt x="89" y="87"/>
                </a:cubicBezTo>
                <a:cubicBezTo>
                  <a:pt x="89" y="103"/>
                  <a:pt x="76" y="116"/>
                  <a:pt x="60" y="116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19" y="251"/>
                  <a:pt x="19" y="251"/>
                  <a:pt x="19" y="251"/>
                </a:cubicBezTo>
                <a:cubicBezTo>
                  <a:pt x="19" y="251"/>
                  <a:pt x="19" y="251"/>
                  <a:pt x="19" y="251"/>
                </a:cubicBezTo>
                <a:cubicBezTo>
                  <a:pt x="19" y="256"/>
                  <a:pt x="24" y="261"/>
                  <a:pt x="29" y="261"/>
                </a:cubicBezTo>
                <a:cubicBezTo>
                  <a:pt x="104" y="261"/>
                  <a:pt x="104" y="261"/>
                  <a:pt x="104" y="261"/>
                </a:cubicBezTo>
                <a:cubicBezTo>
                  <a:pt x="103" y="271"/>
                  <a:pt x="103" y="271"/>
                  <a:pt x="103" y="271"/>
                </a:cubicBezTo>
                <a:cubicBezTo>
                  <a:pt x="117" y="261"/>
                  <a:pt x="117" y="261"/>
                  <a:pt x="117" y="261"/>
                </a:cubicBezTo>
                <a:cubicBezTo>
                  <a:pt x="160" y="261"/>
                  <a:pt x="160" y="261"/>
                  <a:pt x="160" y="261"/>
                </a:cubicBezTo>
                <a:cubicBezTo>
                  <a:pt x="166" y="261"/>
                  <a:pt x="170" y="256"/>
                  <a:pt x="170" y="251"/>
                </a:cubicBezTo>
                <a:cubicBezTo>
                  <a:pt x="170" y="212"/>
                  <a:pt x="170" y="212"/>
                  <a:pt x="170" y="212"/>
                </a:cubicBezTo>
                <a:cubicBezTo>
                  <a:pt x="189" y="179"/>
                  <a:pt x="189" y="179"/>
                  <a:pt x="189" y="179"/>
                </a:cubicBezTo>
                <a:cubicBezTo>
                  <a:pt x="189" y="252"/>
                  <a:pt x="189" y="252"/>
                  <a:pt x="189" y="252"/>
                </a:cubicBezTo>
                <a:cubicBezTo>
                  <a:pt x="188" y="267"/>
                  <a:pt x="175" y="280"/>
                  <a:pt x="160" y="280"/>
                </a:cubicBezTo>
                <a:cubicBezTo>
                  <a:pt x="29" y="280"/>
                  <a:pt x="29" y="280"/>
                  <a:pt x="29" y="280"/>
                </a:cubicBezTo>
                <a:cubicBezTo>
                  <a:pt x="13" y="280"/>
                  <a:pt x="0" y="267"/>
                  <a:pt x="0" y="251"/>
                </a:cubicBezTo>
                <a:cubicBezTo>
                  <a:pt x="0" y="105"/>
                  <a:pt x="0" y="105"/>
                  <a:pt x="0" y="105"/>
                </a:cubicBezTo>
                <a:close/>
                <a:moveTo>
                  <a:pt x="45" y="169"/>
                </a:moveTo>
                <a:cubicBezTo>
                  <a:pt x="45" y="169"/>
                  <a:pt x="45" y="169"/>
                  <a:pt x="45" y="169"/>
                </a:cubicBezTo>
                <a:cubicBezTo>
                  <a:pt x="51" y="169"/>
                  <a:pt x="51" y="169"/>
                  <a:pt x="51" y="169"/>
                </a:cubicBezTo>
                <a:cubicBezTo>
                  <a:pt x="69" y="169"/>
                  <a:pt x="69" y="169"/>
                  <a:pt x="69" y="169"/>
                </a:cubicBezTo>
                <a:cubicBezTo>
                  <a:pt x="125" y="169"/>
                  <a:pt x="125" y="169"/>
                  <a:pt x="125" y="169"/>
                </a:cubicBezTo>
                <a:cubicBezTo>
                  <a:pt x="114" y="188"/>
                  <a:pt x="114" y="188"/>
                  <a:pt x="114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45" y="188"/>
                  <a:pt x="45" y="188"/>
                  <a:pt x="45" y="188"/>
                </a:cubicBezTo>
                <a:cubicBezTo>
                  <a:pt x="40" y="188"/>
                  <a:pt x="35" y="184"/>
                  <a:pt x="35" y="178"/>
                </a:cubicBezTo>
                <a:cubicBezTo>
                  <a:pt x="35" y="173"/>
                  <a:pt x="40" y="169"/>
                  <a:pt x="45" y="169"/>
                </a:cubicBezTo>
                <a:close/>
                <a:moveTo>
                  <a:pt x="45" y="207"/>
                </a:moveTo>
                <a:cubicBezTo>
                  <a:pt x="45" y="207"/>
                  <a:pt x="45" y="207"/>
                  <a:pt x="45" y="207"/>
                </a:cubicBezTo>
                <a:cubicBezTo>
                  <a:pt x="108" y="207"/>
                  <a:pt x="108" y="207"/>
                  <a:pt x="108" y="207"/>
                </a:cubicBezTo>
                <a:cubicBezTo>
                  <a:pt x="106" y="226"/>
                  <a:pt x="106" y="226"/>
                  <a:pt x="106" y="226"/>
                </a:cubicBezTo>
                <a:cubicBezTo>
                  <a:pt x="70" y="226"/>
                  <a:pt x="70" y="226"/>
                  <a:pt x="70" y="226"/>
                </a:cubicBezTo>
                <a:cubicBezTo>
                  <a:pt x="45" y="226"/>
                  <a:pt x="45" y="226"/>
                  <a:pt x="45" y="226"/>
                </a:cubicBezTo>
                <a:cubicBezTo>
                  <a:pt x="40" y="226"/>
                  <a:pt x="35" y="222"/>
                  <a:pt x="35" y="217"/>
                </a:cubicBezTo>
                <a:cubicBezTo>
                  <a:pt x="35" y="211"/>
                  <a:pt x="40" y="207"/>
                  <a:pt x="45" y="207"/>
                </a:cubicBezTo>
                <a:close/>
                <a:moveTo>
                  <a:pt x="70" y="55"/>
                </a:moveTo>
                <a:cubicBezTo>
                  <a:pt x="70" y="55"/>
                  <a:pt x="70" y="55"/>
                  <a:pt x="70" y="55"/>
                </a:cubicBezTo>
                <a:cubicBezTo>
                  <a:pt x="28" y="97"/>
                  <a:pt x="28" y="97"/>
                  <a:pt x="28" y="97"/>
                </a:cubicBezTo>
                <a:cubicBezTo>
                  <a:pt x="60" y="97"/>
                  <a:pt x="60" y="97"/>
                  <a:pt x="60" y="97"/>
                </a:cubicBezTo>
                <a:cubicBezTo>
                  <a:pt x="65" y="97"/>
                  <a:pt x="70" y="92"/>
                  <a:pt x="70" y="87"/>
                </a:cubicBezTo>
                <a:lnTo>
                  <a:pt x="70" y="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37160" tIns="68580" rIns="137160" bIns="6858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3" name="Freeform 12"/>
          <p:cNvSpPr>
            <a:spLocks noEditPoints="1"/>
          </p:cNvSpPr>
          <p:nvPr/>
        </p:nvSpPr>
        <p:spPr bwMode="auto">
          <a:xfrm>
            <a:off x="8142923" y="8537258"/>
            <a:ext cx="675323" cy="706755"/>
          </a:xfrm>
          <a:custGeom>
            <a:avLst/>
            <a:gdLst>
              <a:gd name="T0" fmla="*/ 91 w 450"/>
              <a:gd name="T1" fmla="*/ 85 h 470"/>
              <a:gd name="T2" fmla="*/ 279 w 450"/>
              <a:gd name="T3" fmla="*/ 65 h 470"/>
              <a:gd name="T4" fmla="*/ 73 w 450"/>
              <a:gd name="T5" fmla="*/ 79 h 470"/>
              <a:gd name="T6" fmla="*/ 109 w 450"/>
              <a:gd name="T7" fmla="*/ 367 h 470"/>
              <a:gd name="T8" fmla="*/ 133 w 450"/>
              <a:gd name="T9" fmla="*/ 115 h 470"/>
              <a:gd name="T10" fmla="*/ 298 w 450"/>
              <a:gd name="T11" fmla="*/ 85 h 470"/>
              <a:gd name="T12" fmla="*/ 349 w 450"/>
              <a:gd name="T13" fmla="*/ 117 h 470"/>
              <a:gd name="T14" fmla="*/ 349 w 450"/>
              <a:gd name="T15" fmla="*/ 119 h 470"/>
              <a:gd name="T16" fmla="*/ 253 w 450"/>
              <a:gd name="T17" fmla="*/ 189 h 470"/>
              <a:gd name="T18" fmla="*/ 421 w 450"/>
              <a:gd name="T19" fmla="*/ 173 h 470"/>
              <a:gd name="T20" fmla="*/ 426 w 450"/>
              <a:gd name="T21" fmla="*/ 169 h 470"/>
              <a:gd name="T22" fmla="*/ 437 w 450"/>
              <a:gd name="T23" fmla="*/ 184 h 470"/>
              <a:gd name="T24" fmla="*/ 270 w 450"/>
              <a:gd name="T25" fmla="*/ 202 h 470"/>
              <a:gd name="T26" fmla="*/ 432 w 450"/>
              <a:gd name="T27" fmla="*/ 185 h 470"/>
              <a:gd name="T28" fmla="*/ 259 w 450"/>
              <a:gd name="T29" fmla="*/ 194 h 470"/>
              <a:gd name="T30" fmla="*/ 390 w 450"/>
              <a:gd name="T31" fmla="*/ 180 h 470"/>
              <a:gd name="T32" fmla="*/ 430 w 450"/>
              <a:gd name="T33" fmla="*/ 175 h 470"/>
              <a:gd name="T34" fmla="*/ 316 w 450"/>
              <a:gd name="T35" fmla="*/ 191 h 470"/>
              <a:gd name="T36" fmla="*/ 266 w 450"/>
              <a:gd name="T37" fmla="*/ 200 h 470"/>
              <a:gd name="T38" fmla="*/ 428 w 450"/>
              <a:gd name="T39" fmla="*/ 180 h 470"/>
              <a:gd name="T40" fmla="*/ 316 w 450"/>
              <a:gd name="T41" fmla="*/ 191 h 470"/>
              <a:gd name="T42" fmla="*/ 181 w 450"/>
              <a:gd name="T43" fmla="*/ 140 h 470"/>
              <a:gd name="T44" fmla="*/ 356 w 450"/>
              <a:gd name="T45" fmla="*/ 128 h 470"/>
              <a:gd name="T46" fmla="*/ 190 w 450"/>
              <a:gd name="T47" fmla="*/ 146 h 470"/>
              <a:gd name="T48" fmla="*/ 360 w 450"/>
              <a:gd name="T49" fmla="*/ 130 h 470"/>
              <a:gd name="T50" fmla="*/ 360 w 450"/>
              <a:gd name="T51" fmla="*/ 131 h 470"/>
              <a:gd name="T52" fmla="*/ 109 w 450"/>
              <a:gd name="T53" fmla="*/ 90 h 470"/>
              <a:gd name="T54" fmla="*/ 275 w 450"/>
              <a:gd name="T55" fmla="*/ 70 h 470"/>
              <a:gd name="T56" fmla="*/ 106 w 450"/>
              <a:gd name="T57" fmla="*/ 88 h 470"/>
              <a:gd name="T58" fmla="*/ 115 w 450"/>
              <a:gd name="T59" fmla="*/ 94 h 470"/>
              <a:gd name="T60" fmla="*/ 282 w 450"/>
              <a:gd name="T61" fmla="*/ 76 h 470"/>
              <a:gd name="T62" fmla="*/ 120 w 450"/>
              <a:gd name="T63" fmla="*/ 99 h 470"/>
              <a:gd name="T64" fmla="*/ 270 w 450"/>
              <a:gd name="T65" fmla="*/ 205 h 470"/>
              <a:gd name="T66" fmla="*/ 261 w 450"/>
              <a:gd name="T67" fmla="*/ 200 h 470"/>
              <a:gd name="T68" fmla="*/ 253 w 450"/>
              <a:gd name="T69" fmla="*/ 194 h 470"/>
              <a:gd name="T70" fmla="*/ 243 w 450"/>
              <a:gd name="T71" fmla="*/ 187 h 470"/>
              <a:gd name="T72" fmla="*/ 424 w 450"/>
              <a:gd name="T73" fmla="*/ 157 h 470"/>
              <a:gd name="T74" fmla="*/ 225 w 450"/>
              <a:gd name="T75" fmla="*/ 189 h 470"/>
              <a:gd name="T76" fmla="*/ 261 w 450"/>
              <a:gd name="T77" fmla="*/ 470 h 470"/>
              <a:gd name="T78" fmla="*/ 270 w 450"/>
              <a:gd name="T79" fmla="*/ 205 h 470"/>
              <a:gd name="T80" fmla="*/ 412 w 450"/>
              <a:gd name="T81" fmla="*/ 236 h 470"/>
              <a:gd name="T82" fmla="*/ 203 w 450"/>
              <a:gd name="T83" fmla="*/ 18 h 470"/>
              <a:gd name="T84" fmla="*/ 203 w 450"/>
              <a:gd name="T85" fmla="*/ 20 h 470"/>
              <a:gd name="T86" fmla="*/ 28 w 450"/>
              <a:gd name="T87" fmla="*/ 32 h 470"/>
              <a:gd name="T88" fmla="*/ 207 w 450"/>
              <a:gd name="T89" fmla="*/ 22 h 470"/>
              <a:gd name="T90" fmla="*/ 207 w 450"/>
              <a:gd name="T91" fmla="*/ 23 h 470"/>
              <a:gd name="T92" fmla="*/ 210 w 450"/>
              <a:gd name="T93" fmla="*/ 27 h 470"/>
              <a:gd name="T94" fmla="*/ 210 w 450"/>
              <a:gd name="T95" fmla="*/ 29 h 470"/>
              <a:gd name="T96" fmla="*/ 18 w 450"/>
              <a:gd name="T97" fmla="*/ 31 h 470"/>
              <a:gd name="T98" fmla="*/ 205 w 450"/>
              <a:gd name="T99" fmla="*/ 9 h 470"/>
              <a:gd name="T100" fmla="*/ 0 w 450"/>
              <a:gd name="T101" fmla="*/ 23 h 470"/>
              <a:gd name="T102" fmla="*/ 36 w 450"/>
              <a:gd name="T103" fmla="*/ 311 h 470"/>
              <a:gd name="T104" fmla="*/ 61 w 450"/>
              <a:gd name="T105" fmla="*/ 61 h 470"/>
              <a:gd name="T106" fmla="*/ 225 w 450"/>
              <a:gd name="T107" fmla="*/ 31 h 470"/>
              <a:gd name="T108" fmla="*/ 192 w 450"/>
              <a:gd name="T109" fmla="*/ 153 h 470"/>
              <a:gd name="T110" fmla="*/ 171 w 450"/>
              <a:gd name="T111" fmla="*/ 133 h 470"/>
              <a:gd name="T112" fmla="*/ 158 w 450"/>
              <a:gd name="T113" fmla="*/ 124 h 470"/>
              <a:gd name="T114" fmla="*/ 147 w 450"/>
              <a:gd name="T115" fmla="*/ 137 h 470"/>
              <a:gd name="T116" fmla="*/ 183 w 450"/>
              <a:gd name="T117" fmla="*/ 416 h 470"/>
              <a:gd name="T118" fmla="*/ 217 w 450"/>
              <a:gd name="T119" fmla="*/ 164 h 470"/>
              <a:gd name="T120" fmla="*/ 199 w 450"/>
              <a:gd name="T121" fmla="*/ 153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50" h="470">
                <a:moveTo>
                  <a:pt x="127" y="103"/>
                </a:moveTo>
                <a:lnTo>
                  <a:pt x="118" y="104"/>
                </a:lnTo>
                <a:lnTo>
                  <a:pt x="91" y="85"/>
                </a:lnTo>
                <a:lnTo>
                  <a:pt x="97" y="85"/>
                </a:lnTo>
                <a:lnTo>
                  <a:pt x="99" y="83"/>
                </a:lnTo>
                <a:lnTo>
                  <a:pt x="279" y="65"/>
                </a:lnTo>
                <a:lnTo>
                  <a:pt x="271" y="54"/>
                </a:lnTo>
                <a:lnTo>
                  <a:pt x="73" y="76"/>
                </a:lnTo>
                <a:lnTo>
                  <a:pt x="73" y="79"/>
                </a:lnTo>
                <a:lnTo>
                  <a:pt x="73" y="86"/>
                </a:lnTo>
                <a:lnTo>
                  <a:pt x="73" y="340"/>
                </a:lnTo>
                <a:lnTo>
                  <a:pt x="109" y="367"/>
                </a:lnTo>
                <a:lnTo>
                  <a:pt x="109" y="367"/>
                </a:lnTo>
                <a:lnTo>
                  <a:pt x="133" y="364"/>
                </a:lnTo>
                <a:lnTo>
                  <a:pt x="133" y="115"/>
                </a:lnTo>
                <a:lnTo>
                  <a:pt x="144" y="113"/>
                </a:lnTo>
                <a:lnTo>
                  <a:pt x="298" y="99"/>
                </a:lnTo>
                <a:lnTo>
                  <a:pt x="298" y="85"/>
                </a:lnTo>
                <a:lnTo>
                  <a:pt x="127" y="103"/>
                </a:lnTo>
                <a:close/>
                <a:moveTo>
                  <a:pt x="349" y="119"/>
                </a:moveTo>
                <a:lnTo>
                  <a:pt x="349" y="117"/>
                </a:lnTo>
                <a:lnTo>
                  <a:pt x="176" y="137"/>
                </a:lnTo>
                <a:lnTo>
                  <a:pt x="178" y="137"/>
                </a:lnTo>
                <a:lnTo>
                  <a:pt x="349" y="119"/>
                </a:lnTo>
                <a:close/>
                <a:moveTo>
                  <a:pt x="426" y="169"/>
                </a:moveTo>
                <a:lnTo>
                  <a:pt x="253" y="189"/>
                </a:lnTo>
                <a:lnTo>
                  <a:pt x="253" y="189"/>
                </a:lnTo>
                <a:lnTo>
                  <a:pt x="250" y="189"/>
                </a:lnTo>
                <a:lnTo>
                  <a:pt x="253" y="191"/>
                </a:lnTo>
                <a:lnTo>
                  <a:pt x="421" y="173"/>
                </a:lnTo>
                <a:lnTo>
                  <a:pt x="421" y="173"/>
                </a:lnTo>
                <a:lnTo>
                  <a:pt x="426" y="171"/>
                </a:lnTo>
                <a:lnTo>
                  <a:pt x="426" y="169"/>
                </a:lnTo>
                <a:close/>
                <a:moveTo>
                  <a:pt x="432" y="185"/>
                </a:moveTo>
                <a:lnTo>
                  <a:pt x="432" y="185"/>
                </a:lnTo>
                <a:lnTo>
                  <a:pt x="437" y="184"/>
                </a:lnTo>
                <a:lnTo>
                  <a:pt x="437" y="184"/>
                </a:lnTo>
                <a:lnTo>
                  <a:pt x="270" y="202"/>
                </a:lnTo>
                <a:lnTo>
                  <a:pt x="270" y="202"/>
                </a:lnTo>
                <a:lnTo>
                  <a:pt x="268" y="202"/>
                </a:lnTo>
                <a:lnTo>
                  <a:pt x="270" y="203"/>
                </a:lnTo>
                <a:lnTo>
                  <a:pt x="432" y="185"/>
                </a:lnTo>
                <a:close/>
                <a:moveTo>
                  <a:pt x="259" y="193"/>
                </a:moveTo>
                <a:lnTo>
                  <a:pt x="257" y="194"/>
                </a:lnTo>
                <a:lnTo>
                  <a:pt x="259" y="194"/>
                </a:lnTo>
                <a:lnTo>
                  <a:pt x="262" y="194"/>
                </a:lnTo>
                <a:lnTo>
                  <a:pt x="262" y="194"/>
                </a:lnTo>
                <a:lnTo>
                  <a:pt x="390" y="180"/>
                </a:lnTo>
                <a:lnTo>
                  <a:pt x="426" y="176"/>
                </a:lnTo>
                <a:lnTo>
                  <a:pt x="430" y="176"/>
                </a:lnTo>
                <a:lnTo>
                  <a:pt x="430" y="175"/>
                </a:lnTo>
                <a:lnTo>
                  <a:pt x="259" y="193"/>
                </a:lnTo>
                <a:lnTo>
                  <a:pt x="259" y="193"/>
                </a:lnTo>
                <a:close/>
                <a:moveTo>
                  <a:pt x="316" y="191"/>
                </a:moveTo>
                <a:lnTo>
                  <a:pt x="262" y="196"/>
                </a:lnTo>
                <a:lnTo>
                  <a:pt x="264" y="200"/>
                </a:lnTo>
                <a:lnTo>
                  <a:pt x="266" y="200"/>
                </a:lnTo>
                <a:lnTo>
                  <a:pt x="266" y="200"/>
                </a:lnTo>
                <a:lnTo>
                  <a:pt x="417" y="182"/>
                </a:lnTo>
                <a:lnTo>
                  <a:pt x="428" y="180"/>
                </a:lnTo>
                <a:lnTo>
                  <a:pt x="433" y="180"/>
                </a:lnTo>
                <a:lnTo>
                  <a:pt x="433" y="178"/>
                </a:lnTo>
                <a:lnTo>
                  <a:pt x="316" y="191"/>
                </a:lnTo>
                <a:close/>
                <a:moveTo>
                  <a:pt x="352" y="124"/>
                </a:moveTo>
                <a:lnTo>
                  <a:pt x="352" y="122"/>
                </a:lnTo>
                <a:lnTo>
                  <a:pt x="181" y="140"/>
                </a:lnTo>
                <a:lnTo>
                  <a:pt x="185" y="142"/>
                </a:lnTo>
                <a:lnTo>
                  <a:pt x="352" y="124"/>
                </a:lnTo>
                <a:close/>
                <a:moveTo>
                  <a:pt x="356" y="128"/>
                </a:moveTo>
                <a:lnTo>
                  <a:pt x="356" y="126"/>
                </a:lnTo>
                <a:lnTo>
                  <a:pt x="187" y="144"/>
                </a:lnTo>
                <a:lnTo>
                  <a:pt x="190" y="146"/>
                </a:lnTo>
                <a:lnTo>
                  <a:pt x="356" y="128"/>
                </a:lnTo>
                <a:close/>
                <a:moveTo>
                  <a:pt x="360" y="131"/>
                </a:moveTo>
                <a:lnTo>
                  <a:pt x="360" y="130"/>
                </a:lnTo>
                <a:lnTo>
                  <a:pt x="194" y="148"/>
                </a:lnTo>
                <a:lnTo>
                  <a:pt x="196" y="149"/>
                </a:lnTo>
                <a:lnTo>
                  <a:pt x="360" y="131"/>
                </a:lnTo>
                <a:close/>
                <a:moveTo>
                  <a:pt x="279" y="74"/>
                </a:moveTo>
                <a:lnTo>
                  <a:pt x="279" y="72"/>
                </a:lnTo>
                <a:lnTo>
                  <a:pt x="109" y="90"/>
                </a:lnTo>
                <a:lnTo>
                  <a:pt x="113" y="92"/>
                </a:lnTo>
                <a:lnTo>
                  <a:pt x="279" y="74"/>
                </a:lnTo>
                <a:close/>
                <a:moveTo>
                  <a:pt x="275" y="70"/>
                </a:moveTo>
                <a:lnTo>
                  <a:pt x="275" y="68"/>
                </a:lnTo>
                <a:lnTo>
                  <a:pt x="104" y="86"/>
                </a:lnTo>
                <a:lnTo>
                  <a:pt x="106" y="88"/>
                </a:lnTo>
                <a:lnTo>
                  <a:pt x="275" y="70"/>
                </a:lnTo>
                <a:close/>
                <a:moveTo>
                  <a:pt x="282" y="76"/>
                </a:moveTo>
                <a:lnTo>
                  <a:pt x="115" y="94"/>
                </a:lnTo>
                <a:lnTo>
                  <a:pt x="117" y="95"/>
                </a:lnTo>
                <a:lnTo>
                  <a:pt x="282" y="77"/>
                </a:lnTo>
                <a:lnTo>
                  <a:pt x="282" y="76"/>
                </a:lnTo>
                <a:close/>
                <a:moveTo>
                  <a:pt x="284" y="83"/>
                </a:moveTo>
                <a:lnTo>
                  <a:pt x="284" y="81"/>
                </a:lnTo>
                <a:lnTo>
                  <a:pt x="120" y="99"/>
                </a:lnTo>
                <a:lnTo>
                  <a:pt x="124" y="101"/>
                </a:lnTo>
                <a:lnTo>
                  <a:pt x="284" y="83"/>
                </a:lnTo>
                <a:close/>
                <a:moveTo>
                  <a:pt x="270" y="205"/>
                </a:moveTo>
                <a:lnTo>
                  <a:pt x="266" y="203"/>
                </a:lnTo>
                <a:lnTo>
                  <a:pt x="264" y="202"/>
                </a:lnTo>
                <a:lnTo>
                  <a:pt x="261" y="200"/>
                </a:lnTo>
                <a:lnTo>
                  <a:pt x="259" y="198"/>
                </a:lnTo>
                <a:lnTo>
                  <a:pt x="255" y="196"/>
                </a:lnTo>
                <a:lnTo>
                  <a:pt x="253" y="194"/>
                </a:lnTo>
                <a:lnTo>
                  <a:pt x="248" y="191"/>
                </a:lnTo>
                <a:lnTo>
                  <a:pt x="246" y="189"/>
                </a:lnTo>
                <a:lnTo>
                  <a:pt x="243" y="187"/>
                </a:lnTo>
                <a:lnTo>
                  <a:pt x="248" y="185"/>
                </a:lnTo>
                <a:lnTo>
                  <a:pt x="432" y="166"/>
                </a:lnTo>
                <a:lnTo>
                  <a:pt x="424" y="157"/>
                </a:lnTo>
                <a:lnTo>
                  <a:pt x="225" y="178"/>
                </a:lnTo>
                <a:lnTo>
                  <a:pt x="225" y="180"/>
                </a:lnTo>
                <a:lnTo>
                  <a:pt x="225" y="189"/>
                </a:lnTo>
                <a:lnTo>
                  <a:pt x="225" y="443"/>
                </a:lnTo>
                <a:lnTo>
                  <a:pt x="261" y="468"/>
                </a:lnTo>
                <a:lnTo>
                  <a:pt x="261" y="470"/>
                </a:lnTo>
                <a:lnTo>
                  <a:pt x="450" y="450"/>
                </a:lnTo>
                <a:lnTo>
                  <a:pt x="450" y="187"/>
                </a:lnTo>
                <a:lnTo>
                  <a:pt x="270" y="205"/>
                </a:lnTo>
                <a:close/>
                <a:moveTo>
                  <a:pt x="297" y="322"/>
                </a:moveTo>
                <a:lnTo>
                  <a:pt x="295" y="245"/>
                </a:lnTo>
                <a:lnTo>
                  <a:pt x="412" y="236"/>
                </a:lnTo>
                <a:lnTo>
                  <a:pt x="297" y="322"/>
                </a:lnTo>
                <a:close/>
                <a:moveTo>
                  <a:pt x="203" y="20"/>
                </a:moveTo>
                <a:lnTo>
                  <a:pt x="203" y="18"/>
                </a:lnTo>
                <a:lnTo>
                  <a:pt x="36" y="36"/>
                </a:lnTo>
                <a:lnTo>
                  <a:pt x="37" y="38"/>
                </a:lnTo>
                <a:lnTo>
                  <a:pt x="203" y="20"/>
                </a:lnTo>
                <a:close/>
                <a:moveTo>
                  <a:pt x="199" y="16"/>
                </a:moveTo>
                <a:lnTo>
                  <a:pt x="199" y="14"/>
                </a:lnTo>
                <a:lnTo>
                  <a:pt x="28" y="32"/>
                </a:lnTo>
                <a:lnTo>
                  <a:pt x="30" y="34"/>
                </a:lnTo>
                <a:lnTo>
                  <a:pt x="199" y="16"/>
                </a:lnTo>
                <a:close/>
                <a:moveTo>
                  <a:pt x="207" y="22"/>
                </a:moveTo>
                <a:lnTo>
                  <a:pt x="41" y="41"/>
                </a:lnTo>
                <a:lnTo>
                  <a:pt x="43" y="41"/>
                </a:lnTo>
                <a:lnTo>
                  <a:pt x="207" y="23"/>
                </a:lnTo>
                <a:lnTo>
                  <a:pt x="207" y="22"/>
                </a:lnTo>
                <a:close/>
                <a:moveTo>
                  <a:pt x="210" y="29"/>
                </a:moveTo>
                <a:lnTo>
                  <a:pt x="210" y="27"/>
                </a:lnTo>
                <a:lnTo>
                  <a:pt x="46" y="45"/>
                </a:lnTo>
                <a:lnTo>
                  <a:pt x="48" y="47"/>
                </a:lnTo>
                <a:lnTo>
                  <a:pt x="210" y="29"/>
                </a:lnTo>
                <a:close/>
                <a:moveTo>
                  <a:pt x="54" y="49"/>
                </a:moveTo>
                <a:lnTo>
                  <a:pt x="45" y="49"/>
                </a:lnTo>
                <a:lnTo>
                  <a:pt x="18" y="31"/>
                </a:lnTo>
                <a:lnTo>
                  <a:pt x="23" y="29"/>
                </a:lnTo>
                <a:lnTo>
                  <a:pt x="25" y="29"/>
                </a:lnTo>
                <a:lnTo>
                  <a:pt x="205" y="9"/>
                </a:lnTo>
                <a:lnTo>
                  <a:pt x="199" y="0"/>
                </a:lnTo>
                <a:lnTo>
                  <a:pt x="0" y="22"/>
                </a:lnTo>
                <a:lnTo>
                  <a:pt x="0" y="23"/>
                </a:lnTo>
                <a:lnTo>
                  <a:pt x="0" y="32"/>
                </a:lnTo>
                <a:lnTo>
                  <a:pt x="0" y="286"/>
                </a:lnTo>
                <a:lnTo>
                  <a:pt x="36" y="311"/>
                </a:lnTo>
                <a:lnTo>
                  <a:pt x="36" y="311"/>
                </a:lnTo>
                <a:lnTo>
                  <a:pt x="61" y="310"/>
                </a:lnTo>
                <a:lnTo>
                  <a:pt x="61" y="61"/>
                </a:lnTo>
                <a:lnTo>
                  <a:pt x="70" y="59"/>
                </a:lnTo>
                <a:lnTo>
                  <a:pt x="225" y="45"/>
                </a:lnTo>
                <a:lnTo>
                  <a:pt x="225" y="31"/>
                </a:lnTo>
                <a:lnTo>
                  <a:pt x="54" y="49"/>
                </a:lnTo>
                <a:close/>
                <a:moveTo>
                  <a:pt x="199" y="153"/>
                </a:moveTo>
                <a:lnTo>
                  <a:pt x="192" y="153"/>
                </a:lnTo>
                <a:lnTo>
                  <a:pt x="165" y="135"/>
                </a:lnTo>
                <a:lnTo>
                  <a:pt x="171" y="133"/>
                </a:lnTo>
                <a:lnTo>
                  <a:pt x="171" y="133"/>
                </a:lnTo>
                <a:lnTo>
                  <a:pt x="354" y="113"/>
                </a:lnTo>
                <a:lnTo>
                  <a:pt x="347" y="104"/>
                </a:lnTo>
                <a:lnTo>
                  <a:pt x="158" y="124"/>
                </a:lnTo>
                <a:lnTo>
                  <a:pt x="147" y="126"/>
                </a:lnTo>
                <a:lnTo>
                  <a:pt x="147" y="128"/>
                </a:lnTo>
                <a:lnTo>
                  <a:pt x="147" y="137"/>
                </a:lnTo>
                <a:lnTo>
                  <a:pt x="147" y="391"/>
                </a:lnTo>
                <a:lnTo>
                  <a:pt x="183" y="416"/>
                </a:lnTo>
                <a:lnTo>
                  <a:pt x="183" y="416"/>
                </a:lnTo>
                <a:lnTo>
                  <a:pt x="208" y="414"/>
                </a:lnTo>
                <a:lnTo>
                  <a:pt x="208" y="166"/>
                </a:lnTo>
                <a:lnTo>
                  <a:pt x="217" y="164"/>
                </a:lnTo>
                <a:lnTo>
                  <a:pt x="372" y="149"/>
                </a:lnTo>
                <a:lnTo>
                  <a:pt x="372" y="135"/>
                </a:lnTo>
                <a:lnTo>
                  <a:pt x="199" y="1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37160" tIns="68580" rIns="137160" bIns="6858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8" name="Freeform 27"/>
          <p:cNvSpPr>
            <a:spLocks noEditPoints="1"/>
          </p:cNvSpPr>
          <p:nvPr/>
        </p:nvSpPr>
        <p:spPr bwMode="auto">
          <a:xfrm>
            <a:off x="8223885" y="6704648"/>
            <a:ext cx="662940" cy="676275"/>
          </a:xfrm>
          <a:custGeom>
            <a:avLst/>
            <a:gdLst>
              <a:gd name="T0" fmla="*/ 230 w 245"/>
              <a:gd name="T1" fmla="*/ 4 h 250"/>
              <a:gd name="T2" fmla="*/ 243 w 245"/>
              <a:gd name="T3" fmla="*/ 12 h 250"/>
              <a:gd name="T4" fmla="*/ 244 w 245"/>
              <a:gd name="T5" fmla="*/ 12 h 250"/>
              <a:gd name="T6" fmla="*/ 183 w 245"/>
              <a:gd name="T7" fmla="*/ 221 h 250"/>
              <a:gd name="T8" fmla="*/ 30 w 245"/>
              <a:gd name="T9" fmla="*/ 238 h 250"/>
              <a:gd name="T10" fmla="*/ 29 w 245"/>
              <a:gd name="T11" fmla="*/ 238 h 250"/>
              <a:gd name="T12" fmla="*/ 29 w 245"/>
              <a:gd name="T13" fmla="*/ 238 h 250"/>
              <a:gd name="T14" fmla="*/ 29 w 245"/>
              <a:gd name="T15" fmla="*/ 238 h 250"/>
              <a:gd name="T16" fmla="*/ 25 w 245"/>
              <a:gd name="T17" fmla="*/ 237 h 250"/>
              <a:gd name="T18" fmla="*/ 12 w 245"/>
              <a:gd name="T19" fmla="*/ 221 h 250"/>
              <a:gd name="T20" fmla="*/ 13 w 245"/>
              <a:gd name="T21" fmla="*/ 220 h 250"/>
              <a:gd name="T22" fmla="*/ 187 w 245"/>
              <a:gd name="T23" fmla="*/ 203 h 250"/>
              <a:gd name="T24" fmla="*/ 189 w 245"/>
              <a:gd name="T25" fmla="*/ 203 h 250"/>
              <a:gd name="T26" fmla="*/ 195 w 245"/>
              <a:gd name="T27" fmla="*/ 145 h 250"/>
              <a:gd name="T28" fmla="*/ 163 w 245"/>
              <a:gd name="T29" fmla="*/ 145 h 250"/>
              <a:gd name="T30" fmla="*/ 130 w 245"/>
              <a:gd name="T31" fmla="*/ 126 h 250"/>
              <a:gd name="T32" fmla="*/ 195 w 245"/>
              <a:gd name="T33" fmla="*/ 25 h 250"/>
              <a:gd name="T34" fmla="*/ 187 w 245"/>
              <a:gd name="T35" fmla="*/ 19 h 250"/>
              <a:gd name="T36" fmla="*/ 93 w 245"/>
              <a:gd name="T37" fmla="*/ 19 h 250"/>
              <a:gd name="T38" fmla="*/ 66 w 245"/>
              <a:gd name="T39" fmla="*/ 74 h 250"/>
              <a:gd name="T40" fmla="*/ 37 w 245"/>
              <a:gd name="T41" fmla="*/ 19 h 250"/>
              <a:gd name="T42" fmla="*/ 30 w 245"/>
              <a:gd name="T43" fmla="*/ 19 h 250"/>
              <a:gd name="T44" fmla="*/ 0 w 245"/>
              <a:gd name="T45" fmla="*/ 49 h 250"/>
              <a:gd name="T46" fmla="*/ 0 w 245"/>
              <a:gd name="T47" fmla="*/ 156 h 250"/>
              <a:gd name="T48" fmla="*/ 0 w 245"/>
              <a:gd name="T49" fmla="*/ 220 h 250"/>
              <a:gd name="T50" fmla="*/ 1 w 245"/>
              <a:gd name="T51" fmla="*/ 228 h 250"/>
              <a:gd name="T52" fmla="*/ 27 w 245"/>
              <a:gd name="T53" fmla="*/ 250 h 250"/>
              <a:gd name="T54" fmla="*/ 27 w 245"/>
              <a:gd name="T55" fmla="*/ 250 h 250"/>
              <a:gd name="T56" fmla="*/ 28 w 245"/>
              <a:gd name="T57" fmla="*/ 250 h 250"/>
              <a:gd name="T58" fmla="*/ 29 w 245"/>
              <a:gd name="T59" fmla="*/ 250 h 250"/>
              <a:gd name="T60" fmla="*/ 195 w 245"/>
              <a:gd name="T61" fmla="*/ 244 h 250"/>
              <a:gd name="T62" fmla="*/ 189 w 245"/>
              <a:gd name="T63" fmla="*/ 215 h 250"/>
              <a:gd name="T64" fmla="*/ 131 w 245"/>
              <a:gd name="T65" fmla="*/ 130 h 250"/>
              <a:gd name="T66" fmla="*/ 127 w 245"/>
              <a:gd name="T67" fmla="*/ 157 h 250"/>
              <a:gd name="T68" fmla="*/ 126 w 245"/>
              <a:gd name="T69" fmla="*/ 166 h 250"/>
              <a:gd name="T70" fmla="*/ 126 w 245"/>
              <a:gd name="T71" fmla="*/ 166 h 250"/>
              <a:gd name="T72" fmla="*/ 129 w 245"/>
              <a:gd name="T73" fmla="*/ 167 h 250"/>
              <a:gd name="T74" fmla="*/ 159 w 245"/>
              <a:gd name="T75" fmla="*/ 146 h 250"/>
              <a:gd name="T76" fmla="*/ 142 w 245"/>
              <a:gd name="T77" fmla="*/ 136 h 250"/>
              <a:gd name="T78" fmla="*/ 129 w 245"/>
              <a:gd name="T79" fmla="*/ 155 h 250"/>
              <a:gd name="T80" fmla="*/ 129 w 245"/>
              <a:gd name="T81" fmla="*/ 155 h 250"/>
              <a:gd name="T82" fmla="*/ 132 w 245"/>
              <a:gd name="T83" fmla="*/ 157 h 250"/>
              <a:gd name="T84" fmla="*/ 134 w 245"/>
              <a:gd name="T85" fmla="*/ 158 h 250"/>
              <a:gd name="T86" fmla="*/ 132 w 245"/>
              <a:gd name="T87" fmla="*/ 157 h 250"/>
              <a:gd name="T88" fmla="*/ 144 w 245"/>
              <a:gd name="T89" fmla="*/ 133 h 250"/>
              <a:gd name="T90" fmla="*/ 151 w 245"/>
              <a:gd name="T91" fmla="*/ 138 h 250"/>
              <a:gd name="T92" fmla="*/ 157 w 245"/>
              <a:gd name="T93" fmla="*/ 141 h 250"/>
              <a:gd name="T94" fmla="*/ 161 w 245"/>
              <a:gd name="T95" fmla="*/ 143 h 250"/>
              <a:gd name="T96" fmla="*/ 243 w 245"/>
              <a:gd name="T97" fmla="*/ 12 h 250"/>
              <a:gd name="T98" fmla="*/ 238 w 245"/>
              <a:gd name="T99" fmla="*/ 8 h 250"/>
              <a:gd name="T100" fmla="*/ 230 w 245"/>
              <a:gd name="T101" fmla="*/ 4 h 250"/>
              <a:gd name="T102" fmla="*/ 225 w 245"/>
              <a:gd name="T103" fmla="*/ 1 h 250"/>
              <a:gd name="T104" fmla="*/ 133 w 245"/>
              <a:gd name="T105" fmla="*/ 127 h 250"/>
              <a:gd name="T106" fmla="*/ 176 w 245"/>
              <a:gd name="T107" fmla="*/ 216 h 250"/>
              <a:gd name="T108" fmla="*/ 24 w 245"/>
              <a:gd name="T109" fmla="*/ 221 h 250"/>
              <a:gd name="T110" fmla="*/ 176 w 245"/>
              <a:gd name="T111" fmla="*/ 216 h 250"/>
              <a:gd name="T112" fmla="*/ 24 w 245"/>
              <a:gd name="T113" fmla="*/ 209 h 250"/>
              <a:gd name="T114" fmla="*/ 176 w 245"/>
              <a:gd name="T115" fmla="*/ 214 h 250"/>
              <a:gd name="T116" fmla="*/ 176 w 245"/>
              <a:gd name="T117" fmla="*/ 229 h 250"/>
              <a:gd name="T118" fmla="*/ 24 w 245"/>
              <a:gd name="T119" fmla="*/ 234 h 250"/>
              <a:gd name="T120" fmla="*/ 176 w 245"/>
              <a:gd name="T121" fmla="*/ 229 h 250"/>
              <a:gd name="T122" fmla="*/ 24 w 245"/>
              <a:gd name="T123" fmla="*/ 223 h 250"/>
              <a:gd name="T124" fmla="*/ 176 w 245"/>
              <a:gd name="T125" fmla="*/ 227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5" h="250">
                <a:moveTo>
                  <a:pt x="230" y="4"/>
                </a:moveTo>
                <a:cubicBezTo>
                  <a:pt x="230" y="4"/>
                  <a:pt x="230" y="4"/>
                  <a:pt x="230" y="4"/>
                </a:cubicBezTo>
                <a:moveTo>
                  <a:pt x="238" y="8"/>
                </a:moveTo>
                <a:cubicBezTo>
                  <a:pt x="243" y="12"/>
                  <a:pt x="243" y="12"/>
                  <a:pt x="243" y="12"/>
                </a:cubicBezTo>
                <a:moveTo>
                  <a:pt x="243" y="12"/>
                </a:moveTo>
                <a:cubicBezTo>
                  <a:pt x="244" y="12"/>
                  <a:pt x="244" y="12"/>
                  <a:pt x="244" y="12"/>
                </a:cubicBezTo>
                <a:moveTo>
                  <a:pt x="189" y="215"/>
                </a:moveTo>
                <a:cubicBezTo>
                  <a:pt x="185" y="215"/>
                  <a:pt x="183" y="218"/>
                  <a:pt x="183" y="221"/>
                </a:cubicBezTo>
                <a:cubicBezTo>
                  <a:pt x="183" y="238"/>
                  <a:pt x="183" y="238"/>
                  <a:pt x="183" y="238"/>
                </a:cubicBezTo>
                <a:cubicBezTo>
                  <a:pt x="30" y="238"/>
                  <a:pt x="30" y="238"/>
                  <a:pt x="30" y="238"/>
                </a:cubicBezTo>
                <a:cubicBezTo>
                  <a:pt x="30" y="238"/>
                  <a:pt x="30" y="238"/>
                  <a:pt x="30" y="238"/>
                </a:cubicBezTo>
                <a:cubicBezTo>
                  <a:pt x="29" y="238"/>
                  <a:pt x="29" y="238"/>
                  <a:pt x="29" y="238"/>
                </a:cubicBezTo>
                <a:cubicBezTo>
                  <a:pt x="29" y="238"/>
                  <a:pt x="29" y="238"/>
                  <a:pt x="29" y="238"/>
                </a:cubicBezTo>
                <a:cubicBezTo>
                  <a:pt x="29" y="238"/>
                  <a:pt x="29" y="238"/>
                  <a:pt x="29" y="238"/>
                </a:cubicBezTo>
                <a:cubicBezTo>
                  <a:pt x="29" y="238"/>
                  <a:pt x="29" y="238"/>
                  <a:pt x="29" y="238"/>
                </a:cubicBezTo>
                <a:cubicBezTo>
                  <a:pt x="29" y="238"/>
                  <a:pt x="29" y="238"/>
                  <a:pt x="29" y="238"/>
                </a:cubicBezTo>
                <a:cubicBezTo>
                  <a:pt x="28" y="238"/>
                  <a:pt x="26" y="238"/>
                  <a:pt x="25" y="237"/>
                </a:cubicBezTo>
                <a:cubicBezTo>
                  <a:pt x="25" y="237"/>
                  <a:pt x="25" y="237"/>
                  <a:pt x="25" y="237"/>
                </a:cubicBezTo>
                <a:cubicBezTo>
                  <a:pt x="25" y="237"/>
                  <a:pt x="25" y="237"/>
                  <a:pt x="25" y="237"/>
                </a:cubicBezTo>
                <a:cubicBezTo>
                  <a:pt x="18" y="235"/>
                  <a:pt x="13" y="229"/>
                  <a:pt x="12" y="221"/>
                </a:cubicBezTo>
                <a:cubicBezTo>
                  <a:pt x="13" y="221"/>
                  <a:pt x="13" y="221"/>
                  <a:pt x="13" y="221"/>
                </a:cubicBezTo>
                <a:cubicBezTo>
                  <a:pt x="13" y="221"/>
                  <a:pt x="13" y="220"/>
                  <a:pt x="13" y="220"/>
                </a:cubicBezTo>
                <a:cubicBezTo>
                  <a:pt x="13" y="211"/>
                  <a:pt x="20" y="203"/>
                  <a:pt x="30" y="203"/>
                </a:cubicBezTo>
                <a:cubicBezTo>
                  <a:pt x="187" y="203"/>
                  <a:pt x="187" y="203"/>
                  <a:pt x="187" y="203"/>
                </a:cubicBezTo>
                <a:cubicBezTo>
                  <a:pt x="187" y="203"/>
                  <a:pt x="188" y="203"/>
                  <a:pt x="189" y="203"/>
                </a:cubicBezTo>
                <a:cubicBezTo>
                  <a:pt x="189" y="203"/>
                  <a:pt x="189" y="203"/>
                  <a:pt x="189" y="203"/>
                </a:cubicBezTo>
                <a:cubicBezTo>
                  <a:pt x="192" y="203"/>
                  <a:pt x="195" y="200"/>
                  <a:pt x="195" y="197"/>
                </a:cubicBezTo>
                <a:cubicBezTo>
                  <a:pt x="195" y="145"/>
                  <a:pt x="195" y="145"/>
                  <a:pt x="195" y="145"/>
                </a:cubicBezTo>
                <a:cubicBezTo>
                  <a:pt x="195" y="98"/>
                  <a:pt x="195" y="98"/>
                  <a:pt x="195" y="98"/>
                </a:cubicBezTo>
                <a:cubicBezTo>
                  <a:pt x="163" y="145"/>
                  <a:pt x="163" y="145"/>
                  <a:pt x="163" y="145"/>
                </a:cubicBezTo>
                <a:cubicBezTo>
                  <a:pt x="122" y="176"/>
                  <a:pt x="122" y="176"/>
                  <a:pt x="122" y="176"/>
                </a:cubicBezTo>
                <a:cubicBezTo>
                  <a:pt x="130" y="126"/>
                  <a:pt x="130" y="126"/>
                  <a:pt x="130" y="126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95" y="25"/>
                  <a:pt x="195" y="25"/>
                  <a:pt x="195" y="25"/>
                </a:cubicBezTo>
                <a:cubicBezTo>
                  <a:pt x="195" y="21"/>
                  <a:pt x="192" y="19"/>
                  <a:pt x="189" y="19"/>
                </a:cubicBezTo>
                <a:cubicBezTo>
                  <a:pt x="187" y="19"/>
                  <a:pt x="187" y="19"/>
                  <a:pt x="187" y="19"/>
                </a:cubicBezTo>
                <a:cubicBezTo>
                  <a:pt x="100" y="19"/>
                  <a:pt x="100" y="19"/>
                  <a:pt x="100" y="19"/>
                </a:cubicBezTo>
                <a:cubicBezTo>
                  <a:pt x="93" y="19"/>
                  <a:pt x="93" y="19"/>
                  <a:pt x="93" y="19"/>
                </a:cubicBezTo>
                <a:cubicBezTo>
                  <a:pt x="93" y="96"/>
                  <a:pt x="93" y="96"/>
                  <a:pt x="93" y="96"/>
                </a:cubicBezTo>
                <a:cubicBezTo>
                  <a:pt x="66" y="74"/>
                  <a:pt x="66" y="74"/>
                  <a:pt x="66" y="74"/>
                </a:cubicBezTo>
                <a:cubicBezTo>
                  <a:pt x="37" y="96"/>
                  <a:pt x="37" y="96"/>
                  <a:pt x="37" y="96"/>
                </a:cubicBezTo>
                <a:cubicBezTo>
                  <a:pt x="37" y="19"/>
                  <a:pt x="37" y="19"/>
                  <a:pt x="37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13" y="19"/>
                  <a:pt x="0" y="32"/>
                  <a:pt x="0" y="48"/>
                </a:cubicBezTo>
                <a:cubicBezTo>
                  <a:pt x="0" y="48"/>
                  <a:pt x="0" y="48"/>
                  <a:pt x="0" y="49"/>
                </a:cubicBezTo>
                <a:cubicBezTo>
                  <a:pt x="0" y="50"/>
                  <a:pt x="0" y="52"/>
                  <a:pt x="0" y="54"/>
                </a:cubicBezTo>
                <a:cubicBezTo>
                  <a:pt x="0" y="70"/>
                  <a:pt x="0" y="117"/>
                  <a:pt x="0" y="156"/>
                </a:cubicBezTo>
                <a:cubicBezTo>
                  <a:pt x="0" y="160"/>
                  <a:pt x="0" y="163"/>
                  <a:pt x="0" y="166"/>
                </a:cubicBezTo>
                <a:cubicBezTo>
                  <a:pt x="0" y="192"/>
                  <a:pt x="0" y="213"/>
                  <a:pt x="0" y="220"/>
                </a:cubicBezTo>
                <a:cubicBezTo>
                  <a:pt x="0" y="220"/>
                  <a:pt x="0" y="220"/>
                  <a:pt x="0" y="221"/>
                </a:cubicBezTo>
                <a:cubicBezTo>
                  <a:pt x="0" y="223"/>
                  <a:pt x="0" y="226"/>
                  <a:pt x="1" y="228"/>
                </a:cubicBezTo>
                <a:cubicBezTo>
                  <a:pt x="4" y="240"/>
                  <a:pt x="15" y="249"/>
                  <a:pt x="27" y="250"/>
                </a:cubicBezTo>
                <a:cubicBezTo>
                  <a:pt x="27" y="250"/>
                  <a:pt x="27" y="250"/>
                  <a:pt x="27" y="250"/>
                </a:cubicBezTo>
                <a:cubicBezTo>
                  <a:pt x="27" y="250"/>
                  <a:pt x="27" y="250"/>
                  <a:pt x="27" y="250"/>
                </a:cubicBezTo>
                <a:cubicBezTo>
                  <a:pt x="27" y="250"/>
                  <a:pt x="27" y="250"/>
                  <a:pt x="27" y="250"/>
                </a:cubicBezTo>
                <a:cubicBezTo>
                  <a:pt x="28" y="250"/>
                  <a:pt x="28" y="250"/>
                  <a:pt x="28" y="250"/>
                </a:cubicBezTo>
                <a:cubicBezTo>
                  <a:pt x="28" y="250"/>
                  <a:pt x="28" y="250"/>
                  <a:pt x="28" y="250"/>
                </a:cubicBezTo>
                <a:cubicBezTo>
                  <a:pt x="28" y="250"/>
                  <a:pt x="28" y="250"/>
                  <a:pt x="28" y="250"/>
                </a:cubicBezTo>
                <a:cubicBezTo>
                  <a:pt x="28" y="250"/>
                  <a:pt x="29" y="250"/>
                  <a:pt x="29" y="250"/>
                </a:cubicBezTo>
                <a:cubicBezTo>
                  <a:pt x="189" y="250"/>
                  <a:pt x="189" y="250"/>
                  <a:pt x="189" y="250"/>
                </a:cubicBezTo>
                <a:cubicBezTo>
                  <a:pt x="192" y="250"/>
                  <a:pt x="195" y="247"/>
                  <a:pt x="195" y="244"/>
                </a:cubicBezTo>
                <a:cubicBezTo>
                  <a:pt x="195" y="221"/>
                  <a:pt x="195" y="221"/>
                  <a:pt x="195" y="221"/>
                </a:cubicBezTo>
                <a:cubicBezTo>
                  <a:pt x="195" y="218"/>
                  <a:pt x="192" y="215"/>
                  <a:pt x="189" y="215"/>
                </a:cubicBezTo>
                <a:close/>
                <a:moveTo>
                  <a:pt x="142" y="136"/>
                </a:moveTo>
                <a:cubicBezTo>
                  <a:pt x="131" y="130"/>
                  <a:pt x="131" y="130"/>
                  <a:pt x="131" y="130"/>
                </a:cubicBezTo>
                <a:cubicBezTo>
                  <a:pt x="128" y="154"/>
                  <a:pt x="128" y="154"/>
                  <a:pt x="128" y="154"/>
                </a:cubicBezTo>
                <a:cubicBezTo>
                  <a:pt x="127" y="157"/>
                  <a:pt x="127" y="157"/>
                  <a:pt x="127" y="157"/>
                </a:cubicBezTo>
                <a:cubicBezTo>
                  <a:pt x="127" y="157"/>
                  <a:pt x="127" y="157"/>
                  <a:pt x="127" y="157"/>
                </a:cubicBezTo>
                <a:cubicBezTo>
                  <a:pt x="126" y="166"/>
                  <a:pt x="126" y="166"/>
                  <a:pt x="126" y="166"/>
                </a:cubicBezTo>
                <a:cubicBezTo>
                  <a:pt x="126" y="166"/>
                  <a:pt x="126" y="166"/>
                  <a:pt x="126" y="166"/>
                </a:cubicBezTo>
                <a:cubicBezTo>
                  <a:pt x="126" y="166"/>
                  <a:pt x="126" y="166"/>
                  <a:pt x="126" y="166"/>
                </a:cubicBezTo>
                <a:cubicBezTo>
                  <a:pt x="126" y="170"/>
                  <a:pt x="126" y="170"/>
                  <a:pt x="126" y="170"/>
                </a:cubicBezTo>
                <a:cubicBezTo>
                  <a:pt x="129" y="167"/>
                  <a:pt x="129" y="167"/>
                  <a:pt x="129" y="167"/>
                </a:cubicBezTo>
                <a:cubicBezTo>
                  <a:pt x="139" y="160"/>
                  <a:pt x="139" y="160"/>
                  <a:pt x="139" y="160"/>
                </a:cubicBezTo>
                <a:cubicBezTo>
                  <a:pt x="159" y="146"/>
                  <a:pt x="159" y="146"/>
                  <a:pt x="159" y="146"/>
                </a:cubicBezTo>
                <a:cubicBezTo>
                  <a:pt x="151" y="141"/>
                  <a:pt x="151" y="141"/>
                  <a:pt x="151" y="141"/>
                </a:cubicBezTo>
                <a:lnTo>
                  <a:pt x="142" y="136"/>
                </a:lnTo>
                <a:close/>
                <a:moveTo>
                  <a:pt x="129" y="155"/>
                </a:moveTo>
                <a:cubicBezTo>
                  <a:pt x="129" y="155"/>
                  <a:pt x="129" y="155"/>
                  <a:pt x="129" y="155"/>
                </a:cubicBezTo>
                <a:cubicBezTo>
                  <a:pt x="132" y="157"/>
                  <a:pt x="132" y="157"/>
                  <a:pt x="132" y="157"/>
                </a:cubicBezTo>
                <a:lnTo>
                  <a:pt x="129" y="155"/>
                </a:lnTo>
                <a:close/>
                <a:moveTo>
                  <a:pt x="132" y="157"/>
                </a:moveTo>
                <a:cubicBezTo>
                  <a:pt x="132" y="157"/>
                  <a:pt x="132" y="157"/>
                  <a:pt x="132" y="157"/>
                </a:cubicBezTo>
                <a:close/>
                <a:moveTo>
                  <a:pt x="132" y="157"/>
                </a:moveTo>
                <a:cubicBezTo>
                  <a:pt x="134" y="158"/>
                  <a:pt x="134" y="158"/>
                  <a:pt x="134" y="158"/>
                </a:cubicBezTo>
                <a:cubicBezTo>
                  <a:pt x="134" y="158"/>
                  <a:pt x="134" y="158"/>
                  <a:pt x="134" y="158"/>
                </a:cubicBezTo>
                <a:lnTo>
                  <a:pt x="132" y="157"/>
                </a:lnTo>
                <a:close/>
                <a:moveTo>
                  <a:pt x="138" y="130"/>
                </a:moveTo>
                <a:cubicBezTo>
                  <a:pt x="144" y="133"/>
                  <a:pt x="144" y="133"/>
                  <a:pt x="144" y="133"/>
                </a:cubicBezTo>
                <a:cubicBezTo>
                  <a:pt x="144" y="133"/>
                  <a:pt x="144" y="133"/>
                  <a:pt x="144" y="133"/>
                </a:cubicBezTo>
                <a:cubicBezTo>
                  <a:pt x="151" y="138"/>
                  <a:pt x="151" y="138"/>
                  <a:pt x="151" y="138"/>
                </a:cubicBezTo>
                <a:cubicBezTo>
                  <a:pt x="151" y="138"/>
                  <a:pt x="151" y="138"/>
                  <a:pt x="151" y="138"/>
                </a:cubicBezTo>
                <a:cubicBezTo>
                  <a:pt x="157" y="141"/>
                  <a:pt x="157" y="141"/>
                  <a:pt x="157" y="141"/>
                </a:cubicBezTo>
                <a:cubicBezTo>
                  <a:pt x="157" y="141"/>
                  <a:pt x="157" y="141"/>
                  <a:pt x="157" y="141"/>
                </a:cubicBezTo>
                <a:cubicBezTo>
                  <a:pt x="161" y="143"/>
                  <a:pt x="161" y="143"/>
                  <a:pt x="161" y="143"/>
                </a:cubicBezTo>
                <a:cubicBezTo>
                  <a:pt x="242" y="22"/>
                  <a:pt x="242" y="22"/>
                  <a:pt x="242" y="22"/>
                </a:cubicBezTo>
                <a:cubicBezTo>
                  <a:pt x="245" y="18"/>
                  <a:pt x="245" y="14"/>
                  <a:pt x="243" y="12"/>
                </a:cubicBezTo>
                <a:cubicBezTo>
                  <a:pt x="243" y="12"/>
                  <a:pt x="243" y="12"/>
                  <a:pt x="243" y="12"/>
                </a:cubicBezTo>
                <a:cubicBezTo>
                  <a:pt x="238" y="8"/>
                  <a:pt x="238" y="8"/>
                  <a:pt x="238" y="8"/>
                </a:cubicBezTo>
                <a:cubicBezTo>
                  <a:pt x="230" y="4"/>
                  <a:pt x="230" y="4"/>
                  <a:pt x="230" y="4"/>
                </a:cubicBezTo>
                <a:cubicBezTo>
                  <a:pt x="230" y="4"/>
                  <a:pt x="230" y="4"/>
                  <a:pt x="230" y="4"/>
                </a:cubicBezTo>
                <a:cubicBezTo>
                  <a:pt x="225" y="1"/>
                  <a:pt x="225" y="1"/>
                  <a:pt x="225" y="1"/>
                </a:cubicBezTo>
                <a:cubicBezTo>
                  <a:pt x="225" y="1"/>
                  <a:pt x="225" y="1"/>
                  <a:pt x="225" y="1"/>
                </a:cubicBezTo>
                <a:cubicBezTo>
                  <a:pt x="222" y="0"/>
                  <a:pt x="217" y="2"/>
                  <a:pt x="214" y="6"/>
                </a:cubicBezTo>
                <a:cubicBezTo>
                  <a:pt x="133" y="127"/>
                  <a:pt x="133" y="127"/>
                  <a:pt x="133" y="127"/>
                </a:cubicBezTo>
                <a:cubicBezTo>
                  <a:pt x="138" y="130"/>
                  <a:pt x="138" y="130"/>
                  <a:pt x="138" y="130"/>
                </a:cubicBezTo>
                <a:close/>
                <a:moveTo>
                  <a:pt x="176" y="216"/>
                </a:moveTo>
                <a:cubicBezTo>
                  <a:pt x="24" y="216"/>
                  <a:pt x="24" y="216"/>
                  <a:pt x="24" y="216"/>
                </a:cubicBezTo>
                <a:cubicBezTo>
                  <a:pt x="24" y="221"/>
                  <a:pt x="24" y="221"/>
                  <a:pt x="24" y="221"/>
                </a:cubicBezTo>
                <a:cubicBezTo>
                  <a:pt x="176" y="221"/>
                  <a:pt x="176" y="221"/>
                  <a:pt x="176" y="221"/>
                </a:cubicBezTo>
                <a:lnTo>
                  <a:pt x="176" y="216"/>
                </a:lnTo>
                <a:close/>
                <a:moveTo>
                  <a:pt x="176" y="209"/>
                </a:moveTo>
                <a:cubicBezTo>
                  <a:pt x="24" y="209"/>
                  <a:pt x="24" y="209"/>
                  <a:pt x="24" y="209"/>
                </a:cubicBezTo>
                <a:cubicBezTo>
                  <a:pt x="24" y="214"/>
                  <a:pt x="24" y="214"/>
                  <a:pt x="24" y="214"/>
                </a:cubicBezTo>
                <a:cubicBezTo>
                  <a:pt x="176" y="214"/>
                  <a:pt x="176" y="214"/>
                  <a:pt x="176" y="214"/>
                </a:cubicBezTo>
                <a:lnTo>
                  <a:pt x="176" y="209"/>
                </a:lnTo>
                <a:close/>
                <a:moveTo>
                  <a:pt x="176" y="229"/>
                </a:moveTo>
                <a:cubicBezTo>
                  <a:pt x="24" y="229"/>
                  <a:pt x="24" y="229"/>
                  <a:pt x="24" y="229"/>
                </a:cubicBezTo>
                <a:cubicBezTo>
                  <a:pt x="24" y="234"/>
                  <a:pt x="24" y="234"/>
                  <a:pt x="24" y="234"/>
                </a:cubicBezTo>
                <a:cubicBezTo>
                  <a:pt x="176" y="234"/>
                  <a:pt x="176" y="234"/>
                  <a:pt x="176" y="234"/>
                </a:cubicBezTo>
                <a:lnTo>
                  <a:pt x="176" y="229"/>
                </a:lnTo>
                <a:close/>
                <a:moveTo>
                  <a:pt x="176" y="223"/>
                </a:moveTo>
                <a:cubicBezTo>
                  <a:pt x="24" y="223"/>
                  <a:pt x="24" y="223"/>
                  <a:pt x="24" y="223"/>
                </a:cubicBezTo>
                <a:cubicBezTo>
                  <a:pt x="24" y="227"/>
                  <a:pt x="24" y="227"/>
                  <a:pt x="24" y="227"/>
                </a:cubicBezTo>
                <a:cubicBezTo>
                  <a:pt x="176" y="227"/>
                  <a:pt x="176" y="227"/>
                  <a:pt x="176" y="227"/>
                </a:cubicBezTo>
                <a:lnTo>
                  <a:pt x="176" y="2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37160" tIns="68580" rIns="137160" bIns="6858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80191BD-B7C1-2625-5965-C69D1F259094}"/>
              </a:ext>
            </a:extLst>
          </p:cNvPr>
          <p:cNvSpPr/>
          <p:nvPr/>
        </p:nvSpPr>
        <p:spPr>
          <a:xfrm>
            <a:off x="8173094" y="3035194"/>
            <a:ext cx="626411" cy="626643"/>
          </a:xfrm>
          <a:custGeom>
            <a:avLst/>
            <a:gdLst>
              <a:gd name="csX0" fmla="*/ 477669 w 1252607"/>
              <a:gd name="csY0" fmla="*/ 803136 h 1253071"/>
              <a:gd name="csX1" fmla="*/ 477695 w 1252607"/>
              <a:gd name="csY1" fmla="*/ 803139 h 1253071"/>
              <a:gd name="csX2" fmla="*/ 477643 w 1252607"/>
              <a:gd name="csY2" fmla="*/ 803139 h 1253071"/>
              <a:gd name="csX3" fmla="*/ 479199 w 1252607"/>
              <a:gd name="csY3" fmla="*/ 200390 h 1253071"/>
              <a:gd name="csX4" fmla="*/ 432642 w 1252607"/>
              <a:gd name="csY4" fmla="*/ 240199 h 1253071"/>
              <a:gd name="csX5" fmla="*/ 477123 w 1252607"/>
              <a:gd name="csY5" fmla="*/ 280995 h 1253071"/>
              <a:gd name="csX6" fmla="*/ 662780 w 1252607"/>
              <a:gd name="csY6" fmla="*/ 416410 h 1253071"/>
              <a:gd name="csX7" fmla="*/ 674874 w 1252607"/>
              <a:gd name="csY7" fmla="*/ 486323 h 1253071"/>
              <a:gd name="csX8" fmla="*/ 706067 w 1252607"/>
              <a:gd name="csY8" fmla="*/ 521773 h 1253071"/>
              <a:gd name="csX9" fmla="*/ 747692 w 1252607"/>
              <a:gd name="csY9" fmla="*/ 504697 h 1253071"/>
              <a:gd name="csX10" fmla="*/ 756879 w 1252607"/>
              <a:gd name="csY10" fmla="*/ 473607 h 1253071"/>
              <a:gd name="csX11" fmla="*/ 756827 w 1252607"/>
              <a:gd name="csY11" fmla="*/ 473659 h 1253071"/>
              <a:gd name="csX12" fmla="*/ 479199 w 1252607"/>
              <a:gd name="csY12" fmla="*/ 200390 h 1253071"/>
              <a:gd name="csX13" fmla="*/ 477745 w 1252607"/>
              <a:gd name="csY13" fmla="*/ 147864 h 1253071"/>
              <a:gd name="csX14" fmla="*/ 805253 w 1252607"/>
              <a:gd name="csY14" fmla="*/ 475424 h 1253071"/>
              <a:gd name="csX15" fmla="*/ 543497 w 1252607"/>
              <a:gd name="csY15" fmla="*/ 796415 h 1253071"/>
              <a:gd name="csX16" fmla="*/ 477669 w 1252607"/>
              <a:gd name="csY16" fmla="*/ 803136 h 1253071"/>
              <a:gd name="csX17" fmla="*/ 411766 w 1252607"/>
              <a:gd name="csY17" fmla="*/ 796495 h 1253071"/>
              <a:gd name="csX18" fmla="*/ 150342 w 1252607"/>
              <a:gd name="csY18" fmla="*/ 474074 h 1253071"/>
              <a:gd name="csX19" fmla="*/ 477745 w 1252607"/>
              <a:gd name="csY19" fmla="*/ 147864 h 1253071"/>
              <a:gd name="csX20" fmla="*/ 479146 w 1252607"/>
              <a:gd name="csY20" fmla="*/ 112467 h 1253071"/>
              <a:gd name="csX21" fmla="*/ 112660 w 1252607"/>
              <a:gd name="csY21" fmla="*/ 477344 h 1253071"/>
              <a:gd name="csX22" fmla="*/ 112608 w 1252607"/>
              <a:gd name="csY22" fmla="*/ 477344 h 1253071"/>
              <a:gd name="csX23" fmla="*/ 476293 w 1252607"/>
              <a:gd name="csY23" fmla="*/ 842845 h 1253071"/>
              <a:gd name="csX24" fmla="*/ 842934 w 1252607"/>
              <a:gd name="csY24" fmla="*/ 480147 h 1253071"/>
              <a:gd name="csX25" fmla="*/ 479146 w 1252607"/>
              <a:gd name="csY25" fmla="*/ 112467 h 1253071"/>
              <a:gd name="csX26" fmla="*/ 463492 w 1252607"/>
              <a:gd name="csY26" fmla="*/ 201 h 1253071"/>
              <a:gd name="csX27" fmla="*/ 787451 w 1252607"/>
              <a:gd name="csY27" fmla="*/ 112726 h 1253071"/>
              <a:gd name="csX28" fmla="*/ 894500 w 1252607"/>
              <a:gd name="csY28" fmla="*/ 713368 h 1253071"/>
              <a:gd name="csX29" fmla="*/ 836059 w 1252607"/>
              <a:gd name="csY29" fmla="*/ 795314 h 1253071"/>
              <a:gd name="csX30" fmla="*/ 836031 w 1252607"/>
              <a:gd name="csY30" fmla="*/ 795302 h 1253071"/>
              <a:gd name="csX31" fmla="*/ 836031 w 1252607"/>
              <a:gd name="csY31" fmla="*/ 795354 h 1253071"/>
              <a:gd name="csX32" fmla="*/ 836059 w 1252607"/>
              <a:gd name="csY32" fmla="*/ 795314 h 1253071"/>
              <a:gd name="csX33" fmla="*/ 888635 w 1252607"/>
              <a:gd name="csY33" fmla="*/ 817659 h 1253071"/>
              <a:gd name="csX34" fmla="*/ 944821 w 1252607"/>
              <a:gd name="csY34" fmla="*/ 815648 h 1253071"/>
              <a:gd name="csX35" fmla="*/ 964232 w 1252607"/>
              <a:gd name="csY35" fmla="*/ 820683 h 1253071"/>
              <a:gd name="csX36" fmla="*/ 1084283 w 1252607"/>
              <a:gd name="csY36" fmla="*/ 940993 h 1253071"/>
              <a:gd name="csX37" fmla="*/ 1218453 w 1252607"/>
              <a:gd name="csY37" fmla="*/ 1075059 h 1253071"/>
              <a:gd name="csX38" fmla="*/ 1203556 w 1252607"/>
              <a:gd name="csY38" fmla="*/ 1238553 h 1253071"/>
              <a:gd name="csX39" fmla="*/ 1077276 w 1252607"/>
              <a:gd name="csY39" fmla="*/ 1220491 h 1253071"/>
              <a:gd name="csX40" fmla="*/ 821187 w 1252607"/>
              <a:gd name="csY40" fmla="*/ 964506 h 1253071"/>
              <a:gd name="csX41" fmla="*/ 815633 w 1252607"/>
              <a:gd name="csY41" fmla="*/ 945250 h 1253071"/>
              <a:gd name="csX42" fmla="*/ 795496 w 1252607"/>
              <a:gd name="csY42" fmla="*/ 836201 h 1253071"/>
              <a:gd name="csX43" fmla="*/ 101448 w 1252607"/>
              <a:gd name="csY43" fmla="*/ 773607 h 1253071"/>
              <a:gd name="csX44" fmla="*/ 147279 w 1252607"/>
              <a:gd name="csY44" fmla="*/ 131827 h 1253071"/>
              <a:gd name="csX45" fmla="*/ 463492 w 1252607"/>
              <a:gd name="csY45" fmla="*/ 201 h 1253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252607" h="1253071">
                <a:moveTo>
                  <a:pt x="477669" y="803136"/>
                </a:moveTo>
                <a:lnTo>
                  <a:pt x="477695" y="803139"/>
                </a:lnTo>
                <a:lnTo>
                  <a:pt x="477643" y="803139"/>
                </a:lnTo>
                <a:close/>
                <a:moveTo>
                  <a:pt x="479199" y="200390"/>
                </a:moveTo>
                <a:cubicBezTo>
                  <a:pt x="452365" y="199611"/>
                  <a:pt x="433006" y="216168"/>
                  <a:pt x="432642" y="240199"/>
                </a:cubicBezTo>
                <a:cubicBezTo>
                  <a:pt x="432279" y="263452"/>
                  <a:pt x="450756" y="280424"/>
                  <a:pt x="477123" y="280995"/>
                </a:cubicBezTo>
                <a:cubicBezTo>
                  <a:pt x="561413" y="282812"/>
                  <a:pt x="635947" y="336116"/>
                  <a:pt x="662780" y="416410"/>
                </a:cubicBezTo>
                <a:cubicBezTo>
                  <a:pt x="670202" y="438624"/>
                  <a:pt x="671499" y="462915"/>
                  <a:pt x="674874" y="486323"/>
                </a:cubicBezTo>
                <a:cubicBezTo>
                  <a:pt x="677469" y="504074"/>
                  <a:pt x="688939" y="517828"/>
                  <a:pt x="706067" y="521773"/>
                </a:cubicBezTo>
                <a:cubicBezTo>
                  <a:pt x="721638" y="525406"/>
                  <a:pt x="739907" y="519074"/>
                  <a:pt x="747692" y="504697"/>
                </a:cubicBezTo>
                <a:cubicBezTo>
                  <a:pt x="752728" y="495406"/>
                  <a:pt x="753922" y="484039"/>
                  <a:pt x="756879" y="473607"/>
                </a:cubicBezTo>
                <a:lnTo>
                  <a:pt x="756827" y="473659"/>
                </a:lnTo>
                <a:cubicBezTo>
                  <a:pt x="751741" y="326203"/>
                  <a:pt x="629147" y="204802"/>
                  <a:pt x="479199" y="200390"/>
                </a:cubicBezTo>
                <a:close/>
                <a:moveTo>
                  <a:pt x="477745" y="147864"/>
                </a:moveTo>
                <a:cubicBezTo>
                  <a:pt x="658108" y="147708"/>
                  <a:pt x="805097" y="294749"/>
                  <a:pt x="805253" y="475424"/>
                </a:cubicBezTo>
                <a:cubicBezTo>
                  <a:pt x="805435" y="633014"/>
                  <a:pt x="692522" y="765649"/>
                  <a:pt x="543497" y="796415"/>
                </a:cubicBezTo>
                <a:lnTo>
                  <a:pt x="477669" y="803136"/>
                </a:lnTo>
                <a:lnTo>
                  <a:pt x="411766" y="796495"/>
                </a:lnTo>
                <a:cubicBezTo>
                  <a:pt x="262699" y="765912"/>
                  <a:pt x="150570" y="633345"/>
                  <a:pt x="150342" y="474074"/>
                </a:cubicBezTo>
                <a:cubicBezTo>
                  <a:pt x="150083" y="294905"/>
                  <a:pt x="297486" y="147968"/>
                  <a:pt x="477745" y="147864"/>
                </a:cubicBezTo>
                <a:close/>
                <a:moveTo>
                  <a:pt x="479146" y="112467"/>
                </a:moveTo>
                <a:cubicBezTo>
                  <a:pt x="276985" y="111740"/>
                  <a:pt x="113386" y="274612"/>
                  <a:pt x="112660" y="477344"/>
                </a:cubicBezTo>
                <a:lnTo>
                  <a:pt x="112608" y="477344"/>
                </a:lnTo>
                <a:cubicBezTo>
                  <a:pt x="111933" y="677638"/>
                  <a:pt x="275479" y="842066"/>
                  <a:pt x="476293" y="842845"/>
                </a:cubicBezTo>
                <a:cubicBezTo>
                  <a:pt x="676845" y="843624"/>
                  <a:pt x="842001" y="680285"/>
                  <a:pt x="842934" y="480147"/>
                </a:cubicBezTo>
                <a:cubicBezTo>
                  <a:pt x="843868" y="277726"/>
                  <a:pt x="681101" y="113193"/>
                  <a:pt x="479146" y="112467"/>
                </a:cubicBezTo>
                <a:close/>
                <a:moveTo>
                  <a:pt x="463492" y="201"/>
                </a:moveTo>
                <a:cubicBezTo>
                  <a:pt x="578632" y="-3108"/>
                  <a:pt x="695064" y="34275"/>
                  <a:pt x="787451" y="112726"/>
                </a:cubicBezTo>
                <a:cubicBezTo>
                  <a:pt x="958710" y="258190"/>
                  <a:pt x="1007537" y="513134"/>
                  <a:pt x="894500" y="713368"/>
                </a:cubicBezTo>
                <a:lnTo>
                  <a:pt x="836059" y="795314"/>
                </a:lnTo>
                <a:lnTo>
                  <a:pt x="836031" y="795302"/>
                </a:lnTo>
                <a:lnTo>
                  <a:pt x="836031" y="795354"/>
                </a:lnTo>
                <a:lnTo>
                  <a:pt x="836059" y="795314"/>
                </a:lnTo>
                <a:lnTo>
                  <a:pt x="888635" y="817659"/>
                </a:lnTo>
                <a:cubicBezTo>
                  <a:pt x="906736" y="821085"/>
                  <a:pt x="925434" y="820449"/>
                  <a:pt x="944821" y="815648"/>
                </a:cubicBezTo>
                <a:cubicBezTo>
                  <a:pt x="953124" y="813572"/>
                  <a:pt x="958418" y="814817"/>
                  <a:pt x="964232" y="820683"/>
                </a:cubicBezTo>
                <a:cubicBezTo>
                  <a:pt x="1004145" y="860907"/>
                  <a:pt x="1044266" y="900924"/>
                  <a:pt x="1084283" y="940993"/>
                </a:cubicBezTo>
                <a:cubicBezTo>
                  <a:pt x="1128972" y="985682"/>
                  <a:pt x="1173400" y="1030682"/>
                  <a:pt x="1218453" y="1075059"/>
                </a:cubicBezTo>
                <a:cubicBezTo>
                  <a:pt x="1269317" y="1125145"/>
                  <a:pt x="1262570" y="1202013"/>
                  <a:pt x="1203556" y="1238553"/>
                </a:cubicBezTo>
                <a:cubicBezTo>
                  <a:pt x="1163903" y="1263103"/>
                  <a:pt x="1113090" y="1256148"/>
                  <a:pt x="1077276" y="1220491"/>
                </a:cubicBezTo>
                <a:cubicBezTo>
                  <a:pt x="991792" y="1135266"/>
                  <a:pt x="906619" y="1049730"/>
                  <a:pt x="821187" y="964506"/>
                </a:cubicBezTo>
                <a:cubicBezTo>
                  <a:pt x="815478" y="958796"/>
                  <a:pt x="813506" y="953814"/>
                  <a:pt x="815633" y="945250"/>
                </a:cubicBezTo>
                <a:cubicBezTo>
                  <a:pt x="825444" y="906115"/>
                  <a:pt x="818384" y="869679"/>
                  <a:pt x="795496" y="836201"/>
                </a:cubicBezTo>
                <a:cubicBezTo>
                  <a:pt x="583887" y="1027412"/>
                  <a:pt x="260064" y="977066"/>
                  <a:pt x="101448" y="773607"/>
                </a:cubicBezTo>
                <a:cubicBezTo>
                  <a:pt x="-49121" y="580476"/>
                  <a:pt x="-30644" y="303833"/>
                  <a:pt x="147279" y="131827"/>
                </a:cubicBezTo>
                <a:cubicBezTo>
                  <a:pt x="234503" y="47510"/>
                  <a:pt x="348352" y="3510"/>
                  <a:pt x="463492" y="201"/>
                </a:cubicBezTo>
                <a:close/>
              </a:path>
            </a:pathLst>
          </a:custGeom>
          <a:solidFill>
            <a:srgbClr val="4F81BD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>
              <a:gradFill flip="none" rotWithShape="1">
                <a:gsLst>
                  <a:gs pos="0">
                    <a:srgbClr val="5151B3">
                      <a:lumMod val="100000"/>
                    </a:srgbClr>
                  </a:gs>
                  <a:gs pos="100000">
                    <a:srgbClr val="5179B3">
                      <a:lumMod val="100000"/>
                    </a:srgbClr>
                  </a:gs>
                </a:gsLst>
                <a:lin ang="10800000" scaled="1"/>
                <a:tileRect/>
              </a:gradFill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47928F0-1DFD-9DB5-2477-EC4F98F61286}"/>
              </a:ext>
            </a:extLst>
          </p:cNvPr>
          <p:cNvSpPr/>
          <p:nvPr/>
        </p:nvSpPr>
        <p:spPr>
          <a:xfrm>
            <a:off x="8302999" y="4721916"/>
            <a:ext cx="399038" cy="948691"/>
          </a:xfrm>
          <a:custGeom>
            <a:avLst/>
            <a:gdLst>
              <a:gd name="csX0" fmla="*/ 628204 w 790140"/>
              <a:gd name="csY0" fmla="*/ 399955 h 2044005"/>
              <a:gd name="csX1" fmla="*/ 786605 w 790140"/>
              <a:gd name="csY1" fmla="*/ 552355 h 2044005"/>
              <a:gd name="csX2" fmla="*/ 786796 w 790140"/>
              <a:gd name="csY2" fmla="*/ 552546 h 2044005"/>
              <a:gd name="csX3" fmla="*/ 789843 w 790140"/>
              <a:gd name="csY3" fmla="*/ 1123665 h 2044005"/>
              <a:gd name="csX4" fmla="*/ 671829 w 790140"/>
              <a:gd name="csY4" fmla="*/ 1191578 h 2044005"/>
              <a:gd name="csX5" fmla="*/ 635443 w 790140"/>
              <a:gd name="csY5" fmla="*/ 1112521 h 2044005"/>
              <a:gd name="csX6" fmla="*/ 635443 w 790140"/>
              <a:gd name="csY6" fmla="*/ 676371 h 2044005"/>
              <a:gd name="csX7" fmla="*/ 635443 w 790140"/>
              <a:gd name="csY7" fmla="*/ 645700 h 2044005"/>
              <a:gd name="csX8" fmla="*/ 608011 w 790140"/>
              <a:gd name="csY8" fmla="*/ 645700 h 2044005"/>
              <a:gd name="csX9" fmla="*/ 608011 w 790140"/>
              <a:gd name="csY9" fmla="*/ 674656 h 2044005"/>
              <a:gd name="csX10" fmla="*/ 608107 w 790140"/>
              <a:gd name="csY10" fmla="*/ 1928623 h 2044005"/>
              <a:gd name="csX11" fmla="*/ 579341 w 790140"/>
              <a:gd name="csY11" fmla="*/ 2014633 h 2044005"/>
              <a:gd name="csX12" fmla="*/ 498283 w 790140"/>
              <a:gd name="csY12" fmla="*/ 2040541 h 2044005"/>
              <a:gd name="csX13" fmla="*/ 412844 w 790140"/>
              <a:gd name="csY13" fmla="*/ 1932623 h 2044005"/>
              <a:gd name="csX14" fmla="*/ 412939 w 790140"/>
              <a:gd name="csY14" fmla="*/ 1219486 h 2044005"/>
              <a:gd name="csX15" fmla="*/ 412939 w 790140"/>
              <a:gd name="csY15" fmla="*/ 1192340 h 2044005"/>
              <a:gd name="csX16" fmla="*/ 378078 w 790140"/>
              <a:gd name="csY16" fmla="*/ 1192340 h 2044005"/>
              <a:gd name="csX17" fmla="*/ 378078 w 790140"/>
              <a:gd name="csY17" fmla="*/ 1219867 h 2044005"/>
              <a:gd name="csX18" fmla="*/ 378078 w 790140"/>
              <a:gd name="csY18" fmla="*/ 1937386 h 2044005"/>
              <a:gd name="csX19" fmla="*/ 352170 w 790140"/>
              <a:gd name="csY19" fmla="*/ 2015395 h 2044005"/>
              <a:gd name="csX20" fmla="*/ 266159 w 790140"/>
              <a:gd name="csY20" fmla="*/ 2041399 h 2044005"/>
              <a:gd name="csX21" fmla="*/ 182815 w 790140"/>
              <a:gd name="csY21" fmla="*/ 1933099 h 2044005"/>
              <a:gd name="csX22" fmla="*/ 182815 w 790140"/>
              <a:gd name="csY22" fmla="*/ 674752 h 2044005"/>
              <a:gd name="csX23" fmla="*/ 182815 w 790140"/>
              <a:gd name="csY23" fmla="*/ 645700 h 2044005"/>
              <a:gd name="csX24" fmla="*/ 155574 w 790140"/>
              <a:gd name="csY24" fmla="*/ 645700 h 2044005"/>
              <a:gd name="csX25" fmla="*/ 155574 w 790140"/>
              <a:gd name="csY25" fmla="*/ 671989 h 2044005"/>
              <a:gd name="csX26" fmla="*/ 155574 w 790140"/>
              <a:gd name="csY26" fmla="*/ 1110330 h 2044005"/>
              <a:gd name="csX27" fmla="*/ 134142 w 790140"/>
              <a:gd name="csY27" fmla="*/ 1176814 h 2044005"/>
              <a:gd name="csX28" fmla="*/ 69563 w 790140"/>
              <a:gd name="csY28" fmla="*/ 1199103 h 2044005"/>
              <a:gd name="csX29" fmla="*/ 8318 w 790140"/>
              <a:gd name="csY29" fmla="*/ 1152430 h 2044005"/>
              <a:gd name="csX30" fmla="*/ 602 w 790140"/>
              <a:gd name="csY30" fmla="*/ 1105567 h 2044005"/>
              <a:gd name="csX31" fmla="*/ 697 w 790140"/>
              <a:gd name="csY31" fmla="*/ 603981 h 2044005"/>
              <a:gd name="csX32" fmla="*/ 34797 w 790140"/>
              <a:gd name="csY32" fmla="*/ 467011 h 2044005"/>
              <a:gd name="csX33" fmla="*/ 167099 w 790140"/>
              <a:gd name="csY33" fmla="*/ 400336 h 2044005"/>
              <a:gd name="csX34" fmla="*/ 393317 w 790140"/>
              <a:gd name="csY34" fmla="*/ 400146 h 2044005"/>
              <a:gd name="csX35" fmla="*/ 628204 w 790140"/>
              <a:gd name="csY35" fmla="*/ 399955 h 2044005"/>
              <a:gd name="csX36" fmla="*/ 395319 w 790140"/>
              <a:gd name="csY36" fmla="*/ 0 h 2044005"/>
              <a:gd name="csX37" fmla="*/ 403986 w 790140"/>
              <a:gd name="csY37" fmla="*/ 0 h 2044005"/>
              <a:gd name="csX38" fmla="*/ 444278 w 790140"/>
              <a:gd name="csY38" fmla="*/ 8001 h 2044005"/>
              <a:gd name="csX39" fmla="*/ 575913 w 790140"/>
              <a:gd name="csY39" fmla="*/ 187071 h 2044005"/>
              <a:gd name="csX40" fmla="*/ 410559 w 790140"/>
              <a:gd name="csY40" fmla="*/ 353092 h 2044005"/>
              <a:gd name="csX41" fmla="*/ 410749 w 790140"/>
              <a:gd name="csY41" fmla="*/ 352997 h 2044005"/>
              <a:gd name="csX42" fmla="*/ 229679 w 790140"/>
              <a:gd name="csY42" fmla="*/ 207550 h 2044005"/>
              <a:gd name="csX43" fmla="*/ 383127 w 790140"/>
              <a:gd name="csY43" fmla="*/ 3715 h 2044005"/>
              <a:gd name="csX44" fmla="*/ 395319 w 790140"/>
              <a:gd name="csY44" fmla="*/ 0 h 20440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790140" h="2044005">
                <a:moveTo>
                  <a:pt x="628204" y="399955"/>
                </a:moveTo>
                <a:cubicBezTo>
                  <a:pt x="708500" y="398812"/>
                  <a:pt x="785271" y="454343"/>
                  <a:pt x="786605" y="552355"/>
                </a:cubicBezTo>
                <a:lnTo>
                  <a:pt x="786796" y="552546"/>
                </a:lnTo>
                <a:cubicBezTo>
                  <a:pt x="789368" y="742855"/>
                  <a:pt x="790797" y="933260"/>
                  <a:pt x="789843" y="1123665"/>
                </a:cubicBezTo>
                <a:cubicBezTo>
                  <a:pt x="789463" y="1194055"/>
                  <a:pt x="727931" y="1219582"/>
                  <a:pt x="671829" y="1191578"/>
                </a:cubicBezTo>
                <a:cubicBezTo>
                  <a:pt x="642968" y="1177100"/>
                  <a:pt x="635443" y="1144715"/>
                  <a:pt x="635443" y="1112521"/>
                </a:cubicBezTo>
                <a:cubicBezTo>
                  <a:pt x="635443" y="967169"/>
                  <a:pt x="635443" y="821722"/>
                  <a:pt x="635443" y="676371"/>
                </a:cubicBezTo>
                <a:lnTo>
                  <a:pt x="635443" y="645700"/>
                </a:lnTo>
                <a:lnTo>
                  <a:pt x="608011" y="645700"/>
                </a:lnTo>
                <a:lnTo>
                  <a:pt x="608011" y="674656"/>
                </a:lnTo>
                <a:cubicBezTo>
                  <a:pt x="608011" y="1092613"/>
                  <a:pt x="607916" y="1510666"/>
                  <a:pt x="608107" y="1928623"/>
                </a:cubicBezTo>
                <a:cubicBezTo>
                  <a:pt x="608107" y="1960722"/>
                  <a:pt x="602867" y="1990345"/>
                  <a:pt x="579341" y="2014633"/>
                </a:cubicBezTo>
                <a:cubicBezTo>
                  <a:pt x="556671" y="2038065"/>
                  <a:pt x="528192" y="2044066"/>
                  <a:pt x="498283" y="2040541"/>
                </a:cubicBezTo>
                <a:cubicBezTo>
                  <a:pt x="429608" y="2032540"/>
                  <a:pt x="412844" y="1981486"/>
                  <a:pt x="412844" y="1932623"/>
                </a:cubicBezTo>
                <a:cubicBezTo>
                  <a:pt x="413130" y="1694879"/>
                  <a:pt x="412939" y="1457230"/>
                  <a:pt x="412939" y="1219486"/>
                </a:cubicBezTo>
                <a:lnTo>
                  <a:pt x="412939" y="1192340"/>
                </a:lnTo>
                <a:lnTo>
                  <a:pt x="378078" y="1192340"/>
                </a:lnTo>
                <a:lnTo>
                  <a:pt x="378078" y="1219867"/>
                </a:lnTo>
                <a:cubicBezTo>
                  <a:pt x="378078" y="1459040"/>
                  <a:pt x="378078" y="1698213"/>
                  <a:pt x="378078" y="1937386"/>
                </a:cubicBezTo>
                <a:cubicBezTo>
                  <a:pt x="378078" y="1966342"/>
                  <a:pt x="373124" y="1993393"/>
                  <a:pt x="352170" y="2015395"/>
                </a:cubicBezTo>
                <a:cubicBezTo>
                  <a:pt x="328262" y="2040446"/>
                  <a:pt x="298067" y="2048828"/>
                  <a:pt x="266159" y="2041399"/>
                </a:cubicBezTo>
                <a:cubicBezTo>
                  <a:pt x="207200" y="2027683"/>
                  <a:pt x="182815" y="1994345"/>
                  <a:pt x="182815" y="1933099"/>
                </a:cubicBezTo>
                <a:cubicBezTo>
                  <a:pt x="182720" y="1513618"/>
                  <a:pt x="182815" y="1094233"/>
                  <a:pt x="182815" y="674752"/>
                </a:cubicBezTo>
                <a:lnTo>
                  <a:pt x="182815" y="645700"/>
                </a:lnTo>
                <a:lnTo>
                  <a:pt x="155574" y="645700"/>
                </a:lnTo>
                <a:lnTo>
                  <a:pt x="155574" y="671989"/>
                </a:lnTo>
                <a:cubicBezTo>
                  <a:pt x="155574" y="818103"/>
                  <a:pt x="155574" y="964216"/>
                  <a:pt x="155574" y="1110330"/>
                </a:cubicBezTo>
                <a:cubicBezTo>
                  <a:pt x="155574" y="1134809"/>
                  <a:pt x="151288" y="1157574"/>
                  <a:pt x="134142" y="1176814"/>
                </a:cubicBezTo>
                <a:cubicBezTo>
                  <a:pt x="116426" y="1196626"/>
                  <a:pt x="93470" y="1201484"/>
                  <a:pt x="69563" y="1199103"/>
                </a:cubicBezTo>
                <a:cubicBezTo>
                  <a:pt x="40798" y="1196150"/>
                  <a:pt x="16890" y="1182720"/>
                  <a:pt x="8318" y="1152430"/>
                </a:cubicBezTo>
                <a:cubicBezTo>
                  <a:pt x="4031" y="1137286"/>
                  <a:pt x="602" y="1121188"/>
                  <a:pt x="602" y="1105567"/>
                </a:cubicBezTo>
                <a:cubicBezTo>
                  <a:pt x="31" y="938404"/>
                  <a:pt x="-446" y="771145"/>
                  <a:pt x="697" y="603981"/>
                </a:cubicBezTo>
                <a:cubicBezTo>
                  <a:pt x="983" y="556165"/>
                  <a:pt x="5174" y="508064"/>
                  <a:pt x="34797" y="467011"/>
                </a:cubicBezTo>
                <a:cubicBezTo>
                  <a:pt x="67372" y="421768"/>
                  <a:pt x="112330" y="400717"/>
                  <a:pt x="167099" y="400336"/>
                </a:cubicBezTo>
                <a:cubicBezTo>
                  <a:pt x="242537" y="399765"/>
                  <a:pt x="317880" y="400146"/>
                  <a:pt x="393317" y="400146"/>
                </a:cubicBezTo>
                <a:cubicBezTo>
                  <a:pt x="471614" y="400146"/>
                  <a:pt x="549909" y="401098"/>
                  <a:pt x="628204" y="399955"/>
                </a:cubicBezTo>
                <a:close/>
                <a:moveTo>
                  <a:pt x="395319" y="0"/>
                </a:moveTo>
                <a:lnTo>
                  <a:pt x="403986" y="0"/>
                </a:lnTo>
                <a:cubicBezTo>
                  <a:pt x="417416" y="2667"/>
                  <a:pt x="431038" y="4763"/>
                  <a:pt x="444278" y="8001"/>
                </a:cubicBezTo>
                <a:cubicBezTo>
                  <a:pt x="533622" y="30099"/>
                  <a:pt x="582580" y="112395"/>
                  <a:pt x="575913" y="187071"/>
                </a:cubicBezTo>
                <a:cubicBezTo>
                  <a:pt x="567340" y="282607"/>
                  <a:pt x="497808" y="350044"/>
                  <a:pt x="410559" y="353092"/>
                </a:cubicBezTo>
                <a:lnTo>
                  <a:pt x="410749" y="352997"/>
                </a:lnTo>
                <a:cubicBezTo>
                  <a:pt x="320071" y="356140"/>
                  <a:pt x="244537" y="295466"/>
                  <a:pt x="229679" y="207550"/>
                </a:cubicBezTo>
                <a:cubicBezTo>
                  <a:pt x="212534" y="105918"/>
                  <a:pt x="280447" y="15812"/>
                  <a:pt x="383127" y="3715"/>
                </a:cubicBezTo>
                <a:cubicBezTo>
                  <a:pt x="387223" y="3239"/>
                  <a:pt x="391223" y="1238"/>
                  <a:pt x="395319" y="0"/>
                </a:cubicBezTo>
                <a:close/>
              </a:path>
            </a:pathLst>
          </a:custGeom>
          <a:solidFill>
            <a:srgbClr val="4F81BD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829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6395-7904-AD40-D326-35AD6121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2295D5CB-B8D9-F778-6186-3C8F5398A517}"/>
              </a:ext>
            </a:extLst>
          </p:cNvPr>
          <p:cNvSpPr/>
          <p:nvPr/>
        </p:nvSpPr>
        <p:spPr>
          <a:xfrm>
            <a:off x="0" y="24848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D5E194D-2814-D772-B8EB-CC75C98DB77D}"/>
              </a:ext>
            </a:extLst>
          </p:cNvPr>
          <p:cNvGrpSpPr/>
          <p:nvPr/>
        </p:nvGrpSpPr>
        <p:grpSpPr>
          <a:xfrm>
            <a:off x="6091589" y="2371477"/>
            <a:ext cx="3582788" cy="5210423"/>
            <a:chOff x="848516" y="1424906"/>
            <a:chExt cx="2484885" cy="3313323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FD0D881F-609C-831C-6187-F0D83B56C5DD}"/>
                </a:ext>
              </a:extLst>
            </p:cNvPr>
            <p:cNvSpPr/>
            <p:nvPr/>
          </p:nvSpPr>
          <p:spPr>
            <a:xfrm>
              <a:off x="848516" y="2360084"/>
              <a:ext cx="632379" cy="31556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14" name="矩形: 圆角 13" descr="D:\51PPT模板网\51pptmoban.com\图片.jpg">
              <a:extLst>
                <a:ext uri="{FF2B5EF4-FFF2-40B4-BE49-F238E27FC236}">
                  <a16:creationId xmlns:a16="http://schemas.microsoft.com/office/drawing/2014/main" id="{3B002FDB-3E84-9D65-5001-38F43F63DF07}"/>
                </a:ext>
              </a:extLst>
            </p:cNvPr>
            <p:cNvSpPr/>
            <p:nvPr/>
          </p:nvSpPr>
          <p:spPr>
            <a:xfrm>
              <a:off x="1325441" y="1424906"/>
              <a:ext cx="1753961" cy="3215724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2700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15" name="矩形: 圆角 14" descr="D:\51PPT模板网\51pptmoban.com\图片.jpg">
              <a:extLst>
                <a:ext uri="{FF2B5EF4-FFF2-40B4-BE49-F238E27FC236}">
                  <a16:creationId xmlns:a16="http://schemas.microsoft.com/office/drawing/2014/main" id="{0303973F-FC58-4BEC-0C72-49E4AD8C70EE}"/>
                </a:ext>
              </a:extLst>
            </p:cNvPr>
            <p:cNvSpPr/>
            <p:nvPr/>
          </p:nvSpPr>
          <p:spPr>
            <a:xfrm>
              <a:off x="1220681" y="1517456"/>
              <a:ext cx="1955374" cy="2972194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16" name="矩形: 圆角 15" descr="D:\51PPT模板网\51pptmoban.com\图片.jpg">
              <a:extLst>
                <a:ext uri="{FF2B5EF4-FFF2-40B4-BE49-F238E27FC236}">
                  <a16:creationId xmlns:a16="http://schemas.microsoft.com/office/drawing/2014/main" id="{B82FCB30-49D5-0122-A2DE-6F7DDC6F8209}"/>
                </a:ext>
              </a:extLst>
            </p:cNvPr>
            <p:cNvSpPr/>
            <p:nvPr/>
          </p:nvSpPr>
          <p:spPr>
            <a:xfrm>
              <a:off x="1048566" y="1625084"/>
              <a:ext cx="2284835" cy="3113145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127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  <a:effectLst>
              <a:outerShdw blurRad="101600" dist="381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A6C584E-9700-F6AC-BE43-2B01223018DA}"/>
                </a:ext>
              </a:extLst>
            </p:cNvPr>
            <p:cNvSpPr txBox="1"/>
            <p:nvPr/>
          </p:nvSpPr>
          <p:spPr>
            <a:xfrm>
              <a:off x="1107022" y="2965729"/>
              <a:ext cx="1716306" cy="1359393"/>
            </a:xfrm>
            <a:prstGeom prst="rect">
              <a:avLst/>
            </a:prstGeom>
            <a:noFill/>
          </p:spPr>
          <p:txBody>
            <a:bodyPr wrap="square" lIns="108000" rIns="108000" rtlCol="0" anchor="t" anchorCtr="0">
              <a:noAutofit/>
            </a:bodyPr>
            <a:lstStyle/>
            <a:p>
              <a:pPr defTabSz="1370648">
                <a:lnSpc>
                  <a:spcPct val="130000"/>
                </a:lnSpc>
                <a:buSzPct val="100000"/>
                <a:defRPr/>
              </a:pPr>
              <a:r>
                <a:rPr lang="zh-CN" altLang="en-US" sz="20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智能制造与仓储物流等领域对移动机器人底盘的机动性、灵活性和全向运动能力提出了更高的要求。</a:t>
              </a: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C37559A2-EDA4-A670-DAE4-3741C28718AB}"/>
                </a:ext>
              </a:extLst>
            </p:cNvPr>
            <p:cNvSpPr/>
            <p:nvPr/>
          </p:nvSpPr>
          <p:spPr>
            <a:xfrm>
              <a:off x="848516" y="1983431"/>
              <a:ext cx="1525114" cy="567039"/>
            </a:xfrm>
            <a:custGeom>
              <a:avLst/>
              <a:gdLst>
                <a:gd name="csX0" fmla="*/ 203563 w 1525114"/>
                <a:gd name="csY0" fmla="*/ 0 h 567039"/>
                <a:gd name="csX1" fmla="*/ 414805 w 1525114"/>
                <a:gd name="csY1" fmla="*/ 0 h 567039"/>
                <a:gd name="csX2" fmla="*/ 657977 w 1525114"/>
                <a:gd name="csY2" fmla="*/ 0 h 567039"/>
                <a:gd name="csX3" fmla="*/ 1437178 w 1525114"/>
                <a:gd name="csY3" fmla="*/ 0 h 567039"/>
                <a:gd name="csX4" fmla="*/ 1525114 w 1525114"/>
                <a:gd name="csY4" fmla="*/ 87936 h 567039"/>
                <a:gd name="csX5" fmla="*/ 1525114 w 1525114"/>
                <a:gd name="csY5" fmla="*/ 318327 h 567039"/>
                <a:gd name="csX6" fmla="*/ 1437178 w 1525114"/>
                <a:gd name="csY6" fmla="*/ 406263 h 567039"/>
                <a:gd name="csX7" fmla="*/ 666532 w 1525114"/>
                <a:gd name="csY7" fmla="*/ 406263 h 567039"/>
                <a:gd name="csX8" fmla="*/ 657977 w 1525114"/>
                <a:gd name="csY8" fmla="*/ 407126 h 567039"/>
                <a:gd name="csX9" fmla="*/ 203563 w 1525114"/>
                <a:gd name="csY9" fmla="*/ 407125 h 567039"/>
                <a:gd name="csX10" fmla="*/ 198613 w 1525114"/>
                <a:gd name="csY10" fmla="*/ 407125 h 567039"/>
                <a:gd name="csX11" fmla="*/ 11047 w 1525114"/>
                <a:gd name="csY11" fmla="*/ 531452 h 567039"/>
                <a:gd name="csX12" fmla="*/ 0 w 1525114"/>
                <a:gd name="csY12" fmla="*/ 567039 h 567039"/>
                <a:gd name="csX13" fmla="*/ 3779 w 1525114"/>
                <a:gd name="csY13" fmla="*/ 224349 h 567039"/>
                <a:gd name="csX14" fmla="*/ 15997 w 1525114"/>
                <a:gd name="csY14" fmla="*/ 124327 h 567039"/>
                <a:gd name="csX15" fmla="*/ 203563 w 1525114"/>
                <a:gd name="csY15" fmla="*/ 0 h 567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525114" h="567039">
                  <a:moveTo>
                    <a:pt x="203563" y="0"/>
                  </a:moveTo>
                  <a:lnTo>
                    <a:pt x="414805" y="0"/>
                  </a:lnTo>
                  <a:lnTo>
                    <a:pt x="657977" y="0"/>
                  </a:lnTo>
                  <a:lnTo>
                    <a:pt x="1437178" y="0"/>
                  </a:lnTo>
                  <a:cubicBezTo>
                    <a:pt x="1485744" y="0"/>
                    <a:pt x="1525114" y="39370"/>
                    <a:pt x="1525114" y="87936"/>
                  </a:cubicBezTo>
                  <a:lnTo>
                    <a:pt x="1525114" y="318327"/>
                  </a:lnTo>
                  <a:cubicBezTo>
                    <a:pt x="1525114" y="366893"/>
                    <a:pt x="1485744" y="406263"/>
                    <a:pt x="1437178" y="406263"/>
                  </a:cubicBezTo>
                  <a:lnTo>
                    <a:pt x="666532" y="406263"/>
                  </a:lnTo>
                  <a:lnTo>
                    <a:pt x="657977" y="407126"/>
                  </a:lnTo>
                  <a:lnTo>
                    <a:pt x="203563" y="407125"/>
                  </a:lnTo>
                  <a:lnTo>
                    <a:pt x="198613" y="407125"/>
                  </a:lnTo>
                  <a:cubicBezTo>
                    <a:pt x="114294" y="407125"/>
                    <a:pt x="41950" y="458390"/>
                    <a:pt x="11047" y="531452"/>
                  </a:cubicBezTo>
                  <a:lnTo>
                    <a:pt x="0" y="567039"/>
                  </a:lnTo>
                  <a:cubicBezTo>
                    <a:pt x="1259" y="452809"/>
                    <a:pt x="2519" y="338579"/>
                    <a:pt x="3779" y="224349"/>
                  </a:cubicBezTo>
                  <a:cubicBezTo>
                    <a:pt x="9111" y="197937"/>
                    <a:pt x="-2563" y="173415"/>
                    <a:pt x="15997" y="124327"/>
                  </a:cubicBezTo>
                  <a:cubicBezTo>
                    <a:pt x="46900" y="51265"/>
                    <a:pt x="119244" y="0"/>
                    <a:pt x="20356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44000">
                  <a:schemeClr val="accent1"/>
                </a:gs>
              </a:gsLst>
              <a:lin ang="2700000" scaled="0"/>
            </a:gradFill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zh-CN" altLang="en-US" sz="2700" b="1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D59C618-7FD2-B861-1605-4F1A5B5F6033}"/>
                </a:ext>
              </a:extLst>
            </p:cNvPr>
            <p:cNvSpPr/>
            <p:nvPr/>
          </p:nvSpPr>
          <p:spPr>
            <a:xfrm>
              <a:off x="1048566" y="2004883"/>
              <a:ext cx="1280845" cy="355201"/>
            </a:xfrm>
            <a:prstGeom prst="roundRect">
              <a:avLst>
                <a:gd name="adj" fmla="val 7412"/>
              </a:avLst>
            </a:prstGeom>
            <a:noFill/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8EF5B9-F7A9-1C4E-8A6D-DC425DA5C34C}"/>
              </a:ext>
            </a:extLst>
          </p:cNvPr>
          <p:cNvGrpSpPr/>
          <p:nvPr/>
        </p:nvGrpSpPr>
        <p:grpSpPr>
          <a:xfrm>
            <a:off x="853440" y="8414979"/>
            <a:ext cx="16550641" cy="1300521"/>
            <a:chOff x="568960" y="5236779"/>
            <a:chExt cx="11033760" cy="1045221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1DA76064-2021-5EFC-27B5-50A0FE9CD608}"/>
                </a:ext>
              </a:extLst>
            </p:cNvPr>
            <p:cNvSpPr/>
            <p:nvPr/>
          </p:nvSpPr>
          <p:spPr>
            <a:xfrm>
              <a:off x="1991867" y="5236779"/>
              <a:ext cx="9610853" cy="1045220"/>
            </a:xfrm>
            <a:prstGeom prst="roundRect">
              <a:avLst>
                <a:gd name="adj" fmla="val 3579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76200" dist="381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37160" tIns="68580" rIns="137160" bIns="68580" rtlCol="0" anchor="ctr">
              <a:noAutofit/>
            </a:bodyPr>
            <a:lstStyle/>
            <a:p>
              <a:pPr algn="ctr"/>
              <a:endParaRPr lang="zh-CN" altLang="en-US" sz="3000" b="1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9BBDF7C0-D7F7-8A22-D59D-6C79F27A7E7D}"/>
                </a:ext>
              </a:extLst>
            </p:cNvPr>
            <p:cNvSpPr>
              <a:spLocks/>
            </p:cNvSpPr>
            <p:nvPr/>
          </p:nvSpPr>
          <p:spPr>
            <a:xfrm>
              <a:off x="568960" y="5236780"/>
              <a:ext cx="1605809" cy="1045220"/>
            </a:xfrm>
            <a:prstGeom prst="roundRect">
              <a:avLst>
                <a:gd name="adj" fmla="val 7919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76200" dist="381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37160" tIns="68580" rIns="137160" bIns="68580" rtlCol="0" anchor="ctr">
              <a:noAutofit/>
            </a:bodyPr>
            <a:lstStyle/>
            <a:p>
              <a:pPr algn="ctr"/>
              <a:r>
                <a:rPr lang="zh-CN" altLang="en-US" sz="27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5000">
                        <a:schemeClr val="accent1"/>
                      </a:gs>
                    </a:gsLst>
                    <a:lin ang="2700000" scaled="1"/>
                  </a:gradFill>
                  <a:latin typeface="等线" panose="02010600030101010101" pitchFamily="2" charset="-122"/>
                  <a:ea typeface="等线" panose="02010600030101010101" pitchFamily="2" charset="-122"/>
                </a:rPr>
                <a:t>结论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F7451CB-B075-E1B7-D0D7-5FB0D7021217}"/>
                </a:ext>
              </a:extLst>
            </p:cNvPr>
            <p:cNvSpPr>
              <a:spLocks/>
            </p:cNvSpPr>
            <p:nvPr/>
          </p:nvSpPr>
          <p:spPr>
            <a:xfrm flipH="1">
              <a:off x="2059655" y="5273168"/>
              <a:ext cx="9069356" cy="6655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68580" rIns="137160" bIns="68580" rtlCol="0" anchor="t" anchorCtr="1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9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因此，围绕三舵轮底盘运动控制方法开展研究，不仅有助于提升底盘运动性能和控制协调性，也能为后续仿真验证、实物测试和工程应用提供基础。</a:t>
              </a:r>
              <a:endParaRPr lang="zh-CN" altLang="en-US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7B0490F-1913-289D-D38F-5D278CBBE4EE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31EEBF52-7834-6A17-5B96-2475E13A1662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六边形 64">
              <a:extLst>
                <a:ext uri="{FF2B5EF4-FFF2-40B4-BE49-F238E27FC236}">
                  <a16:creationId xmlns:a16="http://schemas.microsoft.com/office/drawing/2014/main" id="{A586B624-D8E1-EA09-6AEF-032C14401541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C596E0F9-8A86-D9CD-E065-3D3AA6867965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rgbClr val="4F81BD"/>
            </a:solidFill>
            <a:ln w="12700">
              <a:solidFill>
                <a:srgbClr val="4F81BD"/>
              </a:solidFill>
            </a:ln>
            <a:effectLst>
              <a:outerShdw blurRad="1016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37160" tIns="68580" rIns="137160" bIns="6858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C777566-634B-5C94-98D8-29480410B29B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648E4A14-28F9-52FC-9E57-26AA253E6165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A8E45E74-FC2F-DC00-18AF-B1440C61CE99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E2A3C795-598C-FEF7-570B-4B478B79EFB2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17DEC78E-EED8-73B9-E2FB-3FD72EEE4E8A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69F305EA-6447-66AB-EC4B-6F570A9C1C84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课题来源与研究背景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EF25FA6-97B2-CF94-F45F-DDCD0ADD0FC4}"/>
              </a:ext>
            </a:extLst>
          </p:cNvPr>
          <p:cNvSpPr/>
          <p:nvPr/>
        </p:nvSpPr>
        <p:spPr>
          <a:xfrm>
            <a:off x="1029178" y="2130126"/>
            <a:ext cx="3828144" cy="4581882"/>
          </a:xfrm>
          <a:prstGeom prst="roundRect">
            <a:avLst>
              <a:gd name="adj" fmla="val 4549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srgbClr val="DCE6F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pPr algn="ctr"/>
            <a:endParaRPr lang="zh-CN" altLang="en-US" sz="2100" b="1" dirty="0">
              <a:solidFill>
                <a:schemeClr val="accent1"/>
              </a:solidFill>
            </a:endParaRPr>
          </a:p>
        </p:txBody>
      </p:sp>
      <p:sp>
        <p:nvSpPr>
          <p:cNvPr id="3" name="矩形: 圆顶角 2">
            <a:extLst>
              <a:ext uri="{FF2B5EF4-FFF2-40B4-BE49-F238E27FC236}">
                <a16:creationId xmlns:a16="http://schemas.microsoft.com/office/drawing/2014/main" id="{E95EE496-B99A-3EE4-DE3D-DEECA149B4FF}"/>
              </a:ext>
            </a:extLst>
          </p:cNvPr>
          <p:cNvSpPr/>
          <p:nvPr/>
        </p:nvSpPr>
        <p:spPr>
          <a:xfrm>
            <a:off x="1029178" y="2092715"/>
            <a:ext cx="3828144" cy="923825"/>
          </a:xfrm>
          <a:prstGeom prst="round2SameRect">
            <a:avLst>
              <a:gd name="adj1" fmla="val 2076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30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328013-74DD-C3B6-D580-890DD2965209}"/>
              </a:ext>
            </a:extLst>
          </p:cNvPr>
          <p:cNvSpPr txBox="1"/>
          <p:nvPr/>
        </p:nvSpPr>
        <p:spPr>
          <a:xfrm>
            <a:off x="1944792" y="2252369"/>
            <a:ext cx="1865208" cy="607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base">
              <a:lnSpc>
                <a:spcPct val="110000"/>
              </a:lnSpc>
            </a:pP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课题来源</a:t>
            </a:r>
            <a:endParaRPr lang="en-US" alt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3BB115-3C9F-161F-F961-7D42D5314E6F}"/>
              </a:ext>
            </a:extLst>
          </p:cNvPr>
          <p:cNvSpPr txBox="1"/>
          <p:nvPr/>
        </p:nvSpPr>
        <p:spPr>
          <a:xfrm>
            <a:off x="987999" y="3080245"/>
            <a:ext cx="358511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▶课题来源于优艾智合企业实际项目，研究对象为三舵轮移动底盘平台。具有明确的工程背景和应用依托。</a:t>
            </a:r>
            <a:endParaRPr lang="en-US" altLang="zh-CN" sz="23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3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▶ 企业已具备底盘实物平台及相关执行器控制接口条件，在此基础上开展底盘层控制方法研究与程序实现。</a:t>
            </a:r>
            <a:endParaRPr lang="en-US" altLang="zh-CN" sz="2300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332596-33A3-D6F1-236D-0E286548FD2E}"/>
              </a:ext>
            </a:extLst>
          </p:cNvPr>
          <p:cNvSpPr/>
          <p:nvPr/>
        </p:nvSpPr>
        <p:spPr>
          <a:xfrm>
            <a:off x="5590721" y="2291772"/>
            <a:ext cx="45719" cy="5358707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0624E2F-3505-C824-B6DB-B54A4C9D789A}"/>
              </a:ext>
            </a:extLst>
          </p:cNvPr>
          <p:cNvGrpSpPr/>
          <p:nvPr/>
        </p:nvGrpSpPr>
        <p:grpSpPr>
          <a:xfrm>
            <a:off x="10485295" y="2365913"/>
            <a:ext cx="3582788" cy="5210423"/>
            <a:chOff x="848516" y="1424906"/>
            <a:chExt cx="2484885" cy="3313323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2E7AB5E3-1678-3E60-0065-1BEE17BB6563}"/>
                </a:ext>
              </a:extLst>
            </p:cNvPr>
            <p:cNvSpPr/>
            <p:nvPr/>
          </p:nvSpPr>
          <p:spPr>
            <a:xfrm>
              <a:off x="848516" y="2360084"/>
              <a:ext cx="632379" cy="31556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34" name="矩形: 圆角 33" descr="D:\51PPT模板网\51pptmoban.com\图片.jpg">
              <a:extLst>
                <a:ext uri="{FF2B5EF4-FFF2-40B4-BE49-F238E27FC236}">
                  <a16:creationId xmlns:a16="http://schemas.microsoft.com/office/drawing/2014/main" id="{47E7BEF5-7BAF-DBB5-2098-B6CAB75F5FDD}"/>
                </a:ext>
              </a:extLst>
            </p:cNvPr>
            <p:cNvSpPr/>
            <p:nvPr/>
          </p:nvSpPr>
          <p:spPr>
            <a:xfrm>
              <a:off x="1325441" y="1424906"/>
              <a:ext cx="1753961" cy="3215724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2700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35" name="矩形: 圆角 34" descr="D:\51PPT模板网\51pptmoban.com\图片.jpg">
              <a:extLst>
                <a:ext uri="{FF2B5EF4-FFF2-40B4-BE49-F238E27FC236}">
                  <a16:creationId xmlns:a16="http://schemas.microsoft.com/office/drawing/2014/main" id="{3343EC00-B808-3EC9-D202-7D7901D91312}"/>
                </a:ext>
              </a:extLst>
            </p:cNvPr>
            <p:cNvSpPr/>
            <p:nvPr/>
          </p:nvSpPr>
          <p:spPr>
            <a:xfrm>
              <a:off x="1220681" y="1517456"/>
              <a:ext cx="1955374" cy="2972194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>
                <a:latin typeface="+mj-ea"/>
                <a:ea typeface="+mj-ea"/>
              </a:endParaRPr>
            </a:p>
          </p:txBody>
        </p:sp>
        <p:sp>
          <p:nvSpPr>
            <p:cNvPr id="36" name="矩形: 圆角 35" descr="D:\51PPT模板网\51pptmoban.com\图片.jpg">
              <a:extLst>
                <a:ext uri="{FF2B5EF4-FFF2-40B4-BE49-F238E27FC236}">
                  <a16:creationId xmlns:a16="http://schemas.microsoft.com/office/drawing/2014/main" id="{4C3AFCA2-570D-7FE3-DE70-0882EC6FD8BC}"/>
                </a:ext>
              </a:extLst>
            </p:cNvPr>
            <p:cNvSpPr/>
            <p:nvPr/>
          </p:nvSpPr>
          <p:spPr>
            <a:xfrm>
              <a:off x="1048566" y="1625084"/>
              <a:ext cx="2284835" cy="3113145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127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  <a:effectLst>
              <a:outerShdw blurRad="101600" dist="381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>
                <a:latin typeface="+mj-ea"/>
                <a:ea typeface="+mj-ea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E8A2AB0-30A3-4A8B-C891-C832FF49EA4A}"/>
                </a:ext>
              </a:extLst>
            </p:cNvPr>
            <p:cNvGrpSpPr/>
            <p:nvPr/>
          </p:nvGrpSpPr>
          <p:grpSpPr>
            <a:xfrm>
              <a:off x="1180721" y="2545518"/>
              <a:ext cx="1737827" cy="1805001"/>
              <a:chOff x="1137760" y="2608132"/>
              <a:chExt cx="1341118" cy="1805001"/>
            </a:xfrm>
          </p:grpSpPr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670489-0450-859D-7B36-56CC381BD270}"/>
                  </a:ext>
                </a:extLst>
              </p:cNvPr>
              <p:cNvSpPr txBox="1"/>
              <p:nvPr/>
            </p:nvSpPr>
            <p:spPr>
              <a:xfrm>
                <a:off x="1137760" y="2996724"/>
                <a:ext cx="1324510" cy="1416409"/>
              </a:xfrm>
              <a:prstGeom prst="rect">
                <a:avLst/>
              </a:prstGeom>
              <a:noFill/>
            </p:spPr>
            <p:txBody>
              <a:bodyPr wrap="square" lIns="108000" rIns="108000" rtlCol="0" anchor="t" anchorCtr="0">
                <a:noAutofit/>
              </a:bodyPr>
              <a:lstStyle/>
              <a:p>
                <a:pPr defTabSz="1370648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200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相较于传统差速底盘，三舵轮底盘在运动学解算、多轮协调控制及控制程序实现方面具有更高复杂度。</a:t>
                </a: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BB81928-A39C-4DE8-E887-FDD69956C074}"/>
                  </a:ext>
                </a:extLst>
              </p:cNvPr>
              <p:cNvSpPr txBox="1"/>
              <p:nvPr/>
            </p:nvSpPr>
            <p:spPr>
              <a:xfrm>
                <a:off x="1154368" y="2608132"/>
                <a:ext cx="1324510" cy="567039"/>
              </a:xfrm>
              <a:prstGeom prst="rect">
                <a:avLst/>
              </a:prstGeom>
              <a:noFill/>
            </p:spPr>
            <p:txBody>
              <a:bodyPr wrap="square" lIns="108000" tIns="0" rIns="108000" bIns="54000" rtlCol="0" anchor="t">
                <a:noAutofit/>
              </a:bodyPr>
              <a:lstStyle>
                <a:defPPr>
                  <a:defRPr lang="en-US"/>
                </a:defPPr>
                <a:lvl1pPr fontAlgn="t">
                  <a:defRPr sz="2000" b="1">
                    <a:solidFill>
                      <a:schemeClr val="accent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技术难点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42B21ACE-8823-8B61-052E-BE050A63B0C6}"/>
                </a:ext>
              </a:extLst>
            </p:cNvPr>
            <p:cNvSpPr/>
            <p:nvPr/>
          </p:nvSpPr>
          <p:spPr>
            <a:xfrm>
              <a:off x="848516" y="1983431"/>
              <a:ext cx="1525114" cy="567039"/>
            </a:xfrm>
            <a:custGeom>
              <a:avLst/>
              <a:gdLst>
                <a:gd name="csX0" fmla="*/ 203563 w 1525114"/>
                <a:gd name="csY0" fmla="*/ 0 h 567039"/>
                <a:gd name="csX1" fmla="*/ 414805 w 1525114"/>
                <a:gd name="csY1" fmla="*/ 0 h 567039"/>
                <a:gd name="csX2" fmla="*/ 657977 w 1525114"/>
                <a:gd name="csY2" fmla="*/ 0 h 567039"/>
                <a:gd name="csX3" fmla="*/ 1437178 w 1525114"/>
                <a:gd name="csY3" fmla="*/ 0 h 567039"/>
                <a:gd name="csX4" fmla="*/ 1525114 w 1525114"/>
                <a:gd name="csY4" fmla="*/ 87936 h 567039"/>
                <a:gd name="csX5" fmla="*/ 1525114 w 1525114"/>
                <a:gd name="csY5" fmla="*/ 318327 h 567039"/>
                <a:gd name="csX6" fmla="*/ 1437178 w 1525114"/>
                <a:gd name="csY6" fmla="*/ 406263 h 567039"/>
                <a:gd name="csX7" fmla="*/ 666532 w 1525114"/>
                <a:gd name="csY7" fmla="*/ 406263 h 567039"/>
                <a:gd name="csX8" fmla="*/ 657977 w 1525114"/>
                <a:gd name="csY8" fmla="*/ 407126 h 567039"/>
                <a:gd name="csX9" fmla="*/ 203563 w 1525114"/>
                <a:gd name="csY9" fmla="*/ 407125 h 567039"/>
                <a:gd name="csX10" fmla="*/ 198613 w 1525114"/>
                <a:gd name="csY10" fmla="*/ 407125 h 567039"/>
                <a:gd name="csX11" fmla="*/ 11047 w 1525114"/>
                <a:gd name="csY11" fmla="*/ 531452 h 567039"/>
                <a:gd name="csX12" fmla="*/ 0 w 1525114"/>
                <a:gd name="csY12" fmla="*/ 567039 h 567039"/>
                <a:gd name="csX13" fmla="*/ 3779 w 1525114"/>
                <a:gd name="csY13" fmla="*/ 224349 h 567039"/>
                <a:gd name="csX14" fmla="*/ 15997 w 1525114"/>
                <a:gd name="csY14" fmla="*/ 124327 h 567039"/>
                <a:gd name="csX15" fmla="*/ 203563 w 1525114"/>
                <a:gd name="csY15" fmla="*/ 0 h 567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525114" h="567039">
                  <a:moveTo>
                    <a:pt x="203563" y="0"/>
                  </a:moveTo>
                  <a:lnTo>
                    <a:pt x="414805" y="0"/>
                  </a:lnTo>
                  <a:lnTo>
                    <a:pt x="657977" y="0"/>
                  </a:lnTo>
                  <a:lnTo>
                    <a:pt x="1437178" y="0"/>
                  </a:lnTo>
                  <a:cubicBezTo>
                    <a:pt x="1485744" y="0"/>
                    <a:pt x="1525114" y="39370"/>
                    <a:pt x="1525114" y="87936"/>
                  </a:cubicBezTo>
                  <a:lnTo>
                    <a:pt x="1525114" y="318327"/>
                  </a:lnTo>
                  <a:cubicBezTo>
                    <a:pt x="1525114" y="366893"/>
                    <a:pt x="1485744" y="406263"/>
                    <a:pt x="1437178" y="406263"/>
                  </a:cubicBezTo>
                  <a:lnTo>
                    <a:pt x="666532" y="406263"/>
                  </a:lnTo>
                  <a:lnTo>
                    <a:pt x="657977" y="407126"/>
                  </a:lnTo>
                  <a:lnTo>
                    <a:pt x="203563" y="407125"/>
                  </a:lnTo>
                  <a:lnTo>
                    <a:pt x="198613" y="407125"/>
                  </a:lnTo>
                  <a:cubicBezTo>
                    <a:pt x="114294" y="407125"/>
                    <a:pt x="41950" y="458390"/>
                    <a:pt x="11047" y="531452"/>
                  </a:cubicBezTo>
                  <a:lnTo>
                    <a:pt x="0" y="567039"/>
                  </a:lnTo>
                  <a:cubicBezTo>
                    <a:pt x="1259" y="452809"/>
                    <a:pt x="2519" y="338579"/>
                    <a:pt x="3779" y="224349"/>
                  </a:cubicBezTo>
                  <a:cubicBezTo>
                    <a:pt x="9111" y="197937"/>
                    <a:pt x="-2563" y="173415"/>
                    <a:pt x="15997" y="124327"/>
                  </a:cubicBezTo>
                  <a:cubicBezTo>
                    <a:pt x="46900" y="51265"/>
                    <a:pt x="119244" y="0"/>
                    <a:pt x="20356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44000">
                  <a:schemeClr val="accent1"/>
                </a:gs>
              </a:gsLst>
              <a:lin ang="2700000" scaled="0"/>
            </a:gradFill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zh-CN" altLang="en-US" sz="2700" b="1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B83D765-C716-75DF-EB1C-677580F2F679}"/>
                </a:ext>
              </a:extLst>
            </p:cNvPr>
            <p:cNvSpPr/>
            <p:nvPr/>
          </p:nvSpPr>
          <p:spPr>
            <a:xfrm>
              <a:off x="1048566" y="2004883"/>
              <a:ext cx="1280845" cy="355201"/>
            </a:xfrm>
            <a:prstGeom prst="roundRect">
              <a:avLst>
                <a:gd name="adj" fmla="val 7412"/>
              </a:avLst>
            </a:prstGeom>
            <a:noFill/>
            <a:ln w="19050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AC7956C-9353-74EA-6F4E-05AF1D10F846}"/>
              </a:ext>
            </a:extLst>
          </p:cNvPr>
          <p:cNvSpPr txBox="1"/>
          <p:nvPr/>
        </p:nvSpPr>
        <p:spPr>
          <a:xfrm>
            <a:off x="6543242" y="4106454"/>
            <a:ext cx="2474626" cy="891707"/>
          </a:xfrm>
          <a:prstGeom prst="rect">
            <a:avLst/>
          </a:prstGeom>
          <a:noFill/>
        </p:spPr>
        <p:txBody>
          <a:bodyPr wrap="square" lIns="108000" tIns="0" rIns="108000" bIns="54000" rtlCol="0" anchor="t">
            <a:noAutofit/>
          </a:bodyPr>
          <a:lstStyle>
            <a:defPPr>
              <a:defRPr lang="en-US"/>
            </a:defPPr>
            <a:lvl1pPr fontAlgn="t">
              <a:defRPr sz="2000" b="1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应用需求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EE09D4-0116-EA9E-E39E-8F2A57125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3314" y="2236210"/>
            <a:ext cx="2224376" cy="541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6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0FE0-DFB4-7221-233D-549CCB4C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586251C-59A9-93B4-E3A8-C375ECCD589A}"/>
              </a:ext>
            </a:extLst>
          </p:cNvPr>
          <p:cNvSpPr/>
          <p:nvPr/>
        </p:nvSpPr>
        <p:spPr>
          <a:xfrm>
            <a:off x="0" y="24848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D28A340-4908-B630-D00C-068AC2CAE344}"/>
              </a:ext>
            </a:extLst>
          </p:cNvPr>
          <p:cNvGrpSpPr/>
          <p:nvPr/>
        </p:nvGrpSpPr>
        <p:grpSpPr>
          <a:xfrm>
            <a:off x="991155" y="2912284"/>
            <a:ext cx="16305690" cy="6655989"/>
            <a:chOff x="660770" y="1535007"/>
            <a:chExt cx="10870460" cy="443732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B3B8809-7147-FA8F-3F04-E768BFE8DC4F}"/>
                </a:ext>
              </a:extLst>
            </p:cNvPr>
            <p:cNvSpPr/>
            <p:nvPr/>
          </p:nvSpPr>
          <p:spPr>
            <a:xfrm flipH="1">
              <a:off x="6770842" y="1821476"/>
              <a:ext cx="4212195" cy="1541943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2700">
              <a:gradFill flip="none" rotWithShape="1"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>
              <a:outerShdw blurRad="63500"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sz="270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19363198-DE56-1BC1-22F0-CDA63617B685}"/>
                </a:ext>
              </a:extLst>
            </p:cNvPr>
            <p:cNvSpPr/>
            <p:nvPr/>
          </p:nvSpPr>
          <p:spPr>
            <a:xfrm flipH="1">
              <a:off x="6770842" y="4269166"/>
              <a:ext cx="4212195" cy="1541943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2700">
              <a:gradFill flip="none" rotWithShape="1"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>
              <a:outerShdw blurRad="63500"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sz="270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EC2CDFB-55BF-01C9-6B8A-7EEDB0D9BD1C}"/>
                </a:ext>
              </a:extLst>
            </p:cNvPr>
            <p:cNvSpPr/>
            <p:nvPr/>
          </p:nvSpPr>
          <p:spPr>
            <a:xfrm>
              <a:off x="1206131" y="1821476"/>
              <a:ext cx="4239684" cy="1541943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2700">
              <a:gradFill flip="none" rotWithShape="1"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>
              <a:outerShdw blurRad="63500"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sz="2700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7466ED5-3E5D-A2F1-B38C-1AF825B1850A}"/>
                </a:ext>
              </a:extLst>
            </p:cNvPr>
            <p:cNvSpPr/>
            <p:nvPr/>
          </p:nvSpPr>
          <p:spPr>
            <a:xfrm>
              <a:off x="1206131" y="4269166"/>
              <a:ext cx="4239684" cy="1541943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2700">
              <a:gradFill flip="none" rotWithShape="1"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</a:ln>
            <a:effectLst>
              <a:outerShdw blurRad="63500"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sz="2700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FBD9F1B-2493-A5D5-04FA-AA08C2514024}"/>
                </a:ext>
              </a:extLst>
            </p:cNvPr>
            <p:cNvSpPr/>
            <p:nvPr/>
          </p:nvSpPr>
          <p:spPr>
            <a:xfrm>
              <a:off x="4726484" y="2325849"/>
              <a:ext cx="1350652" cy="1350652"/>
            </a:xfrm>
            <a:custGeom>
              <a:avLst/>
              <a:gdLst>
                <a:gd name="connsiteX0" fmla="*/ 0 w 2346282"/>
                <a:gd name="connsiteY0" fmla="*/ 2346282 h 2346282"/>
                <a:gd name="connsiteX1" fmla="*/ 2346282 w 2346282"/>
                <a:gd name="connsiteY1" fmla="*/ 0 h 2346282"/>
                <a:gd name="connsiteX2" fmla="*/ 2346282 w 2346282"/>
                <a:gd name="connsiteY2" fmla="*/ 2346282 h 2346282"/>
                <a:gd name="connsiteX3" fmla="*/ 0 w 2346282"/>
                <a:gd name="connsiteY3" fmla="*/ 2346282 h 234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6282" h="2346282">
                  <a:moveTo>
                    <a:pt x="0" y="2346282"/>
                  </a:moveTo>
                  <a:cubicBezTo>
                    <a:pt x="0" y="1050466"/>
                    <a:pt x="1050466" y="0"/>
                    <a:pt x="2346282" y="0"/>
                  </a:cubicBezTo>
                  <a:lnTo>
                    <a:pt x="2346282" y="2346282"/>
                  </a:lnTo>
                  <a:lnTo>
                    <a:pt x="0" y="2346282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8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 b="1" dirty="0">
                <a:solidFill>
                  <a:srgbClr val="FFFFFF"/>
                </a:solidFill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6085CD56-E9EA-A636-3DF1-3FF102ABDF05}"/>
                </a:ext>
              </a:extLst>
            </p:cNvPr>
            <p:cNvSpPr>
              <a:spLocks/>
            </p:cNvSpPr>
            <p:nvPr/>
          </p:nvSpPr>
          <p:spPr>
            <a:xfrm>
              <a:off x="660770" y="1535007"/>
              <a:ext cx="2573906" cy="634870"/>
            </a:xfrm>
            <a:prstGeom prst="roundRect">
              <a:avLst/>
            </a:prstGeom>
            <a:gradFill flip="none" rotWithShape="1">
              <a:gsLst>
                <a:gs pos="10000">
                  <a:schemeClr val="accent1">
                    <a:lumMod val="60000"/>
                    <a:lumOff val="40000"/>
                  </a:schemeClr>
                </a:gs>
                <a:gs pos="9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输入层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B9E8FDF-9B7A-7A38-A0C9-F217E50DBAEB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296983" y="2428656"/>
              <a:ext cx="3875386" cy="1098140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接收手柄或上位机下发的速度指令</a:t>
              </a:r>
            </a:p>
            <a:p>
              <a:pPr algn="l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完成控制模式切换与基础输入映射</a:t>
              </a: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19505BE6-672F-D79F-0774-F6CD957B2E0E}"/>
                </a:ext>
              </a:extLst>
            </p:cNvPr>
            <p:cNvSpPr/>
            <p:nvPr/>
          </p:nvSpPr>
          <p:spPr>
            <a:xfrm>
              <a:off x="6139523" y="2325849"/>
              <a:ext cx="1350652" cy="1350652"/>
            </a:xfrm>
            <a:custGeom>
              <a:avLst/>
              <a:gdLst>
                <a:gd name="connsiteX0" fmla="*/ 0 w 2346282"/>
                <a:gd name="connsiteY0" fmla="*/ 2346282 h 2346282"/>
                <a:gd name="connsiteX1" fmla="*/ 2346282 w 2346282"/>
                <a:gd name="connsiteY1" fmla="*/ 0 h 2346282"/>
                <a:gd name="connsiteX2" fmla="*/ 2346282 w 2346282"/>
                <a:gd name="connsiteY2" fmla="*/ 2346282 h 2346282"/>
                <a:gd name="connsiteX3" fmla="*/ 0 w 2346282"/>
                <a:gd name="connsiteY3" fmla="*/ 2346282 h 234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6282" h="2346282">
                  <a:moveTo>
                    <a:pt x="0" y="0"/>
                  </a:moveTo>
                  <a:cubicBezTo>
                    <a:pt x="1295816" y="0"/>
                    <a:pt x="2346282" y="1050466"/>
                    <a:pt x="2346282" y="2346282"/>
                  </a:cubicBezTo>
                  <a:lnTo>
                    <a:pt x="0" y="2346282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8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 b="1">
                <a:solidFill>
                  <a:srgbClr val="FFFFFF"/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051F727-153E-0224-869B-DD277CFE029A}"/>
                </a:ext>
              </a:extLst>
            </p:cNvPr>
            <p:cNvSpPr>
              <a:spLocks/>
            </p:cNvSpPr>
            <p:nvPr/>
          </p:nvSpPr>
          <p:spPr>
            <a:xfrm>
              <a:off x="8957324" y="1535007"/>
              <a:ext cx="2573906" cy="634870"/>
            </a:xfrm>
            <a:prstGeom prst="roundRect">
              <a:avLst/>
            </a:prstGeom>
            <a:gradFill flip="none" rotWithShape="1">
              <a:gsLst>
                <a:gs pos="10000">
                  <a:schemeClr val="accent1">
                    <a:lumMod val="60000"/>
                    <a:lumOff val="40000"/>
                  </a:schemeClr>
                </a:gs>
                <a:gs pos="9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指令处理层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460B6B0-B69E-93CF-3DA4-C0B2A13422A9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164095" y="2324702"/>
              <a:ext cx="3976412" cy="1098140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将输入转换为车体目标速度 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Vx</a:t>
              </a: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Vy </a:t>
              </a: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 </a:t>
              </a:r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ω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结合限幅与滤波形成稳定控制量</a:t>
              </a: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C737CDA8-D17A-3727-EAE0-448D21429C06}"/>
                </a:ext>
              </a:extLst>
            </p:cNvPr>
            <p:cNvSpPr/>
            <p:nvPr/>
          </p:nvSpPr>
          <p:spPr>
            <a:xfrm>
              <a:off x="4726484" y="3738888"/>
              <a:ext cx="1350652" cy="1350652"/>
            </a:xfrm>
            <a:custGeom>
              <a:avLst/>
              <a:gdLst>
                <a:gd name="connsiteX0" fmla="*/ 0 w 2346282"/>
                <a:gd name="connsiteY0" fmla="*/ 2346282 h 2346282"/>
                <a:gd name="connsiteX1" fmla="*/ 2346282 w 2346282"/>
                <a:gd name="connsiteY1" fmla="*/ 0 h 2346282"/>
                <a:gd name="connsiteX2" fmla="*/ 2346282 w 2346282"/>
                <a:gd name="connsiteY2" fmla="*/ 2346282 h 2346282"/>
                <a:gd name="connsiteX3" fmla="*/ 0 w 2346282"/>
                <a:gd name="connsiteY3" fmla="*/ 2346282 h 234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6282" h="2346282">
                  <a:moveTo>
                    <a:pt x="2346282" y="2346282"/>
                  </a:moveTo>
                  <a:cubicBezTo>
                    <a:pt x="1050466" y="2346282"/>
                    <a:pt x="0" y="1295816"/>
                    <a:pt x="0" y="0"/>
                  </a:cubicBezTo>
                  <a:lnTo>
                    <a:pt x="2346282" y="0"/>
                  </a:lnTo>
                  <a:lnTo>
                    <a:pt x="2346282" y="2346282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8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 b="1">
                <a:solidFill>
                  <a:srgbClr val="FFFFFF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2D181D8B-57BC-5C56-929E-4FD51CFFE3AB}"/>
                </a:ext>
              </a:extLst>
            </p:cNvPr>
            <p:cNvSpPr>
              <a:spLocks/>
            </p:cNvSpPr>
            <p:nvPr/>
          </p:nvSpPr>
          <p:spPr>
            <a:xfrm>
              <a:off x="660770" y="3959255"/>
              <a:ext cx="2573906" cy="634870"/>
            </a:xfrm>
            <a:prstGeom prst="roundRect">
              <a:avLst/>
            </a:prstGeom>
            <a:gradFill flip="none" rotWithShape="1">
              <a:gsLst>
                <a:gs pos="10000">
                  <a:schemeClr val="accent1">
                    <a:lumMod val="60000"/>
                    <a:lumOff val="40000"/>
                  </a:schemeClr>
                </a:gs>
                <a:gs pos="9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控制解算层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B4AB229-0765-6D06-5269-DC723919B45D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23935" y="4831195"/>
              <a:ext cx="4069458" cy="1141138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基于目标速度完成平滑处理与逆运动学解算</a:t>
              </a:r>
            </a:p>
            <a:p>
              <a:pPr algn="l">
                <a:lnSpc>
                  <a:spcPct val="13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生成各舵轮目标转角和轮速命令</a:t>
              </a: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45707E7-78B3-530A-2C33-08E1C6F3752C}"/>
                </a:ext>
              </a:extLst>
            </p:cNvPr>
            <p:cNvSpPr/>
            <p:nvPr/>
          </p:nvSpPr>
          <p:spPr>
            <a:xfrm>
              <a:off x="6139523" y="3738887"/>
              <a:ext cx="1350652" cy="1350652"/>
            </a:xfrm>
            <a:custGeom>
              <a:avLst/>
              <a:gdLst>
                <a:gd name="connsiteX0" fmla="*/ 0 w 2346282"/>
                <a:gd name="connsiteY0" fmla="*/ 2346282 h 2346282"/>
                <a:gd name="connsiteX1" fmla="*/ 2346282 w 2346282"/>
                <a:gd name="connsiteY1" fmla="*/ 0 h 2346282"/>
                <a:gd name="connsiteX2" fmla="*/ 2346282 w 2346282"/>
                <a:gd name="connsiteY2" fmla="*/ 2346282 h 2346282"/>
                <a:gd name="connsiteX3" fmla="*/ 0 w 2346282"/>
                <a:gd name="connsiteY3" fmla="*/ 2346282 h 234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6282" h="2346282">
                  <a:moveTo>
                    <a:pt x="2346282" y="0"/>
                  </a:moveTo>
                  <a:cubicBezTo>
                    <a:pt x="2346282" y="1295816"/>
                    <a:pt x="1295816" y="2346282"/>
                    <a:pt x="0" y="2346282"/>
                  </a:cubicBezTo>
                  <a:lnTo>
                    <a:pt x="0" y="0"/>
                  </a:lnTo>
                  <a:lnTo>
                    <a:pt x="2346282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8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 b="1">
                <a:solidFill>
                  <a:srgbClr val="FFFFFF"/>
                </a:solidFill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1C2C8DA6-82A8-BF26-EDAA-2AB9D007AA98}"/>
                </a:ext>
              </a:extLst>
            </p:cNvPr>
            <p:cNvSpPr>
              <a:spLocks/>
            </p:cNvSpPr>
            <p:nvPr/>
          </p:nvSpPr>
          <p:spPr>
            <a:xfrm>
              <a:off x="8957324" y="3959255"/>
              <a:ext cx="2573906" cy="634870"/>
            </a:xfrm>
            <a:prstGeom prst="roundRect">
              <a:avLst/>
            </a:prstGeom>
            <a:gradFill flip="none" rotWithShape="1">
              <a:gsLst>
                <a:gs pos="10000">
                  <a:schemeClr val="accent1">
                    <a:lumMod val="60000"/>
                    <a:lumOff val="40000"/>
                  </a:schemeClr>
                </a:gs>
                <a:gs pos="9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执行与反馈层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CF76F5D-40AD-C67F-EB0C-6CE8B6E67235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006625" y="4827746"/>
              <a:ext cx="3861440" cy="1141138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向执行器下发控制命令</a:t>
              </a:r>
            </a:p>
            <a:p>
              <a:pPr algn="l"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实时读取角度、速度与运行状态信息</a:t>
              </a:r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C05AF651-DA3B-27D7-6C4D-531AEE2EB9FF}"/>
              </a:ext>
            </a:extLst>
          </p:cNvPr>
          <p:cNvSpPr txBox="1"/>
          <p:nvPr/>
        </p:nvSpPr>
        <p:spPr>
          <a:xfrm>
            <a:off x="8053876" y="4927683"/>
            <a:ext cx="932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DF8B02F-FB47-3D04-F881-BB38DA0C9B4A}"/>
              </a:ext>
            </a:extLst>
          </p:cNvPr>
          <p:cNvSpPr txBox="1"/>
          <p:nvPr/>
        </p:nvSpPr>
        <p:spPr>
          <a:xfrm>
            <a:off x="9658911" y="4927683"/>
            <a:ext cx="932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C8A7E50-DC8A-DDEA-1223-BC9F3E58E4E3}"/>
              </a:ext>
            </a:extLst>
          </p:cNvPr>
          <p:cNvSpPr txBox="1"/>
          <p:nvPr/>
        </p:nvSpPr>
        <p:spPr>
          <a:xfrm>
            <a:off x="8091997" y="6419419"/>
            <a:ext cx="932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F4482D1-5875-8E29-1172-A43199347A94}"/>
              </a:ext>
            </a:extLst>
          </p:cNvPr>
          <p:cNvSpPr txBox="1"/>
          <p:nvPr/>
        </p:nvSpPr>
        <p:spPr>
          <a:xfrm>
            <a:off x="9639300" y="6421451"/>
            <a:ext cx="932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6194C38-E1EE-C42C-DB7A-87A93620C25B}"/>
              </a:ext>
            </a:extLst>
          </p:cNvPr>
          <p:cNvSpPr txBox="1"/>
          <p:nvPr/>
        </p:nvSpPr>
        <p:spPr>
          <a:xfrm>
            <a:off x="990600" y="1772917"/>
            <a:ext cx="8857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系统总体方案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控制链路设计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4AF25BB-9454-7A64-D6EC-F417499B4681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5190F444-514E-9FBD-833A-E8B50C9C6106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六边形 39">
              <a:extLst>
                <a:ext uri="{FF2B5EF4-FFF2-40B4-BE49-F238E27FC236}">
                  <a16:creationId xmlns:a16="http://schemas.microsoft.com/office/drawing/2014/main" id="{722ED1A4-ABF1-E16C-9C19-88CE398E882D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B704047C-82C2-F2A5-8BD6-FE17CC603DF8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820BA7F-88D0-5928-EC4E-E7C6ED1F6399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C65225B1-FD79-283F-6CBD-383676E68816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941B10A-DAB6-4A1E-58D9-BFC58BFF05BA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616C951D-CDD4-FC3C-5EB2-F74BE1A870E8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CD043EFF-C205-6EED-2979-B6E6E78AB0E7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7EA51F9-63AD-7616-C9B5-B743DAD1367D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系统方案与运动学建模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337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6562E28-928E-7CDC-F165-4B8B2E5F1ACC}"/>
              </a:ext>
            </a:extLst>
          </p:cNvPr>
          <p:cNvSpPr/>
          <p:nvPr/>
        </p:nvSpPr>
        <p:spPr>
          <a:xfrm>
            <a:off x="17011800" y="1403868"/>
            <a:ext cx="1276200" cy="88831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algn="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gradFill>
                <a:gsLst>
                  <a:gs pos="17000">
                    <a:schemeClr val="accent2"/>
                  </a:gs>
                  <a:gs pos="77000">
                    <a:schemeClr val="accent1"/>
                  </a:gs>
                </a:gsLst>
                <a:lin ang="0" scaled="0"/>
              </a:gradFill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83661A-2B79-1CD1-2FAA-F4F374580699}"/>
              </a:ext>
            </a:extLst>
          </p:cNvPr>
          <p:cNvSpPr/>
          <p:nvPr/>
        </p:nvSpPr>
        <p:spPr>
          <a:xfrm>
            <a:off x="11765019" y="1403868"/>
            <a:ext cx="5280912" cy="88831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sx="95000" sy="95000" algn="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gradFill>
                <a:gsLst>
                  <a:gs pos="17000">
                    <a:schemeClr val="accent2"/>
                  </a:gs>
                  <a:gs pos="77000">
                    <a:schemeClr val="accent1"/>
                  </a:gs>
                </a:gsLst>
                <a:lin ang="0" scaled="0"/>
              </a:gra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8C050-530B-63C1-A76C-28A339CB74EB}"/>
              </a:ext>
            </a:extLst>
          </p:cNvPr>
          <p:cNvSpPr/>
          <p:nvPr/>
        </p:nvSpPr>
        <p:spPr>
          <a:xfrm>
            <a:off x="6505755" y="1403868"/>
            <a:ext cx="5280912" cy="88831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sx="95000" sy="95000" algn="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gradFill>
                <a:gsLst>
                  <a:gs pos="17000">
                    <a:schemeClr val="accent2"/>
                  </a:gs>
                  <a:gs pos="77000">
                    <a:schemeClr val="accent1"/>
                  </a:gs>
                </a:gsLst>
                <a:lin ang="0" scaled="0"/>
              </a:gra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5E0890-4E3E-0388-26A5-BAB3A3107DEE}"/>
              </a:ext>
            </a:extLst>
          </p:cNvPr>
          <p:cNvSpPr/>
          <p:nvPr/>
        </p:nvSpPr>
        <p:spPr>
          <a:xfrm>
            <a:off x="532674" y="1404722"/>
            <a:ext cx="5994729" cy="88822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sx="95000" sy="95000" algn="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gradFill>
                <a:gsLst>
                  <a:gs pos="17000">
                    <a:schemeClr val="accent2"/>
                  </a:gs>
                  <a:gs pos="77000">
                    <a:schemeClr val="accent1"/>
                  </a:gs>
                </a:gsLst>
                <a:lin ang="0" scaled="0"/>
              </a:gra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99449A-8F85-28CA-6132-C64F3B0DB080}"/>
              </a:ext>
            </a:extLst>
          </p:cNvPr>
          <p:cNvSpPr/>
          <p:nvPr/>
        </p:nvSpPr>
        <p:spPr>
          <a:xfrm>
            <a:off x="-4287" y="1382951"/>
            <a:ext cx="1276200" cy="88822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01600" sx="95000" sy="95000" algn="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gradFill>
                <a:gsLst>
                  <a:gs pos="17000">
                    <a:schemeClr val="accent2"/>
                  </a:gs>
                  <a:gs pos="77000">
                    <a:schemeClr val="accent1"/>
                  </a:gs>
                </a:gsLst>
                <a:lin ang="0" scaled="0"/>
              </a:gradFill>
              <a:latin typeface="+mn-ea"/>
            </a:endParaRPr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646F2B64-DEF8-5053-3D75-23E1392DAEFF}"/>
              </a:ext>
            </a:extLst>
          </p:cNvPr>
          <p:cNvSpPr/>
          <p:nvPr/>
        </p:nvSpPr>
        <p:spPr>
          <a:xfrm rot="16200000">
            <a:off x="8202146" y="222915"/>
            <a:ext cx="1883709" cy="18288000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54000" dist="50800" dir="18000000" sx="98000" sy="98000" rotWithShape="0">
              <a:srgbClr val="CEDFBA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zh-CN" altLang="en-US" sz="2700" kern="0">
              <a:solidFill>
                <a:prstClr val="white"/>
              </a:solidFill>
              <a:latin typeface="+mn-ea"/>
              <a:cs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0DAE79F-A4C5-6B24-1225-FC40D6B09088}"/>
              </a:ext>
            </a:extLst>
          </p:cNvPr>
          <p:cNvSpPr txBox="1"/>
          <p:nvPr/>
        </p:nvSpPr>
        <p:spPr>
          <a:xfrm>
            <a:off x="7848600" y="1671282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运动学建模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669A85B-055B-FA11-8C09-66F9813BD297}"/>
              </a:ext>
            </a:extLst>
          </p:cNvPr>
          <p:cNvSpPr txBox="1"/>
          <p:nvPr/>
        </p:nvSpPr>
        <p:spPr>
          <a:xfrm>
            <a:off x="13106400" y="167128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工程实现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1F7FDB1-9E51-7C1C-584C-CFEB411E0F07}"/>
              </a:ext>
            </a:extLst>
          </p:cNvPr>
          <p:cNvGrpSpPr/>
          <p:nvPr/>
        </p:nvGrpSpPr>
        <p:grpSpPr>
          <a:xfrm>
            <a:off x="7217577" y="2613413"/>
            <a:ext cx="4144979" cy="3580973"/>
            <a:chOff x="1240773" y="2947572"/>
            <a:chExt cx="2763319" cy="2387315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C4F9CFB-C9BE-52C7-8F1E-B45D6FFC78DD}"/>
                </a:ext>
              </a:extLst>
            </p:cNvPr>
            <p:cNvSpPr txBox="1"/>
            <p:nvPr/>
          </p:nvSpPr>
          <p:spPr>
            <a:xfrm>
              <a:off x="1242148" y="2947572"/>
              <a:ext cx="2761944" cy="1025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zh-CN" altLang="en-US" sz="19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坐标系定义：</a:t>
              </a:r>
              <a:r>
                <a:rPr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以车体几何中心建立底盘坐标系，定义车体纵向速度 </a:t>
              </a: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Vx</a:t>
              </a:r>
              <a:r>
                <a:rPr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、横向速度 </a:t>
              </a: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Vy </a:t>
              </a:r>
              <a:r>
                <a:rPr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以及角速度 </a:t>
              </a: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ω</a:t>
              </a:r>
              <a:r>
                <a:rPr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，用于描述三舵轮底盘的整体运动状态。</a:t>
              </a:r>
              <a:endParaRPr lang="zh-CN" altLang="en-US" sz="195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1CDD8B7-1B14-A778-0608-5E844777B82B}"/>
                </a:ext>
              </a:extLst>
            </p:cNvPr>
            <p:cNvSpPr txBox="1"/>
            <p:nvPr/>
          </p:nvSpPr>
          <p:spPr>
            <a:xfrm>
              <a:off x="1240773" y="4093350"/>
              <a:ext cx="2761944" cy="1241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90000"/>
                    </a:prstClr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pPr algn="just"/>
              <a:r>
                <a:rPr lang="zh-CN" altLang="en-US" sz="19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速度关系：</a:t>
              </a:r>
              <a:r>
                <a:rPr lang="zh-CN" altLang="en-US" sz="19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根据三个舵轮在底盘上的安装位置，可求得各轮在车体平动速度和角速度共同作用下的局部速度分量，并建立车体速度与各轮局部速度之间的对应关系。</a:t>
              </a:r>
            </a:p>
          </p:txBody>
        </p:sp>
      </p:grpSp>
      <p:sp>
        <p:nvSpPr>
          <p:cNvPr id="34" name="椭圆 33">
            <a:extLst>
              <a:ext uri="{FF2B5EF4-FFF2-40B4-BE49-F238E27FC236}">
                <a16:creationId xmlns:a16="http://schemas.microsoft.com/office/drawing/2014/main" id="{A2560F80-F6C8-D880-0566-2C91A2AE362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001577" y="2740198"/>
            <a:ext cx="216000" cy="216000"/>
          </a:xfrm>
          <a:prstGeom prst="ellipse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8133" tIns="74067" rIns="148133" bIns="7406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✔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18F3A7A-7A96-EE38-44EB-AE215E0C5E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015118" y="4450412"/>
            <a:ext cx="216000" cy="216000"/>
          </a:xfrm>
          <a:prstGeom prst="ellipse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8133" tIns="74067" rIns="148133" bIns="7406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✔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1B3FA08-866E-84D1-35EE-24CF76D9C255}"/>
              </a:ext>
            </a:extLst>
          </p:cNvPr>
          <p:cNvGrpSpPr/>
          <p:nvPr/>
        </p:nvGrpSpPr>
        <p:grpSpPr>
          <a:xfrm>
            <a:off x="12468684" y="2613411"/>
            <a:ext cx="4170641" cy="3570044"/>
            <a:chOff x="1242148" y="2947572"/>
            <a:chExt cx="2780427" cy="2380029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8E770F5-1DCD-90FE-3783-61645B985E77}"/>
                </a:ext>
              </a:extLst>
            </p:cNvPr>
            <p:cNvSpPr txBox="1"/>
            <p:nvPr/>
          </p:nvSpPr>
          <p:spPr>
            <a:xfrm>
              <a:off x="1242148" y="2947572"/>
              <a:ext cx="2761944" cy="1025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zh-CN" altLang="en-US" sz="19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舵角处理：</a:t>
              </a:r>
              <a:r>
                <a:rPr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在实际控制过程中，为减小舵轮转向量并提高控制连续性，需要结合当前舵角状态进行就近选取，并在必要时采用补角翻转策略。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27E3A17-FB96-6F38-3E01-0C52936999DE}"/>
                </a:ext>
              </a:extLst>
            </p:cNvPr>
            <p:cNvSpPr txBox="1"/>
            <p:nvPr/>
          </p:nvSpPr>
          <p:spPr>
            <a:xfrm>
              <a:off x="1260631" y="4086065"/>
              <a:ext cx="2761944" cy="12415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prstClr val="black">
                      <a:lumMod val="85000"/>
                      <a:lumOff val="15000"/>
                      <a:alpha val="90000"/>
                    </a:prstClr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pPr algn="just"/>
              <a:r>
                <a:rPr lang="zh-CN" altLang="en-US" sz="19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约束处理：</a:t>
              </a:r>
              <a:r>
                <a:rPr lang="zh-CN" altLang="en-US" sz="19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考虑到底盘机构的机械角度范围和控制可执行性要求，需要对目标舵角进行范围约束，并在舵轮未转到位时对行走输出进行协调控制。</a:t>
              </a:r>
            </a:p>
          </p:txBody>
        </p:sp>
      </p:grpSp>
      <p:sp>
        <p:nvSpPr>
          <p:cNvPr id="45" name="椭圆 44">
            <a:extLst>
              <a:ext uri="{FF2B5EF4-FFF2-40B4-BE49-F238E27FC236}">
                <a16:creationId xmlns:a16="http://schemas.microsoft.com/office/drawing/2014/main" id="{FBFD92EC-DABD-51F5-5DB1-39DF4C63721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250621" y="2740198"/>
            <a:ext cx="216000" cy="216000"/>
          </a:xfrm>
          <a:prstGeom prst="ellipse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8133" tIns="74067" rIns="148133" bIns="7406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✔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67A9FF17-9C72-D6C8-0E68-B48CFB74897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272608" y="4459982"/>
            <a:ext cx="216000" cy="216000"/>
          </a:xfrm>
          <a:prstGeom prst="ellipse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8133" tIns="74067" rIns="148133" bIns="7406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✔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5D6EE40-1709-0148-13A1-F05C995A9D2E}"/>
              </a:ext>
            </a:extLst>
          </p:cNvPr>
          <p:cNvSpPr txBox="1"/>
          <p:nvPr/>
        </p:nvSpPr>
        <p:spPr>
          <a:xfrm>
            <a:off x="406098" y="8911773"/>
            <a:ext cx="17121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底盘系统方案分析与运动学建模工作，从整体上明确了输入、速度处理、运动学解算、命令输出和状态反馈之间的基本控制链路。同时结合底盘结构建立了车体坐标系，并分析了车体速度与各舵轮舵角、轮速之间的对应关系，为后续控制程序设计和仿真验证提供了理论基础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13347F-4509-A1AF-1850-0B578E33C223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DE030C5-0BA9-BC87-C17B-4D19777E6D9B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六边形 11">
              <a:extLst>
                <a:ext uri="{FF2B5EF4-FFF2-40B4-BE49-F238E27FC236}">
                  <a16:creationId xmlns:a16="http://schemas.microsoft.com/office/drawing/2014/main" id="{4E810D1E-58E0-5A62-42ED-9BB648952737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8C4E0CF-C00D-5F3F-70A8-402FF51E4954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04184FF-15F4-4BFC-BA9A-5A639C32E268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5D70E94-DDF7-B2DE-648D-18F489C75F99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229B2D5B-DDC5-56B4-67B5-E44ACEF02417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FE2CF66-9D2C-70FC-9371-D6A4220CC8F2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9C7B32C-CD2B-B9F3-1CA5-5659BB0A5691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EF12346-2DB9-B140-0A2A-86C2CCB4975E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系统方案与运动学建模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743EDA2-6899-C641-042D-5EFF6B78CA78}"/>
              </a:ext>
            </a:extLst>
          </p:cNvPr>
          <p:cNvSpPr txBox="1"/>
          <p:nvPr/>
        </p:nvSpPr>
        <p:spPr>
          <a:xfrm>
            <a:off x="7231118" y="6372404"/>
            <a:ext cx="4142916" cy="15383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  <a:alpha val="90000"/>
                  </a:prstClr>
                </a:solidFill>
                <a:effectLst/>
                <a:uLnTx/>
                <a:uFillTx/>
                <a:latin typeface="+mn-ea"/>
              </a:defRPr>
            </a:lvl1pPr>
          </a:lstStyle>
          <a:p>
            <a:pPr algn="just"/>
            <a:r>
              <a:rPr lang="zh-CN" altLang="en-US" sz="19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逆运动学求解：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由各舵轮局部速度的方向可计算目标舵角，由局部速度的大小可计算目标轮速，从而完成三舵轮底盘的逆运动学求解。</a:t>
            </a:r>
            <a:endParaRPr lang="zh-CN" altLang="en-US" sz="19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5E2C083-9705-3ED4-7505-E09D61E4A9F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001577" y="6498846"/>
            <a:ext cx="216000" cy="216000"/>
          </a:xfrm>
          <a:prstGeom prst="ellipse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8133" tIns="74067" rIns="148133" bIns="7406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✔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7B1204-1CBA-F808-8D56-D480A6E9DE63}"/>
              </a:ext>
            </a:extLst>
          </p:cNvPr>
          <p:cNvSpPr txBox="1"/>
          <p:nvPr/>
        </p:nvSpPr>
        <p:spPr>
          <a:xfrm>
            <a:off x="12496409" y="6372404"/>
            <a:ext cx="4142916" cy="19077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  <a:alpha val="90000"/>
                  </a:prstClr>
                </a:solidFill>
                <a:effectLst/>
                <a:uLnTx/>
                <a:uFillTx/>
                <a:latin typeface="+mn-ea"/>
              </a:defRPr>
            </a:lvl1pPr>
          </a:lstStyle>
          <a:p>
            <a:pPr algn="just"/>
            <a:r>
              <a:rPr lang="zh-CN" altLang="en-US" sz="19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控制输出：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在完成逆运动学解算和约束处理后，进一步生成各舵轮的目标转角与轮速命令，用于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 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仿真验证和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实物控制指令输出。</a:t>
            </a:r>
            <a:endParaRPr lang="zh-CN" altLang="en-US" sz="19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8CE8435-DC7B-6A0C-9C1E-EBC0C918A9A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2272608" y="6491656"/>
            <a:ext cx="216000" cy="216000"/>
          </a:xfrm>
          <a:prstGeom prst="ellipse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8133" tIns="74067" rIns="148133" bIns="7406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✔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2B90BE62-73AA-6BE2-D9C0-2F7E681D94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89" y="1428414"/>
            <a:ext cx="6359987" cy="690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8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1545D60-5C2D-6FEE-056F-C0671A067573}"/>
              </a:ext>
            </a:extLst>
          </p:cNvPr>
          <p:cNvSpPr/>
          <p:nvPr/>
        </p:nvSpPr>
        <p:spPr>
          <a:xfrm>
            <a:off x="0" y="-1"/>
            <a:ext cx="18288000" cy="695568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>
              <a:latin typeface="+mj-ea"/>
              <a:ea typeface="+mj-ea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166344B6-CB28-50D7-EE69-F641DB16CEFB}"/>
              </a:ext>
            </a:extLst>
          </p:cNvPr>
          <p:cNvSpPr/>
          <p:nvPr/>
        </p:nvSpPr>
        <p:spPr>
          <a:xfrm>
            <a:off x="853440" y="2237243"/>
            <a:ext cx="16550640" cy="5098631"/>
          </a:xfrm>
          <a:prstGeom prst="roundRect">
            <a:avLst>
              <a:gd name="adj" fmla="val 591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9050">
            <a:gradFill>
              <a:gsLst>
                <a:gs pos="0">
                  <a:schemeClr val="accent1"/>
                </a:gs>
                <a:gs pos="7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700" dirty="0">
              <a:latin typeface="+mj-ea"/>
              <a:ea typeface="+mj-ea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D4435513-B467-9516-3D91-F7F92BBA709C}"/>
              </a:ext>
            </a:extLst>
          </p:cNvPr>
          <p:cNvGrpSpPr/>
          <p:nvPr/>
        </p:nvGrpSpPr>
        <p:grpSpPr>
          <a:xfrm>
            <a:off x="853440" y="8430202"/>
            <a:ext cx="16550640" cy="1361497"/>
            <a:chOff x="568960" y="5236780"/>
            <a:chExt cx="11033760" cy="104522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911576E-183B-C290-6B06-527549ECC954}"/>
                </a:ext>
              </a:extLst>
            </p:cNvPr>
            <p:cNvSpPr/>
            <p:nvPr/>
          </p:nvSpPr>
          <p:spPr>
            <a:xfrm>
              <a:off x="1991867" y="5236782"/>
              <a:ext cx="9610853" cy="1045220"/>
            </a:xfrm>
            <a:prstGeom prst="roundRect">
              <a:avLst>
                <a:gd name="adj" fmla="val 3579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76200" dist="381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37160" tIns="68580" rIns="137160" bIns="68580" rtlCol="0" anchor="ctr">
              <a:noAutofit/>
            </a:bodyPr>
            <a:lstStyle/>
            <a:p>
              <a:pPr algn="ctr"/>
              <a:endParaRPr lang="zh-CN" altLang="en-US" sz="3000" b="1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D9D5075-61F4-43A9-AE2E-77B03805B50B}"/>
                </a:ext>
              </a:extLst>
            </p:cNvPr>
            <p:cNvSpPr>
              <a:spLocks/>
            </p:cNvSpPr>
            <p:nvPr/>
          </p:nvSpPr>
          <p:spPr>
            <a:xfrm>
              <a:off x="568960" y="5236780"/>
              <a:ext cx="1605809" cy="1045220"/>
            </a:xfrm>
            <a:prstGeom prst="roundRect">
              <a:avLst>
                <a:gd name="adj" fmla="val 7919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76200" dist="381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37160" tIns="68580" rIns="137160" bIns="68580" rtlCol="0" anchor="ctr">
              <a:noAutofit/>
            </a:bodyPr>
            <a:lstStyle/>
            <a:p>
              <a:pPr algn="ctr"/>
              <a:r>
                <a:rPr lang="zh-CN" altLang="en-US" sz="27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5000">
                        <a:schemeClr val="accent1"/>
                      </a:gs>
                    </a:gsLst>
                    <a:lin ang="27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实现要点</a:t>
              </a:r>
              <a:endParaRPr lang="en-US" altLang="zh-CN" sz="2700" b="1" dirty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5000">
                      <a:schemeClr val="accent1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8B36DF3-01DD-2161-C47A-02F2BCC8016F}"/>
                </a:ext>
              </a:extLst>
            </p:cNvPr>
            <p:cNvSpPr>
              <a:spLocks/>
            </p:cNvSpPr>
            <p:nvPr/>
          </p:nvSpPr>
          <p:spPr>
            <a:xfrm flipH="1">
              <a:off x="2354067" y="5350823"/>
              <a:ext cx="9069356" cy="6655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37160" tIns="68580" rIns="137160" bIns="68580" rtlCol="0" anchor="t" anchorCtr="1">
              <a:noAutofit/>
            </a:bodyPr>
            <a:lstStyle/>
            <a:p>
              <a:pPr>
                <a:lnSpc>
                  <a:spcPct val="120000"/>
                </a:lnSpc>
                <a:spcAft>
                  <a:spcPts val="9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当前已实现底盘 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Vx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Vy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ω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三方向速度控制输入，并完成舵角就近选取、补角翻转及角度约束等关键逻辑设计，同时通过舵轮与行走协调控制，提高控制结果的可执行性和系统运行稳定性。</a:t>
              </a:r>
              <a:endParaRPr lang="zh-CN" altLang="en-US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BB3A7B12-48B5-B1B0-84F7-5F7F0A5A1842}"/>
              </a:ext>
            </a:extLst>
          </p:cNvPr>
          <p:cNvSpPr/>
          <p:nvPr/>
        </p:nvSpPr>
        <p:spPr>
          <a:xfrm rot="10800000">
            <a:off x="853440" y="6341520"/>
            <a:ext cx="16550640" cy="1933578"/>
          </a:xfrm>
          <a:custGeom>
            <a:avLst/>
            <a:gdLst>
              <a:gd name="csX0" fmla="*/ 10902288 w 11033760"/>
              <a:gd name="csY0" fmla="*/ 1003439 h 1003439"/>
              <a:gd name="csX1" fmla="*/ 131472 w 11033760"/>
              <a:gd name="csY1" fmla="*/ 1003439 h 1003439"/>
              <a:gd name="csX2" fmla="*/ 0 w 11033760"/>
              <a:gd name="csY2" fmla="*/ 871967 h 1003439"/>
              <a:gd name="csX3" fmla="*/ 0 w 11033760"/>
              <a:gd name="csY3" fmla="*/ 346092 h 1003439"/>
              <a:gd name="csX4" fmla="*/ 131472 w 11033760"/>
              <a:gd name="csY4" fmla="*/ 214620 h 1003439"/>
              <a:gd name="csX5" fmla="*/ 4620236 w 11033760"/>
              <a:gd name="csY5" fmla="*/ 214620 h 1003439"/>
              <a:gd name="csX6" fmla="*/ 5604084 w 11033760"/>
              <a:gd name="csY6" fmla="*/ 0 h 1003439"/>
              <a:gd name="csX7" fmla="*/ 6587932 w 11033760"/>
              <a:gd name="csY7" fmla="*/ 214620 h 1003439"/>
              <a:gd name="csX8" fmla="*/ 10902288 w 11033760"/>
              <a:gd name="csY8" fmla="*/ 214620 h 1003439"/>
              <a:gd name="csX9" fmla="*/ 11033760 w 11033760"/>
              <a:gd name="csY9" fmla="*/ 346092 h 1003439"/>
              <a:gd name="csX10" fmla="*/ 11033760 w 11033760"/>
              <a:gd name="csY10" fmla="*/ 871967 h 1003439"/>
              <a:gd name="csX11" fmla="*/ 10902288 w 11033760"/>
              <a:gd name="csY11" fmla="*/ 1003439 h 1003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033760" h="1003439">
                <a:moveTo>
                  <a:pt x="10902288" y="1003439"/>
                </a:moveTo>
                <a:lnTo>
                  <a:pt x="131472" y="1003439"/>
                </a:lnTo>
                <a:cubicBezTo>
                  <a:pt x="58862" y="1003439"/>
                  <a:pt x="0" y="944577"/>
                  <a:pt x="0" y="871967"/>
                </a:cubicBezTo>
                <a:lnTo>
                  <a:pt x="0" y="346092"/>
                </a:lnTo>
                <a:cubicBezTo>
                  <a:pt x="0" y="273482"/>
                  <a:pt x="58862" y="214620"/>
                  <a:pt x="131472" y="214620"/>
                </a:cubicBezTo>
                <a:lnTo>
                  <a:pt x="4620236" y="214620"/>
                </a:lnTo>
                <a:lnTo>
                  <a:pt x="5604084" y="0"/>
                </a:lnTo>
                <a:lnTo>
                  <a:pt x="6587932" y="214620"/>
                </a:lnTo>
                <a:lnTo>
                  <a:pt x="10902288" y="214620"/>
                </a:lnTo>
                <a:cubicBezTo>
                  <a:pt x="10974898" y="214620"/>
                  <a:pt x="11033760" y="273482"/>
                  <a:pt x="11033760" y="346092"/>
                </a:cubicBezTo>
                <a:lnTo>
                  <a:pt x="11033760" y="871967"/>
                </a:lnTo>
                <a:cubicBezTo>
                  <a:pt x="11033760" y="944577"/>
                  <a:pt x="10974898" y="1003439"/>
                  <a:pt x="10902288" y="100343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27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B5D67F-78ED-29E7-90FA-FF5FC505B735}"/>
              </a:ext>
            </a:extLst>
          </p:cNvPr>
          <p:cNvSpPr>
            <a:spLocks/>
          </p:cNvSpPr>
          <p:nvPr/>
        </p:nvSpPr>
        <p:spPr>
          <a:xfrm>
            <a:off x="1371597" y="2473918"/>
            <a:ext cx="1186745" cy="642417"/>
          </a:xfrm>
          <a:prstGeom prst="roundRect">
            <a:avLst>
              <a:gd name="adj" fmla="val 791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5000">
                <a:schemeClr val="accent1"/>
              </a:gs>
            </a:gsLst>
            <a:lin ang="2700000" scaled="1"/>
            <a:tileRect/>
          </a:gradFill>
          <a:ln w="12700">
            <a:noFill/>
          </a:ln>
          <a:effectLst>
            <a:outerShdw blurRad="762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rtlCol="0" anchor="ctr">
            <a:no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2CB68C8-CA84-3B48-4574-922650074825}"/>
              </a:ext>
            </a:extLst>
          </p:cNvPr>
          <p:cNvGrpSpPr/>
          <p:nvPr/>
        </p:nvGrpSpPr>
        <p:grpSpPr>
          <a:xfrm>
            <a:off x="1366698" y="5373343"/>
            <a:ext cx="9463927" cy="1194362"/>
            <a:chOff x="698691" y="2162635"/>
            <a:chExt cx="6309284" cy="79624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A793584D-BD50-5523-FEC5-2B95117E5A92}"/>
                </a:ext>
              </a:extLst>
            </p:cNvPr>
            <p:cNvSpPr>
              <a:spLocks/>
            </p:cNvSpPr>
            <p:nvPr/>
          </p:nvSpPr>
          <p:spPr>
            <a:xfrm>
              <a:off x="698691" y="2346616"/>
              <a:ext cx="791163" cy="428278"/>
            </a:xfrm>
            <a:prstGeom prst="roundRect">
              <a:avLst>
                <a:gd name="adj" fmla="val 7919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76200" dist="381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37160" tIns="68580" rIns="137160" bIns="68580" rtlCol="0" anchor="ctr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命令输出</a:t>
              </a:r>
              <a:endPara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Body-2">
              <a:extLst>
                <a:ext uri="{FF2B5EF4-FFF2-40B4-BE49-F238E27FC236}">
                  <a16:creationId xmlns:a16="http://schemas.microsoft.com/office/drawing/2014/main" id="{E3234602-3B82-34BC-4D08-F9F25D8CEA52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1671387" y="2162635"/>
              <a:ext cx="5336588" cy="796241"/>
            </a:xfrm>
            <a:prstGeom prst="rect">
              <a:avLst/>
            </a:prstGeom>
            <a:noFill/>
          </p:spPr>
          <p:txBody>
            <a:bodyPr wrap="square" tIns="54000" bIns="5400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将解算得到的控制量转换为驱动器执行命令，并下发至转向电机和行走电机。</a:t>
              </a:r>
              <a:endParaRPr lang="zh-CN" alt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75" name="0">
            <a:extLst>
              <a:ext uri="{FF2B5EF4-FFF2-40B4-BE49-F238E27FC236}">
                <a16:creationId xmlns:a16="http://schemas.microsoft.com/office/drawing/2014/main" id="{DD086543-39D6-D4B9-2048-34DDE0B017D5}"/>
              </a:ext>
            </a:extLst>
          </p:cNvPr>
          <p:cNvSpPr txBox="1"/>
          <p:nvPr/>
        </p:nvSpPr>
        <p:spPr>
          <a:xfrm flipH="1">
            <a:off x="990596" y="1558788"/>
            <a:ext cx="16287753" cy="6630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algn="ctr" fontAlgn="t">
              <a:defRPr sz="2800" b="1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schemeClr val="accent2">
                      <a:lumMod val="40000"/>
                      <a:lumOff val="60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3000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程序模块</a:t>
            </a:r>
          </a:p>
        </p:txBody>
      </p:sp>
      <p:sp>
        <p:nvSpPr>
          <p:cNvPr id="29" name="Body-2">
            <a:extLst>
              <a:ext uri="{FF2B5EF4-FFF2-40B4-BE49-F238E27FC236}">
                <a16:creationId xmlns:a16="http://schemas.microsoft.com/office/drawing/2014/main" id="{643B5D30-F166-E4B1-2F76-DE82CCE8CD9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56009" y="2161593"/>
            <a:ext cx="8004882" cy="1194362"/>
          </a:xfrm>
          <a:prstGeom prst="rect">
            <a:avLst/>
          </a:prstGeom>
          <a:noFill/>
        </p:spPr>
        <p:txBody>
          <a:bodyPr wrap="square" tIns="54000" bIns="54000" anchor="ctr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手柄控制信号，并映射为底盘目标速度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A473C96-9832-CFD8-DFB8-CE28A96E718C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B649752D-2D35-FB1C-9359-DC14C3F0164F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六边形 5">
              <a:extLst>
                <a:ext uri="{FF2B5EF4-FFF2-40B4-BE49-F238E27FC236}">
                  <a16:creationId xmlns:a16="http://schemas.microsoft.com/office/drawing/2014/main" id="{7A4423FA-B7CF-51BE-E501-23A070B4BA71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3524066-03A0-FEB7-BDAD-34EB54FDC730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9E258FB-FAB4-1596-159C-75FAAFD0C8DE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B9432F0-0F9A-E34D-7D76-BF47F8DF0828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343C2DA-3ED3-5552-66EA-0F2C59D7F866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BB03D81-C131-F9A8-760C-6CFBA7BAED0F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88B39A9-C004-CAA3-3D5C-49CCC64F7580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5314021-C3A9-AC60-39FD-27DA7171D59A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控制程序设计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2EB708A-7399-4DC2-734C-C67591A96DC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823" y="2271633"/>
            <a:ext cx="5305045" cy="5516443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A359FC35-047E-A8DD-898C-BD0E1D7AB294}"/>
              </a:ext>
            </a:extLst>
          </p:cNvPr>
          <p:cNvSpPr>
            <a:spLocks/>
          </p:cNvSpPr>
          <p:nvPr/>
        </p:nvSpPr>
        <p:spPr>
          <a:xfrm>
            <a:off x="1366698" y="3532383"/>
            <a:ext cx="1186745" cy="642418"/>
          </a:xfrm>
          <a:prstGeom prst="roundRect">
            <a:avLst>
              <a:gd name="adj" fmla="val 791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5000">
                <a:schemeClr val="accent1"/>
              </a:gs>
            </a:gsLst>
            <a:lin ang="2700000" scaled="1"/>
            <a:tileRect/>
          </a:gradFill>
          <a:ln w="12700">
            <a:noFill/>
          </a:ln>
          <a:effectLst>
            <a:outerShdw blurRad="762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rtlCol="0" anchor="ctr">
            <a:no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Body-2">
            <a:extLst>
              <a:ext uri="{FF2B5EF4-FFF2-40B4-BE49-F238E27FC236}">
                <a16:creationId xmlns:a16="http://schemas.microsoft.com/office/drawing/2014/main" id="{0AB53C65-FC2C-8D20-F7FB-4564F195D5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822391" y="3252359"/>
            <a:ext cx="8004882" cy="1194362"/>
          </a:xfrm>
          <a:prstGeom prst="rect">
            <a:avLst/>
          </a:prstGeom>
          <a:noFill/>
        </p:spPr>
        <p:txBody>
          <a:bodyPr wrap="square" tIns="54000" bIns="54000" anchor="ctr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型加减速策略对目标速度进行平滑处理，减小速度突变带来的控制冲击。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86D5269-C049-6B35-9490-F59E55B31B7C}"/>
              </a:ext>
            </a:extLst>
          </p:cNvPr>
          <p:cNvSpPr>
            <a:spLocks/>
          </p:cNvSpPr>
          <p:nvPr/>
        </p:nvSpPr>
        <p:spPr>
          <a:xfrm>
            <a:off x="1366698" y="4590849"/>
            <a:ext cx="1186745" cy="642418"/>
          </a:xfrm>
          <a:prstGeom prst="roundRect">
            <a:avLst>
              <a:gd name="adj" fmla="val 791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5000">
                <a:schemeClr val="accent1"/>
              </a:gs>
            </a:gsLst>
            <a:lin ang="2700000" scaled="1"/>
            <a:tileRect/>
          </a:gradFill>
          <a:ln w="12700">
            <a:noFill/>
          </a:ln>
          <a:effectLst>
            <a:outerShdw blurRad="762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rtlCol="0" anchor="ctr">
            <a:no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运动学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解算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Body-2">
            <a:extLst>
              <a:ext uri="{FF2B5EF4-FFF2-40B4-BE49-F238E27FC236}">
                <a16:creationId xmlns:a16="http://schemas.microsoft.com/office/drawing/2014/main" id="{EDFF03D9-F70E-2563-4C85-004EADBD92E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22391" y="4314770"/>
            <a:ext cx="8004882" cy="1194362"/>
          </a:xfrm>
          <a:prstGeom prst="rect">
            <a:avLst/>
          </a:prstGeom>
          <a:noFill/>
        </p:spPr>
        <p:txBody>
          <a:bodyPr wrap="square" tIns="54000" bIns="54000" anchor="ctr">
            <a:no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根据目标速度完成三舵轮逆运动学解算，生成各舵轮舵角与轮速控制量。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05C34F2-6CE7-4CB6-88F8-AFB7C99A654F}"/>
              </a:ext>
            </a:extLst>
          </p:cNvPr>
          <p:cNvSpPr>
            <a:spLocks/>
          </p:cNvSpPr>
          <p:nvPr/>
        </p:nvSpPr>
        <p:spPr>
          <a:xfrm>
            <a:off x="1366697" y="6757568"/>
            <a:ext cx="1186745" cy="642417"/>
          </a:xfrm>
          <a:prstGeom prst="roundRect">
            <a:avLst>
              <a:gd name="adj" fmla="val 791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5000">
                <a:schemeClr val="accent1"/>
              </a:gs>
            </a:gsLst>
            <a:lin ang="2700000" scaled="1"/>
            <a:tileRect/>
          </a:gradFill>
          <a:ln w="12700">
            <a:noFill/>
          </a:ln>
          <a:effectLst>
            <a:outerShdw blurRad="762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rtlCol="0" anchor="ctr">
            <a:noAutofit/>
          </a:bodyPr>
          <a:lstStyle/>
          <a:p>
            <a:pPr algn="ctr"/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状态反馈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Body-2">
            <a:extLst>
              <a:ext uri="{FF2B5EF4-FFF2-40B4-BE49-F238E27FC236}">
                <a16:creationId xmlns:a16="http://schemas.microsoft.com/office/drawing/2014/main" id="{27A5B0BE-2928-B2EE-03B4-6C14ED897F6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787258" y="6475888"/>
            <a:ext cx="8004883" cy="1194362"/>
          </a:xfrm>
          <a:prstGeom prst="rect">
            <a:avLst/>
          </a:prstGeom>
          <a:noFill/>
        </p:spPr>
        <p:txBody>
          <a:bodyPr wrap="square" tIns="54000" bIns="5400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读取电机角度、轮速及节点状态信息，用于控制更新和运行状态监测。</a:t>
            </a:r>
            <a:endParaRPr lang="zh-CN" altLang="en-US" sz="2000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514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58F99-58F7-9B73-7414-8A8A5A9F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B8DA0327-5EAA-A73E-F898-39621F250F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sp>
        <p:nvSpPr>
          <p:cNvPr id="6" name="0">
            <a:extLst>
              <a:ext uri="{FF2B5EF4-FFF2-40B4-BE49-F238E27FC236}">
                <a16:creationId xmlns:a16="http://schemas.microsoft.com/office/drawing/2014/main" id="{D0152998-0909-26FF-EB37-B3868CE44B16}"/>
              </a:ext>
            </a:extLst>
          </p:cNvPr>
          <p:cNvSpPr txBox="1"/>
          <p:nvPr/>
        </p:nvSpPr>
        <p:spPr>
          <a:xfrm flipH="1">
            <a:off x="990596" y="1558788"/>
            <a:ext cx="16287753" cy="6630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algn="ctr" fontAlgn="t">
              <a:defRPr sz="2800" b="1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schemeClr val="accent2">
                      <a:lumMod val="40000"/>
                      <a:lumOff val="60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3000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ROS 2 与 Gazebo 仿真平台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61EF11F-22BB-E13B-8898-21D113397BB2}"/>
              </a:ext>
            </a:extLst>
          </p:cNvPr>
          <p:cNvSpPr>
            <a:spLocks/>
          </p:cNvSpPr>
          <p:nvPr/>
        </p:nvSpPr>
        <p:spPr>
          <a:xfrm>
            <a:off x="1066348" y="2706545"/>
            <a:ext cx="4325650" cy="43916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A100344-6A10-0688-9545-C7CBE3E787CC}"/>
              </a:ext>
            </a:extLst>
          </p:cNvPr>
          <p:cNvGrpSpPr>
            <a:grpSpLocks/>
          </p:cNvGrpSpPr>
          <p:nvPr/>
        </p:nvGrpSpPr>
        <p:grpSpPr>
          <a:xfrm>
            <a:off x="925630" y="2364874"/>
            <a:ext cx="4325650" cy="4391627"/>
            <a:chOff x="4254600" y="2316400"/>
            <a:chExt cx="3682799" cy="3763210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65212ED9-1038-7F54-7299-5E10C50E6C25}"/>
                </a:ext>
              </a:extLst>
            </p:cNvPr>
            <p:cNvSpPr/>
            <p:nvPr/>
          </p:nvSpPr>
          <p:spPr bwMode="auto">
            <a:xfrm>
              <a:off x="4254600" y="2423614"/>
              <a:ext cx="1760989" cy="2843850"/>
            </a:xfrm>
            <a:custGeom>
              <a:avLst/>
              <a:gdLst>
                <a:gd name="T0" fmla="*/ 146 w 276"/>
                <a:gd name="T1" fmla="*/ 332 h 445"/>
                <a:gd name="T2" fmla="*/ 175 w 276"/>
                <a:gd name="T3" fmla="*/ 325 h 445"/>
                <a:gd name="T4" fmla="*/ 160 w 276"/>
                <a:gd name="T5" fmla="*/ 268 h 445"/>
                <a:gd name="T6" fmla="*/ 266 w 276"/>
                <a:gd name="T7" fmla="*/ 151 h 445"/>
                <a:gd name="T8" fmla="*/ 276 w 276"/>
                <a:gd name="T9" fmla="*/ 104 h 445"/>
                <a:gd name="T10" fmla="*/ 203 w 276"/>
                <a:gd name="T11" fmla="*/ 0 h 445"/>
                <a:gd name="T12" fmla="*/ 0 w 276"/>
                <a:gd name="T13" fmla="*/ 268 h 445"/>
                <a:gd name="T14" fmla="*/ 63 w 276"/>
                <a:gd name="T15" fmla="*/ 445 h 445"/>
                <a:gd name="T16" fmla="*/ 146 w 276"/>
                <a:gd name="T17" fmla="*/ 33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6" h="445">
                  <a:moveTo>
                    <a:pt x="146" y="332"/>
                  </a:moveTo>
                  <a:cubicBezTo>
                    <a:pt x="156" y="329"/>
                    <a:pt x="165" y="326"/>
                    <a:pt x="175" y="325"/>
                  </a:cubicBezTo>
                  <a:cubicBezTo>
                    <a:pt x="165" y="308"/>
                    <a:pt x="160" y="289"/>
                    <a:pt x="160" y="268"/>
                  </a:cubicBezTo>
                  <a:cubicBezTo>
                    <a:pt x="160" y="207"/>
                    <a:pt x="206" y="157"/>
                    <a:pt x="266" y="151"/>
                  </a:cubicBezTo>
                  <a:cubicBezTo>
                    <a:pt x="272" y="136"/>
                    <a:pt x="276" y="121"/>
                    <a:pt x="276" y="104"/>
                  </a:cubicBezTo>
                  <a:cubicBezTo>
                    <a:pt x="276" y="56"/>
                    <a:pt x="245" y="16"/>
                    <a:pt x="203" y="0"/>
                  </a:cubicBezTo>
                  <a:cubicBezTo>
                    <a:pt x="86" y="33"/>
                    <a:pt x="0" y="141"/>
                    <a:pt x="0" y="268"/>
                  </a:cubicBezTo>
                  <a:cubicBezTo>
                    <a:pt x="0" y="335"/>
                    <a:pt x="24" y="397"/>
                    <a:pt x="63" y="445"/>
                  </a:cubicBezTo>
                  <a:cubicBezTo>
                    <a:pt x="66" y="395"/>
                    <a:pt x="97" y="350"/>
                    <a:pt x="146" y="33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700" dirty="0">
                <a:noFill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39B86F5F-9894-D8CA-4DEE-CEDFF9530448}"/>
                </a:ext>
              </a:extLst>
            </p:cNvPr>
            <p:cNvSpPr/>
            <p:nvPr/>
          </p:nvSpPr>
          <p:spPr bwMode="auto">
            <a:xfrm>
              <a:off x="5728792" y="2316400"/>
              <a:ext cx="2208607" cy="2479323"/>
            </a:xfrm>
            <a:custGeom>
              <a:avLst/>
              <a:gdLst>
                <a:gd name="T0" fmla="*/ 56 w 346"/>
                <a:gd name="T1" fmla="*/ 139 h 388"/>
                <a:gd name="T2" fmla="*/ 48 w 346"/>
                <a:gd name="T3" fmla="*/ 167 h 388"/>
                <a:gd name="T4" fmla="*/ 105 w 346"/>
                <a:gd name="T5" fmla="*/ 182 h 388"/>
                <a:gd name="T6" fmla="*/ 155 w 346"/>
                <a:gd name="T7" fmla="*/ 332 h 388"/>
                <a:gd name="T8" fmla="*/ 191 w 346"/>
                <a:gd name="T9" fmla="*/ 364 h 388"/>
                <a:gd name="T10" fmla="*/ 317 w 346"/>
                <a:gd name="T11" fmla="*/ 352 h 388"/>
                <a:gd name="T12" fmla="*/ 184 w 346"/>
                <a:gd name="T13" fmla="*/ 43 h 388"/>
                <a:gd name="T14" fmla="*/ 0 w 346"/>
                <a:gd name="T15" fmla="*/ 11 h 388"/>
                <a:gd name="T16" fmla="*/ 56 w 346"/>
                <a:gd name="T17" fmla="*/ 139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6" h="388">
                  <a:moveTo>
                    <a:pt x="56" y="139"/>
                  </a:moveTo>
                  <a:cubicBezTo>
                    <a:pt x="55" y="149"/>
                    <a:pt x="52" y="158"/>
                    <a:pt x="48" y="167"/>
                  </a:cubicBezTo>
                  <a:cubicBezTo>
                    <a:pt x="68" y="167"/>
                    <a:pt x="87" y="172"/>
                    <a:pt x="105" y="182"/>
                  </a:cubicBezTo>
                  <a:cubicBezTo>
                    <a:pt x="158" y="213"/>
                    <a:pt x="179" y="278"/>
                    <a:pt x="155" y="332"/>
                  </a:cubicBezTo>
                  <a:cubicBezTo>
                    <a:pt x="164" y="345"/>
                    <a:pt x="176" y="356"/>
                    <a:pt x="191" y="364"/>
                  </a:cubicBezTo>
                  <a:cubicBezTo>
                    <a:pt x="232" y="388"/>
                    <a:pt x="283" y="382"/>
                    <a:pt x="317" y="352"/>
                  </a:cubicBezTo>
                  <a:cubicBezTo>
                    <a:pt x="346" y="234"/>
                    <a:pt x="295" y="106"/>
                    <a:pt x="184" y="43"/>
                  </a:cubicBezTo>
                  <a:cubicBezTo>
                    <a:pt x="126" y="10"/>
                    <a:pt x="61" y="0"/>
                    <a:pt x="0" y="11"/>
                  </a:cubicBezTo>
                  <a:cubicBezTo>
                    <a:pt x="41" y="37"/>
                    <a:pt x="65" y="87"/>
                    <a:pt x="56" y="1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700">
                <a:noFill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2232A815-681D-889D-3CC4-93B7D136CBFC}"/>
                </a:ext>
              </a:extLst>
            </p:cNvPr>
            <p:cNvSpPr/>
            <p:nvPr/>
          </p:nvSpPr>
          <p:spPr bwMode="auto">
            <a:xfrm>
              <a:off x="4753145" y="4514286"/>
              <a:ext cx="2948384" cy="1565324"/>
            </a:xfrm>
            <a:custGeom>
              <a:avLst/>
              <a:gdLst>
                <a:gd name="T0" fmla="*/ 322 w 462"/>
                <a:gd name="T1" fmla="*/ 22 h 245"/>
                <a:gd name="T2" fmla="*/ 302 w 462"/>
                <a:gd name="T3" fmla="*/ 0 h 245"/>
                <a:gd name="T4" fmla="*/ 260 w 462"/>
                <a:gd name="T5" fmla="*/ 42 h 245"/>
                <a:gd name="T6" fmla="*/ 105 w 462"/>
                <a:gd name="T7" fmla="*/ 12 h 245"/>
                <a:gd name="T8" fmla="*/ 60 w 462"/>
                <a:gd name="T9" fmla="*/ 27 h 245"/>
                <a:gd name="T10" fmla="*/ 8 w 462"/>
                <a:gd name="T11" fmla="*/ 142 h 245"/>
                <a:gd name="T12" fmla="*/ 342 w 462"/>
                <a:gd name="T13" fmla="*/ 180 h 245"/>
                <a:gd name="T14" fmla="*/ 462 w 462"/>
                <a:gd name="T15" fmla="*/ 35 h 245"/>
                <a:gd name="T16" fmla="*/ 322 w 462"/>
                <a:gd name="T17" fmla="*/ 22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245">
                  <a:moveTo>
                    <a:pt x="322" y="22"/>
                  </a:moveTo>
                  <a:cubicBezTo>
                    <a:pt x="315" y="15"/>
                    <a:pt x="308" y="8"/>
                    <a:pt x="302" y="0"/>
                  </a:cubicBezTo>
                  <a:cubicBezTo>
                    <a:pt x="292" y="17"/>
                    <a:pt x="278" y="32"/>
                    <a:pt x="260" y="42"/>
                  </a:cubicBezTo>
                  <a:cubicBezTo>
                    <a:pt x="208" y="74"/>
                    <a:pt x="141" y="59"/>
                    <a:pt x="105" y="12"/>
                  </a:cubicBezTo>
                  <a:cubicBezTo>
                    <a:pt x="90" y="13"/>
                    <a:pt x="74" y="18"/>
                    <a:pt x="60" y="27"/>
                  </a:cubicBezTo>
                  <a:cubicBezTo>
                    <a:pt x="19" y="51"/>
                    <a:pt x="0" y="98"/>
                    <a:pt x="8" y="142"/>
                  </a:cubicBezTo>
                  <a:cubicBezTo>
                    <a:pt x="96" y="226"/>
                    <a:pt x="232" y="245"/>
                    <a:pt x="342" y="180"/>
                  </a:cubicBezTo>
                  <a:cubicBezTo>
                    <a:pt x="400" y="146"/>
                    <a:pt x="440" y="94"/>
                    <a:pt x="462" y="35"/>
                  </a:cubicBezTo>
                  <a:cubicBezTo>
                    <a:pt x="418" y="58"/>
                    <a:pt x="363" y="55"/>
                    <a:pt x="322" y="2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700">
                <a:noFill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E0A1C3AF-0CB1-13C8-8C25-46847428AC06}"/>
                </a:ext>
              </a:extLst>
            </p:cNvPr>
            <p:cNvSpPr/>
            <p:nvPr/>
          </p:nvSpPr>
          <p:spPr bwMode="auto">
            <a:xfrm rot="21261134">
              <a:off x="4417543" y="2959616"/>
              <a:ext cx="829571" cy="1635609"/>
            </a:xfrm>
            <a:custGeom>
              <a:avLst/>
              <a:gdLst>
                <a:gd name="T0" fmla="*/ 116 w 116"/>
                <a:gd name="T1" fmla="*/ 0 h 232"/>
                <a:gd name="T2" fmla="*/ 8 w 116"/>
                <a:gd name="T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6" h="232">
                  <a:moveTo>
                    <a:pt x="116" y="0"/>
                  </a:moveTo>
                  <a:cubicBezTo>
                    <a:pt x="116" y="0"/>
                    <a:pt x="0" y="48"/>
                    <a:pt x="8" y="232"/>
                  </a:cubicBezTo>
                </a:path>
              </a:pathLst>
            </a:custGeom>
            <a:noFill/>
            <a:ln w="19050" cap="flat">
              <a:gradFill>
                <a:gsLst>
                  <a:gs pos="2000">
                    <a:srgbClr val="FFFFFF"/>
                  </a:gs>
                  <a:gs pos="98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  <a:headEnd type="arrow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700" dirty="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3359896D-5BD6-A8EA-E6EF-870414A0B953}"/>
                </a:ext>
              </a:extLst>
            </p:cNvPr>
            <p:cNvSpPr/>
            <p:nvPr/>
          </p:nvSpPr>
          <p:spPr bwMode="auto">
            <a:xfrm rot="6643369">
              <a:off x="6497722" y="2401552"/>
              <a:ext cx="829571" cy="1635609"/>
            </a:xfrm>
            <a:custGeom>
              <a:avLst/>
              <a:gdLst>
                <a:gd name="T0" fmla="*/ 116 w 116"/>
                <a:gd name="T1" fmla="*/ 0 h 232"/>
                <a:gd name="T2" fmla="*/ 8 w 116"/>
                <a:gd name="T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6" h="232">
                  <a:moveTo>
                    <a:pt x="116" y="0"/>
                  </a:moveTo>
                  <a:cubicBezTo>
                    <a:pt x="116" y="0"/>
                    <a:pt x="0" y="48"/>
                    <a:pt x="8" y="232"/>
                  </a:cubicBezTo>
                </a:path>
              </a:pathLst>
            </a:custGeom>
            <a:noFill/>
            <a:ln w="19050" cap="flat">
              <a:gradFill>
                <a:gsLst>
                  <a:gs pos="2000">
                    <a:srgbClr val="FFFFFF"/>
                  </a:gs>
                  <a:gs pos="98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  <a:headEnd type="arrow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700" dirty="0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080FB02-6B85-2330-54DB-0737481DDCFD}"/>
                </a:ext>
              </a:extLst>
            </p:cNvPr>
            <p:cNvSpPr/>
            <p:nvPr/>
          </p:nvSpPr>
          <p:spPr bwMode="auto">
            <a:xfrm rot="13712682">
              <a:off x="6009937" y="4537171"/>
              <a:ext cx="829571" cy="1635609"/>
            </a:xfrm>
            <a:custGeom>
              <a:avLst/>
              <a:gdLst>
                <a:gd name="T0" fmla="*/ 116 w 116"/>
                <a:gd name="T1" fmla="*/ 0 h 232"/>
                <a:gd name="T2" fmla="*/ 8 w 116"/>
                <a:gd name="T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6" h="232">
                  <a:moveTo>
                    <a:pt x="116" y="0"/>
                  </a:moveTo>
                  <a:cubicBezTo>
                    <a:pt x="116" y="0"/>
                    <a:pt x="0" y="48"/>
                    <a:pt x="8" y="232"/>
                  </a:cubicBezTo>
                </a:path>
              </a:pathLst>
            </a:custGeom>
            <a:noFill/>
            <a:ln w="19050" cap="flat">
              <a:gradFill>
                <a:gsLst>
                  <a:gs pos="2000">
                    <a:srgbClr val="FFFFFF"/>
                  </a:gs>
                  <a:gs pos="98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  <a:headEnd type="arrow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37160" tIns="68580" rIns="137160" bIns="6858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7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D07F98C-A3CC-CA85-13E2-9CD606AF9933}"/>
              </a:ext>
            </a:extLst>
          </p:cNvPr>
          <p:cNvGrpSpPr/>
          <p:nvPr/>
        </p:nvGrpSpPr>
        <p:grpSpPr>
          <a:xfrm>
            <a:off x="5632464" y="2290423"/>
            <a:ext cx="12274352" cy="4142481"/>
            <a:chOff x="5886917" y="1130300"/>
            <a:chExt cx="5631984" cy="5003800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5228E54-E902-A4D8-69F3-D9B09EF380F8}"/>
                </a:ext>
              </a:extLst>
            </p:cNvPr>
            <p:cNvGrpSpPr/>
            <p:nvPr/>
          </p:nvGrpSpPr>
          <p:grpSpPr>
            <a:xfrm>
              <a:off x="5886917" y="1130300"/>
              <a:ext cx="5631984" cy="1518736"/>
              <a:chOff x="5886917" y="1130300"/>
              <a:chExt cx="5631984" cy="1518736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A52EA222-1052-E83A-FC75-98FFD502525B}"/>
                  </a:ext>
                </a:extLst>
              </p:cNvPr>
              <p:cNvSpPr/>
              <p:nvPr/>
            </p:nvSpPr>
            <p:spPr>
              <a:xfrm>
                <a:off x="5886917" y="1130300"/>
                <a:ext cx="5631984" cy="1518736"/>
              </a:xfrm>
              <a:prstGeom prst="roundRect">
                <a:avLst>
                  <a:gd name="adj" fmla="val 9820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schemeClr val="accent1">
                    <a:alpha val="2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C02EF302-A48A-7293-7523-CD156B31D0DB}"/>
                  </a:ext>
                </a:extLst>
              </p:cNvPr>
              <p:cNvGrpSpPr/>
              <p:nvPr/>
            </p:nvGrpSpPr>
            <p:grpSpPr>
              <a:xfrm>
                <a:off x="6051617" y="1202419"/>
                <a:ext cx="5302584" cy="1374499"/>
                <a:chOff x="-1245929" y="1873557"/>
                <a:chExt cx="5302584" cy="1374499"/>
              </a:xfrm>
            </p:grpSpPr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4F0F226-1B35-2D12-A7FD-C572689AE8C0}"/>
                    </a:ext>
                  </a:extLst>
                </p:cNvPr>
                <p:cNvSpPr txBox="1"/>
                <p:nvPr/>
              </p:nvSpPr>
              <p:spPr>
                <a:xfrm>
                  <a:off x="-1245929" y="2366092"/>
                  <a:ext cx="5302584" cy="88196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 defTabSz="1370648">
                    <a:lnSpc>
                      <a:spcPct val="120000"/>
                    </a:lnSpc>
                    <a:buSzPct val="100000"/>
                    <a:defRPr/>
                  </a:pPr>
                  <a:r>
                    <a:rPr lang="zh-CN" altLang="en-US" sz="21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建立与实物结构对应的三舵轮 URDF模型，并配置底盘几何参数与关节关系。</a:t>
                  </a:r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C740CAC-9BBA-51FF-A4E0-FFF0B3DC1D59}"/>
                    </a:ext>
                  </a:extLst>
                </p:cNvPr>
                <p:cNvSpPr txBox="1"/>
                <p:nvPr/>
              </p:nvSpPr>
              <p:spPr>
                <a:xfrm>
                  <a:off x="-1245929" y="1873557"/>
                  <a:ext cx="5302584" cy="49253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 fontScale="55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3600" b="1" dirty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模型搭建</a:t>
                  </a:r>
                </a:p>
              </p:txBody>
            </p:sp>
          </p:grp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F286876-ECF6-EFAC-5BB3-AABA0744A987}"/>
                </a:ext>
              </a:extLst>
            </p:cNvPr>
            <p:cNvGrpSpPr/>
            <p:nvPr/>
          </p:nvGrpSpPr>
          <p:grpSpPr>
            <a:xfrm>
              <a:off x="5886917" y="2872832"/>
              <a:ext cx="5631984" cy="1518736"/>
              <a:chOff x="5886917" y="1130300"/>
              <a:chExt cx="5631984" cy="1518736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45AA3FB8-41D1-B765-0095-457D43B9F0E8}"/>
                  </a:ext>
                </a:extLst>
              </p:cNvPr>
              <p:cNvSpPr/>
              <p:nvPr/>
            </p:nvSpPr>
            <p:spPr>
              <a:xfrm>
                <a:off x="5886917" y="1130300"/>
                <a:ext cx="5631984" cy="1518736"/>
              </a:xfrm>
              <a:prstGeom prst="roundRect">
                <a:avLst>
                  <a:gd name="adj" fmla="val 9820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schemeClr val="accent1">
                    <a:alpha val="2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D549AA4-DDCB-BAFA-F308-9E54CEB68842}"/>
                  </a:ext>
                </a:extLst>
              </p:cNvPr>
              <p:cNvGrpSpPr/>
              <p:nvPr/>
            </p:nvGrpSpPr>
            <p:grpSpPr>
              <a:xfrm>
                <a:off x="6051617" y="1202419"/>
                <a:ext cx="5302584" cy="1374499"/>
                <a:chOff x="-1245929" y="1873557"/>
                <a:chExt cx="5302584" cy="1374499"/>
              </a:xfrm>
            </p:grpSpPr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52782EA-AE03-6ED9-E1D5-0864AD9818EF}"/>
                    </a:ext>
                  </a:extLst>
                </p:cNvPr>
                <p:cNvSpPr txBox="1"/>
                <p:nvPr/>
              </p:nvSpPr>
              <p:spPr>
                <a:xfrm>
                  <a:off x="-1245929" y="2366092"/>
                  <a:ext cx="5302584" cy="88196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 defTabSz="1370648">
                    <a:lnSpc>
                      <a:spcPct val="120000"/>
                    </a:lnSpc>
                    <a:buSzPct val="100000"/>
                    <a:defRPr/>
                  </a:pPr>
                  <a:r>
                    <a:rPr lang="zh-CN" altLang="en-US" sz="21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通过 ROS 2 节点将 cmd_vel 转换为舵角和轮速命令，并结合 ros2_control 完成控制器配置。</a:t>
                  </a:r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DD0E53F-9871-2EBE-10BA-8C9C6FAF72A8}"/>
                    </a:ext>
                  </a:extLst>
                </p:cNvPr>
                <p:cNvSpPr txBox="1"/>
                <p:nvPr/>
              </p:nvSpPr>
              <p:spPr>
                <a:xfrm>
                  <a:off x="-1245929" y="1873557"/>
                  <a:ext cx="5302584" cy="49253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 fontScale="55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3600" b="1" dirty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控制链路配置</a:t>
                  </a:r>
                </a:p>
              </p:txBody>
            </p:sp>
          </p:grp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327D591-4209-28B7-F79E-B96873C7A323}"/>
                </a:ext>
              </a:extLst>
            </p:cNvPr>
            <p:cNvGrpSpPr/>
            <p:nvPr/>
          </p:nvGrpSpPr>
          <p:grpSpPr>
            <a:xfrm>
              <a:off x="5886917" y="4615364"/>
              <a:ext cx="5631984" cy="1518736"/>
              <a:chOff x="5886917" y="1130300"/>
              <a:chExt cx="5631984" cy="1518736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5B84BD06-210D-A21C-60AF-16299F50DBC1}"/>
                  </a:ext>
                </a:extLst>
              </p:cNvPr>
              <p:cNvSpPr/>
              <p:nvPr/>
            </p:nvSpPr>
            <p:spPr>
              <a:xfrm>
                <a:off x="5886917" y="1130300"/>
                <a:ext cx="5631984" cy="1518736"/>
              </a:xfrm>
              <a:prstGeom prst="roundRect">
                <a:avLst>
                  <a:gd name="adj" fmla="val 9820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schemeClr val="accent1">
                    <a:alpha val="2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95CAA22A-1214-29DB-7986-37592FAA91A4}"/>
                  </a:ext>
                </a:extLst>
              </p:cNvPr>
              <p:cNvGrpSpPr/>
              <p:nvPr/>
            </p:nvGrpSpPr>
            <p:grpSpPr>
              <a:xfrm>
                <a:off x="6051617" y="1202419"/>
                <a:ext cx="5302584" cy="1374499"/>
                <a:chOff x="-1245929" y="1873557"/>
                <a:chExt cx="5302584" cy="1374499"/>
              </a:xfrm>
            </p:grpSpPr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9B3D1E-258B-351A-1135-8D14A391C089}"/>
                    </a:ext>
                  </a:extLst>
                </p:cNvPr>
                <p:cNvSpPr txBox="1"/>
                <p:nvPr/>
              </p:nvSpPr>
              <p:spPr>
                <a:xfrm>
                  <a:off x="-1245929" y="2366092"/>
                  <a:ext cx="5302584" cy="88196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 defTabSz="1370648">
                    <a:lnSpc>
                      <a:spcPct val="120000"/>
                    </a:lnSpc>
                    <a:buSzPct val="100000"/>
                    <a:defRPr/>
                  </a:pPr>
                  <a:r>
                    <a:rPr lang="zh-CN" altLang="en-US" sz="21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已对前进、横移和原地旋转等典型工况开展仿真联调，用于辅助验证控制逻辑合理性。</a:t>
                  </a: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A4BA9C8-1FD0-1C56-5012-4032A7BDDCC6}"/>
                    </a:ext>
                  </a:extLst>
                </p:cNvPr>
                <p:cNvSpPr txBox="1"/>
                <p:nvPr/>
              </p:nvSpPr>
              <p:spPr>
                <a:xfrm>
                  <a:off x="-1245929" y="1873557"/>
                  <a:ext cx="5302584" cy="49253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 fontScale="550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3600" b="1" dirty="0">
                      <a:solidFill>
                        <a:schemeClr val="accent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联调验证流程</a:t>
                  </a:r>
                </a:p>
              </p:txBody>
            </p:sp>
          </p:grpSp>
        </p:grp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854822A6-9085-F848-4CD2-5590EF7F96D1}"/>
              </a:ext>
            </a:extLst>
          </p:cNvPr>
          <p:cNvSpPr txBox="1"/>
          <p:nvPr/>
        </p:nvSpPr>
        <p:spPr>
          <a:xfrm>
            <a:off x="1511199" y="6664903"/>
            <a:ext cx="3014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仿真验证链路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9DCF908-A49D-7CC8-E51A-BD30A02CF31B}"/>
              </a:ext>
            </a:extLst>
          </p:cNvPr>
          <p:cNvSpPr txBox="1"/>
          <p:nvPr/>
        </p:nvSpPr>
        <p:spPr>
          <a:xfrm>
            <a:off x="1703960" y="3239908"/>
            <a:ext cx="98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BB2913C-9F83-954D-9D18-A335B8B7C289}"/>
              </a:ext>
            </a:extLst>
          </p:cNvPr>
          <p:cNvSpPr txBox="1"/>
          <p:nvPr/>
        </p:nvSpPr>
        <p:spPr>
          <a:xfrm>
            <a:off x="3836648" y="3918856"/>
            <a:ext cx="98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解算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44DE13E-BF49-A5F1-72B5-FA31C3CD180D}"/>
              </a:ext>
            </a:extLst>
          </p:cNvPr>
          <p:cNvSpPr txBox="1"/>
          <p:nvPr/>
        </p:nvSpPr>
        <p:spPr>
          <a:xfrm>
            <a:off x="2302393" y="5581532"/>
            <a:ext cx="98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4ED1393-12B2-1EC6-880F-D63502035854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861A871A-2898-8177-A60E-0C369B643B76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六边形 4">
              <a:extLst>
                <a:ext uri="{FF2B5EF4-FFF2-40B4-BE49-F238E27FC236}">
                  <a16:creationId xmlns:a16="http://schemas.microsoft.com/office/drawing/2014/main" id="{B94A241C-1C3D-C109-376D-090776F2B554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5D3188F-29A2-32E8-D251-CB493447E0D2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8E3499F-B86D-AE59-C052-9B4003DF153C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73933C9-8391-0B1C-E22B-E0CEBC9563CF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E55D979-27D2-C37F-A6CB-900D3731D2FA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FE0BBDC-E9BC-796F-BBA5-638B131EEE53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F1A032AD-A15B-7752-7CE0-0BD244DD32EB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0BE7651-FC55-7DBE-120E-00F82C3854BA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仿真平台搭建与验证</a:t>
              </a:r>
            </a:p>
          </p:txBody>
        </p:sp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982116A3-4633-92D6-615C-06E2C8C0B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817" y="6511734"/>
            <a:ext cx="7536327" cy="361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23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/>
        </p:nvSpPr>
        <p:spPr>
          <a:xfrm>
            <a:off x="0" y="9927657"/>
            <a:ext cx="18288000" cy="359343"/>
          </a:xfrm>
          <a:custGeom>
            <a:avLst/>
            <a:gdLst>
              <a:gd name="connsiteX0" fmla="*/ 0 w 12192000"/>
              <a:gd name="connsiteY0" fmla="*/ 0 h 239562"/>
              <a:gd name="connsiteX1" fmla="*/ 12192000 w 12192000"/>
              <a:gd name="connsiteY1" fmla="*/ 0 h 239562"/>
              <a:gd name="connsiteX2" fmla="*/ 12192000 w 12192000"/>
              <a:gd name="connsiteY2" fmla="*/ 239562 h 239562"/>
              <a:gd name="connsiteX3" fmla="*/ 0 w 12192000"/>
              <a:gd name="connsiteY3" fmla="*/ 239562 h 23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9562">
                <a:moveTo>
                  <a:pt x="0" y="0"/>
                </a:moveTo>
                <a:lnTo>
                  <a:pt x="12192000" y="0"/>
                </a:lnTo>
                <a:lnTo>
                  <a:pt x="12192000" y="239562"/>
                </a:lnTo>
                <a:lnTo>
                  <a:pt x="0" y="23956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700">
              <a:cs typeface="思源宋体 CN Medium" panose="02020500000000000000" charset="-122"/>
            </a:endParaRPr>
          </a:p>
        </p:txBody>
      </p:sp>
      <p:sp>
        <p:nvSpPr>
          <p:cNvPr id="34" name="0">
            <a:extLst>
              <a:ext uri="{FF2B5EF4-FFF2-40B4-BE49-F238E27FC236}">
                <a16:creationId xmlns:a16="http://schemas.microsoft.com/office/drawing/2014/main" id="{9B01E19F-B43D-F616-80FA-C290988AFF75}"/>
              </a:ext>
            </a:extLst>
          </p:cNvPr>
          <p:cNvSpPr txBox="1"/>
          <p:nvPr/>
        </p:nvSpPr>
        <p:spPr>
          <a:xfrm flipH="1">
            <a:off x="990595" y="1558788"/>
            <a:ext cx="6749999" cy="6630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algn="ctr" fontAlgn="t">
              <a:defRPr sz="2800" b="1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schemeClr val="accent2">
                      <a:lumMod val="40000"/>
                      <a:lumOff val="60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3000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阶段性结果与当前问题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89C4588-7018-6CBD-603C-BD734B4FB452}"/>
              </a:ext>
            </a:extLst>
          </p:cNvPr>
          <p:cNvGrpSpPr/>
          <p:nvPr/>
        </p:nvGrpSpPr>
        <p:grpSpPr>
          <a:xfrm>
            <a:off x="1143387" y="2488500"/>
            <a:ext cx="7390907" cy="3787241"/>
            <a:chOff x="660400" y="1317648"/>
            <a:chExt cx="4927271" cy="4551939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0A1B1FA0-8193-9F28-1819-11E9042F528D}"/>
                </a:ext>
              </a:extLst>
            </p:cNvPr>
            <p:cNvSpPr/>
            <p:nvPr/>
          </p:nvSpPr>
          <p:spPr>
            <a:xfrm>
              <a:off x="660400" y="1494031"/>
              <a:ext cx="4927271" cy="4375556"/>
            </a:xfrm>
            <a:prstGeom prst="roundRect">
              <a:avLst>
                <a:gd name="adj" fmla="val 6148"/>
              </a:avLst>
            </a:prstGeom>
            <a:solidFill>
              <a:srgbClr val="FFFFFF"/>
            </a:solidFill>
            <a:ln w="19050" cap="flat">
              <a:solidFill>
                <a:schemeClr val="accent1"/>
              </a:solidFill>
              <a:prstDash val="solid"/>
              <a:miter/>
            </a:ln>
            <a:effectLst>
              <a:outerShdw blurRad="76200" dist="50800" dir="5400000" algn="t" rotWithShape="0">
                <a:schemeClr val="accent1"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70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FD83CAA-33CF-FBCD-089E-D1330A859C9A}"/>
                </a:ext>
              </a:extLst>
            </p:cNvPr>
            <p:cNvGrpSpPr/>
            <p:nvPr/>
          </p:nvGrpSpPr>
          <p:grpSpPr>
            <a:xfrm>
              <a:off x="1560183" y="1394812"/>
              <a:ext cx="3127706" cy="430199"/>
              <a:chOff x="4523883" y="1944966"/>
              <a:chExt cx="3144235" cy="432473"/>
            </a:xfrm>
            <a:effectLst>
              <a:outerShdw blurRad="50800" dist="38100" dir="5400000" algn="t" rotWithShape="0">
                <a:schemeClr val="accent1">
                  <a:alpha val="40000"/>
                </a:schemeClr>
              </a:outerShdw>
            </a:effectLst>
          </p:grpSpPr>
          <p:sp>
            <p:nvSpPr>
              <p:cNvPr id="40" name="矩形: 圆顶角 39">
                <a:extLst>
                  <a:ext uri="{FF2B5EF4-FFF2-40B4-BE49-F238E27FC236}">
                    <a16:creationId xmlns:a16="http://schemas.microsoft.com/office/drawing/2014/main" id="{33284844-59BB-21FB-7E38-AF7B753C43FA}"/>
                  </a:ext>
                </a:extLst>
              </p:cNvPr>
              <p:cNvSpPr/>
              <p:nvPr/>
            </p:nvSpPr>
            <p:spPr>
              <a:xfrm>
                <a:off x="4523883" y="1944967"/>
                <a:ext cx="3144235" cy="9974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70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任意多边形: 形状 40" descr="D:\51PPT模板网\51pptmoban.com\图片.jpg">
                <a:extLst>
                  <a:ext uri="{FF2B5EF4-FFF2-40B4-BE49-F238E27FC236}">
                    <a16:creationId xmlns:a16="http://schemas.microsoft.com/office/drawing/2014/main" id="{A6096FDF-DA28-C5BD-053A-55AD2217DD28}"/>
                  </a:ext>
                </a:extLst>
              </p:cNvPr>
              <p:cNvSpPr/>
              <p:nvPr/>
            </p:nvSpPr>
            <p:spPr>
              <a:xfrm>
                <a:off x="4572630" y="1944966"/>
                <a:ext cx="3046741" cy="432473"/>
              </a:xfrm>
              <a:custGeom>
                <a:avLst/>
                <a:gdLst>
                  <a:gd name="connsiteX0" fmla="*/ 9463 w 5671603"/>
                  <a:gd name="connsiteY0" fmla="*/ 0 h 642809"/>
                  <a:gd name="connsiteX1" fmla="*/ 772663 w 5671603"/>
                  <a:gd name="connsiteY1" fmla="*/ 0 h 642809"/>
                  <a:gd name="connsiteX2" fmla="*/ 1678703 w 5671603"/>
                  <a:gd name="connsiteY2" fmla="*/ 0 h 642809"/>
                  <a:gd name="connsiteX3" fmla="*/ 1992767 w 5671603"/>
                  <a:gd name="connsiteY3" fmla="*/ 0 h 642809"/>
                  <a:gd name="connsiteX4" fmla="*/ 2565400 w 5671603"/>
                  <a:gd name="connsiteY4" fmla="*/ 0 h 642809"/>
                  <a:gd name="connsiteX5" fmla="*/ 2803588 w 5671603"/>
                  <a:gd name="connsiteY5" fmla="*/ 0 h 642809"/>
                  <a:gd name="connsiteX6" fmla="*/ 2868015 w 5671603"/>
                  <a:gd name="connsiteY6" fmla="*/ 0 h 642809"/>
                  <a:gd name="connsiteX7" fmla="*/ 3106203 w 5671603"/>
                  <a:gd name="connsiteY7" fmla="*/ 0 h 642809"/>
                  <a:gd name="connsiteX8" fmla="*/ 3678836 w 5671603"/>
                  <a:gd name="connsiteY8" fmla="*/ 0 h 642809"/>
                  <a:gd name="connsiteX9" fmla="*/ 3992900 w 5671603"/>
                  <a:gd name="connsiteY9" fmla="*/ 0 h 642809"/>
                  <a:gd name="connsiteX10" fmla="*/ 4898940 w 5671603"/>
                  <a:gd name="connsiteY10" fmla="*/ 0 h 642809"/>
                  <a:gd name="connsiteX11" fmla="*/ 5662140 w 5671603"/>
                  <a:gd name="connsiteY11" fmla="*/ 0 h 642809"/>
                  <a:gd name="connsiteX12" fmla="*/ 5300826 w 5671603"/>
                  <a:gd name="connsiteY12" fmla="*/ 111760 h 642809"/>
                  <a:gd name="connsiteX13" fmla="*/ 5173190 w 5671603"/>
                  <a:gd name="connsiteY13" fmla="*/ 461024 h 642809"/>
                  <a:gd name="connsiteX14" fmla="*/ 4898940 w 5671603"/>
                  <a:gd name="connsiteY14" fmla="*/ 642809 h 642809"/>
                  <a:gd name="connsiteX15" fmla="*/ 3992900 w 5671603"/>
                  <a:gd name="connsiteY15" fmla="*/ 642809 h 642809"/>
                  <a:gd name="connsiteX16" fmla="*/ 3106203 w 5671603"/>
                  <a:gd name="connsiteY16" fmla="*/ 642809 h 642809"/>
                  <a:gd name="connsiteX17" fmla="*/ 2565400 w 5671603"/>
                  <a:gd name="connsiteY17" fmla="*/ 642809 h 642809"/>
                  <a:gd name="connsiteX18" fmla="*/ 1678703 w 5671603"/>
                  <a:gd name="connsiteY18" fmla="*/ 642809 h 642809"/>
                  <a:gd name="connsiteX19" fmla="*/ 772663 w 5671603"/>
                  <a:gd name="connsiteY19" fmla="*/ 642809 h 642809"/>
                  <a:gd name="connsiteX20" fmla="*/ 498413 w 5671603"/>
                  <a:gd name="connsiteY20" fmla="*/ 461024 h 642809"/>
                  <a:gd name="connsiteX21" fmla="*/ 370777 w 5671603"/>
                  <a:gd name="connsiteY21" fmla="*/ 111760 h 642809"/>
                  <a:gd name="connsiteX22" fmla="*/ 9463 w 5671603"/>
                  <a:gd name="connsiteY22" fmla="*/ 0 h 642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71603" h="642809">
                    <a:moveTo>
                      <a:pt x="9463" y="0"/>
                    </a:moveTo>
                    <a:lnTo>
                      <a:pt x="772663" y="0"/>
                    </a:lnTo>
                    <a:lnTo>
                      <a:pt x="1678703" y="0"/>
                    </a:lnTo>
                    <a:lnTo>
                      <a:pt x="1992767" y="0"/>
                    </a:lnTo>
                    <a:lnTo>
                      <a:pt x="2565400" y="0"/>
                    </a:lnTo>
                    <a:lnTo>
                      <a:pt x="2803588" y="0"/>
                    </a:lnTo>
                    <a:lnTo>
                      <a:pt x="2868015" y="0"/>
                    </a:lnTo>
                    <a:lnTo>
                      <a:pt x="3106203" y="0"/>
                    </a:lnTo>
                    <a:lnTo>
                      <a:pt x="3678836" y="0"/>
                    </a:lnTo>
                    <a:lnTo>
                      <a:pt x="3992900" y="0"/>
                    </a:lnTo>
                    <a:lnTo>
                      <a:pt x="4898940" y="0"/>
                    </a:lnTo>
                    <a:lnTo>
                      <a:pt x="5662140" y="0"/>
                    </a:lnTo>
                    <a:cubicBezTo>
                      <a:pt x="5729121" y="18627"/>
                      <a:pt x="5422799" y="-41277"/>
                      <a:pt x="5300826" y="111760"/>
                    </a:cubicBezTo>
                    <a:lnTo>
                      <a:pt x="5173190" y="461024"/>
                    </a:lnTo>
                    <a:cubicBezTo>
                      <a:pt x="5128005" y="567851"/>
                      <a:pt x="5022226" y="642809"/>
                      <a:pt x="4898940" y="642809"/>
                    </a:cubicBezTo>
                    <a:lnTo>
                      <a:pt x="3992900" y="642809"/>
                    </a:lnTo>
                    <a:lnTo>
                      <a:pt x="3106203" y="642809"/>
                    </a:lnTo>
                    <a:lnTo>
                      <a:pt x="2565400" y="642809"/>
                    </a:lnTo>
                    <a:lnTo>
                      <a:pt x="1678703" y="642809"/>
                    </a:lnTo>
                    <a:lnTo>
                      <a:pt x="772663" y="642809"/>
                    </a:lnTo>
                    <a:cubicBezTo>
                      <a:pt x="649377" y="642809"/>
                      <a:pt x="543598" y="567851"/>
                      <a:pt x="498413" y="461024"/>
                    </a:cubicBezTo>
                    <a:lnTo>
                      <a:pt x="370777" y="111760"/>
                    </a:lnTo>
                    <a:cubicBezTo>
                      <a:pt x="248804" y="-41277"/>
                      <a:pt x="-57518" y="18627"/>
                      <a:pt x="94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44000">
                    <a:schemeClr val="accent1"/>
                  </a:gs>
                </a:gsLst>
                <a:lin ang="2700000" scaled="0"/>
              </a:gradFill>
              <a:ln w="1270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700"/>
              </a:p>
            </p:txBody>
          </p: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3904156-A0AE-C5D3-2EF6-56446B0A3C8A}"/>
                </a:ext>
              </a:extLst>
            </p:cNvPr>
            <p:cNvSpPr txBox="1"/>
            <p:nvPr/>
          </p:nvSpPr>
          <p:spPr>
            <a:xfrm>
              <a:off x="975031" y="1959363"/>
              <a:ext cx="4298010" cy="3773063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/>
            <a:p>
              <a:pPr defTabSz="1370648">
                <a:lnSpc>
                  <a:spcPct val="120000"/>
                </a:lnSpc>
                <a:buSzPct val="100000"/>
                <a:defRPr/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当前已完成 </a:t>
              </a:r>
              <a:r>
                <a:rPr lang="en-US" altLang="zh-CN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cmd_vel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、舵角命令和轮速命令数据记录，并可基于 </a:t>
              </a:r>
              <a:r>
                <a:rPr lang="en-US" altLang="zh-CN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rosbag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绘制典型工况曲线。</a:t>
              </a:r>
            </a:p>
            <a:p>
              <a:pPr defTabSz="1370648">
                <a:lnSpc>
                  <a:spcPct val="120000"/>
                </a:lnSpc>
                <a:buSzPct val="100000"/>
                <a:defRPr/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前进、横移、旋转等工况下的仿真输出与运动学关系基本一致，可为实物联调提供参考。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F739124-0CDA-67EA-BF76-F594082D9CB7}"/>
                </a:ext>
              </a:extLst>
            </p:cNvPr>
            <p:cNvSpPr txBox="1"/>
            <p:nvPr/>
          </p:nvSpPr>
          <p:spPr>
            <a:xfrm>
              <a:off x="1975791" y="1317648"/>
              <a:ext cx="2296488" cy="528923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 fontScale="700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3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阶段性成果</a:t>
              </a:r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4A4D5B5-83E9-351C-14CC-B39E72C50110}"/>
              </a:ext>
            </a:extLst>
          </p:cNvPr>
          <p:cNvSpPr/>
          <p:nvPr/>
        </p:nvSpPr>
        <p:spPr>
          <a:xfrm>
            <a:off x="9028220" y="6376657"/>
            <a:ext cx="5525980" cy="3363398"/>
          </a:xfrm>
          <a:prstGeom prst="roundRect">
            <a:avLst>
              <a:gd name="adj" fmla="val 4549"/>
            </a:avLst>
          </a:prstGeom>
          <a:solidFill>
            <a:schemeClr val="bg1"/>
          </a:solidFill>
          <a:ln w="9525">
            <a:solidFill>
              <a:schemeClr val="accent1">
                <a:lumMod val="40000"/>
                <a:lumOff val="60000"/>
                <a:alpha val="20000"/>
              </a:schemeClr>
            </a:solidFill>
          </a:ln>
          <a:effectLst>
            <a:outerShdw blurRad="127000" dist="38100" dir="2700000" algn="tl" rotWithShape="0">
              <a:schemeClr val="accent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pPr algn="ctr"/>
            <a:endParaRPr lang="zh-CN" altLang="en-US" sz="2100" b="1">
              <a:solidFill>
                <a:schemeClr val="accent1"/>
              </a:solidFill>
            </a:endParaRPr>
          </a:p>
        </p:txBody>
      </p:sp>
      <p:sp>
        <p:nvSpPr>
          <p:cNvPr id="43" name="矩形: 圆顶角 42">
            <a:extLst>
              <a:ext uri="{FF2B5EF4-FFF2-40B4-BE49-F238E27FC236}">
                <a16:creationId xmlns:a16="http://schemas.microsoft.com/office/drawing/2014/main" id="{14BADAEF-F0FE-3831-4B9B-651087E72C4F}"/>
              </a:ext>
            </a:extLst>
          </p:cNvPr>
          <p:cNvSpPr/>
          <p:nvPr/>
        </p:nvSpPr>
        <p:spPr>
          <a:xfrm>
            <a:off x="9028218" y="6379565"/>
            <a:ext cx="5525978" cy="745135"/>
          </a:xfrm>
          <a:prstGeom prst="round2SameRect">
            <a:avLst>
              <a:gd name="adj1" fmla="val 2076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30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6D6E4F7-503C-AAC7-B6BB-1183B263B6F3}"/>
              </a:ext>
            </a:extLst>
          </p:cNvPr>
          <p:cNvSpPr txBox="1"/>
          <p:nvPr/>
        </p:nvSpPr>
        <p:spPr>
          <a:xfrm>
            <a:off x="9200190" y="6474304"/>
            <a:ext cx="3858807" cy="5359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base">
              <a:lnSpc>
                <a:spcPct val="11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目前遇到的问题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27A6EF2-90AC-FE60-91B2-2EFDF848D4B6}"/>
              </a:ext>
            </a:extLst>
          </p:cNvPr>
          <p:cNvSpPr txBox="1"/>
          <p:nvPr/>
        </p:nvSpPr>
        <p:spPr>
          <a:xfrm>
            <a:off x="9296400" y="7483202"/>
            <a:ext cx="4941098" cy="1778256"/>
          </a:xfrm>
          <a:prstGeom prst="rect">
            <a:avLst/>
          </a:prstGeom>
          <a:noFill/>
        </p:spPr>
        <p:txBody>
          <a:bodyPr wrap="square" lIns="0" rIns="0" anchor="ctr" anchorCtr="0">
            <a:noAutofit/>
          </a:bodyPr>
          <a:lstStyle/>
          <a:p>
            <a:pPr marL="428625" indent="-428625" fontAlgn="base">
              <a:lnSpc>
                <a:spcPct val="13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舵角连续性与角度范围处理仍需进一步优化。</a:t>
            </a:r>
          </a:p>
          <a:p>
            <a:pPr marL="428625" indent="-428625" fontAlgn="base">
              <a:lnSpc>
                <a:spcPct val="13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仿真结果与实物响应之间的一致性仍需后续实验验证。</a:t>
            </a:r>
          </a:p>
          <a:p>
            <a:pPr marL="428625" indent="-428625" fontAlgn="base">
              <a:lnSpc>
                <a:spcPct val="13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复杂工况下的数据积累与参数整定仍不充分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7B3F1D61-59A5-C8A7-5415-BA58EBD56F4B}"/>
              </a:ext>
            </a:extLst>
          </p:cNvPr>
          <p:cNvGrpSpPr/>
          <p:nvPr/>
        </p:nvGrpSpPr>
        <p:grpSpPr>
          <a:xfrm>
            <a:off x="13748346" y="6481813"/>
            <a:ext cx="537235" cy="540637"/>
            <a:chOff x="8245441" y="3926178"/>
            <a:chExt cx="410872" cy="41087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79B7B2C-8FEC-FE86-BFA9-889E5E66990F}"/>
                </a:ext>
              </a:extLst>
            </p:cNvPr>
            <p:cNvSpPr/>
            <p:nvPr/>
          </p:nvSpPr>
          <p:spPr>
            <a:xfrm>
              <a:off x="8245441" y="3926178"/>
              <a:ext cx="410872" cy="410872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dist="254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B2078D50-BE66-F888-D489-4D48BD7EDC2B}"/>
                </a:ext>
              </a:extLst>
            </p:cNvPr>
            <p:cNvSpPr/>
            <p:nvPr/>
          </p:nvSpPr>
          <p:spPr>
            <a:xfrm>
              <a:off x="8329577" y="4010315"/>
              <a:ext cx="242600" cy="242598"/>
            </a:xfrm>
            <a:custGeom>
              <a:avLst/>
              <a:gdLst>
                <a:gd name="connsiteX0" fmla="*/ 846667 w 1693333"/>
                <a:gd name="connsiteY0" fmla="*/ 529166 h 1693333"/>
                <a:gd name="connsiteX1" fmla="*/ 1164167 w 1693333"/>
                <a:gd name="connsiteY1" fmla="*/ 846667 h 1693333"/>
                <a:gd name="connsiteX2" fmla="*/ 846667 w 1693333"/>
                <a:gd name="connsiteY2" fmla="*/ 1164167 h 1693333"/>
                <a:gd name="connsiteX3" fmla="*/ 529166 w 1693333"/>
                <a:gd name="connsiteY3" fmla="*/ 846667 h 1693333"/>
                <a:gd name="connsiteX4" fmla="*/ 846667 w 1693333"/>
                <a:gd name="connsiteY4" fmla="*/ 529166 h 1693333"/>
                <a:gd name="connsiteX5" fmla="*/ 846667 w 1693333"/>
                <a:gd name="connsiteY5" fmla="*/ 317501 h 1693333"/>
                <a:gd name="connsiteX6" fmla="*/ 317501 w 1693333"/>
                <a:gd name="connsiteY6" fmla="*/ 846667 h 1693333"/>
                <a:gd name="connsiteX7" fmla="*/ 846667 w 1693333"/>
                <a:gd name="connsiteY7" fmla="*/ 1375832 h 1693333"/>
                <a:gd name="connsiteX8" fmla="*/ 1375832 w 1693333"/>
                <a:gd name="connsiteY8" fmla="*/ 846667 h 1693333"/>
                <a:gd name="connsiteX9" fmla="*/ 846667 w 1693333"/>
                <a:gd name="connsiteY9" fmla="*/ 317501 h 1693333"/>
                <a:gd name="connsiteX10" fmla="*/ 740833 w 1693333"/>
                <a:gd name="connsiteY10" fmla="*/ 0 h 1693333"/>
                <a:gd name="connsiteX11" fmla="*/ 952500 w 1693333"/>
                <a:gd name="connsiteY11" fmla="*/ 0 h 1693333"/>
                <a:gd name="connsiteX12" fmla="*/ 952500 w 1693333"/>
                <a:gd name="connsiteY12" fmla="*/ 114300 h 1693333"/>
                <a:gd name="connsiteX13" fmla="*/ 1579033 w 1693333"/>
                <a:gd name="connsiteY13" fmla="*/ 740833 h 1693333"/>
                <a:gd name="connsiteX14" fmla="*/ 1693333 w 1693333"/>
                <a:gd name="connsiteY14" fmla="*/ 740833 h 1693333"/>
                <a:gd name="connsiteX15" fmla="*/ 1693333 w 1693333"/>
                <a:gd name="connsiteY15" fmla="*/ 952500 h 1693333"/>
                <a:gd name="connsiteX16" fmla="*/ 1579033 w 1693333"/>
                <a:gd name="connsiteY16" fmla="*/ 952500 h 1693333"/>
                <a:gd name="connsiteX17" fmla="*/ 952500 w 1693333"/>
                <a:gd name="connsiteY17" fmla="*/ 1579033 h 1693333"/>
                <a:gd name="connsiteX18" fmla="*/ 952500 w 1693333"/>
                <a:gd name="connsiteY18" fmla="*/ 1693333 h 1693333"/>
                <a:gd name="connsiteX19" fmla="*/ 740833 w 1693333"/>
                <a:gd name="connsiteY19" fmla="*/ 1693333 h 1693333"/>
                <a:gd name="connsiteX20" fmla="*/ 740833 w 1693333"/>
                <a:gd name="connsiteY20" fmla="*/ 1579033 h 1693333"/>
                <a:gd name="connsiteX21" fmla="*/ 114300 w 1693333"/>
                <a:gd name="connsiteY21" fmla="*/ 952500 h 1693333"/>
                <a:gd name="connsiteX22" fmla="*/ 0 w 1693333"/>
                <a:gd name="connsiteY22" fmla="*/ 952500 h 1693333"/>
                <a:gd name="connsiteX23" fmla="*/ 0 w 1693333"/>
                <a:gd name="connsiteY23" fmla="*/ 740833 h 1693333"/>
                <a:gd name="connsiteX24" fmla="*/ 114300 w 1693333"/>
                <a:gd name="connsiteY24" fmla="*/ 740833 h 1693333"/>
                <a:gd name="connsiteX25" fmla="*/ 740833 w 1693333"/>
                <a:gd name="connsiteY25" fmla="*/ 114300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93333" h="1693333">
                  <a:moveTo>
                    <a:pt x="846667" y="529166"/>
                  </a:moveTo>
                  <a:cubicBezTo>
                    <a:pt x="1022018" y="529166"/>
                    <a:pt x="1164167" y="671315"/>
                    <a:pt x="1164167" y="846667"/>
                  </a:cubicBezTo>
                  <a:cubicBezTo>
                    <a:pt x="1164167" y="1022018"/>
                    <a:pt x="1022018" y="1164167"/>
                    <a:pt x="846667" y="1164167"/>
                  </a:cubicBezTo>
                  <a:cubicBezTo>
                    <a:pt x="671315" y="1164167"/>
                    <a:pt x="529166" y="1022018"/>
                    <a:pt x="529166" y="846667"/>
                  </a:cubicBezTo>
                  <a:cubicBezTo>
                    <a:pt x="529166" y="671315"/>
                    <a:pt x="671315" y="529166"/>
                    <a:pt x="846667" y="529166"/>
                  </a:cubicBezTo>
                  <a:close/>
                  <a:moveTo>
                    <a:pt x="846667" y="317501"/>
                  </a:moveTo>
                  <a:cubicBezTo>
                    <a:pt x="554884" y="317501"/>
                    <a:pt x="317501" y="554884"/>
                    <a:pt x="317501" y="846667"/>
                  </a:cubicBezTo>
                  <a:cubicBezTo>
                    <a:pt x="317501" y="1138450"/>
                    <a:pt x="554884" y="1375832"/>
                    <a:pt x="846667" y="1375832"/>
                  </a:cubicBezTo>
                  <a:cubicBezTo>
                    <a:pt x="1138450" y="1375832"/>
                    <a:pt x="1375832" y="1138450"/>
                    <a:pt x="1375832" y="846667"/>
                  </a:cubicBezTo>
                  <a:cubicBezTo>
                    <a:pt x="1375832" y="554884"/>
                    <a:pt x="1138450" y="317501"/>
                    <a:pt x="846667" y="317501"/>
                  </a:cubicBezTo>
                  <a:close/>
                  <a:moveTo>
                    <a:pt x="740833" y="0"/>
                  </a:moveTo>
                  <a:lnTo>
                    <a:pt x="952500" y="0"/>
                  </a:lnTo>
                  <a:lnTo>
                    <a:pt x="952500" y="114300"/>
                  </a:lnTo>
                  <a:cubicBezTo>
                    <a:pt x="1277117" y="161215"/>
                    <a:pt x="1532119" y="416217"/>
                    <a:pt x="1579033" y="740833"/>
                  </a:cubicBezTo>
                  <a:lnTo>
                    <a:pt x="1693333" y="740833"/>
                  </a:lnTo>
                  <a:lnTo>
                    <a:pt x="1693333" y="952500"/>
                  </a:lnTo>
                  <a:lnTo>
                    <a:pt x="1579033" y="952500"/>
                  </a:lnTo>
                  <a:cubicBezTo>
                    <a:pt x="1532119" y="1277117"/>
                    <a:pt x="1277117" y="1532119"/>
                    <a:pt x="952500" y="1579033"/>
                  </a:cubicBezTo>
                  <a:lnTo>
                    <a:pt x="952500" y="1693333"/>
                  </a:lnTo>
                  <a:lnTo>
                    <a:pt x="740833" y="1693333"/>
                  </a:lnTo>
                  <a:lnTo>
                    <a:pt x="740833" y="1579033"/>
                  </a:lnTo>
                  <a:cubicBezTo>
                    <a:pt x="416217" y="1532119"/>
                    <a:pt x="161215" y="1277117"/>
                    <a:pt x="114300" y="952500"/>
                  </a:cubicBezTo>
                  <a:lnTo>
                    <a:pt x="0" y="952500"/>
                  </a:lnTo>
                  <a:lnTo>
                    <a:pt x="0" y="740833"/>
                  </a:lnTo>
                  <a:lnTo>
                    <a:pt x="114300" y="740833"/>
                  </a:lnTo>
                  <a:cubicBezTo>
                    <a:pt x="161215" y="416217"/>
                    <a:pt x="416217" y="161215"/>
                    <a:pt x="740833" y="114300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  <a:scene3d>
              <a:camera prst="orthographicFront"/>
              <a:lightRig rig="threePt" dir="t"/>
            </a:scene3d>
            <a:sp3d extrusionH="12700"/>
          </p:spPr>
          <p:txBody>
            <a:bodyPr rtlCol="0" anchor="ctr">
              <a:noAutofit/>
            </a:bodyPr>
            <a:lstStyle/>
            <a:p>
              <a:endParaRPr lang="zh-CN" altLang="en-US" sz="270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4A7932B-16CE-3E42-1FE4-DB9BBEBA3083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C4956EE2-9794-05F4-117F-EA3046C51EED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六边形 11">
              <a:extLst>
                <a:ext uri="{FF2B5EF4-FFF2-40B4-BE49-F238E27FC236}">
                  <a16:creationId xmlns:a16="http://schemas.microsoft.com/office/drawing/2014/main" id="{D1B76189-F7CA-6EF0-A9C3-4453A281B087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0C0BB4B-B2D6-5E67-5358-B263B6422E7D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46156F3-11E8-5462-31EB-4787EAD6FC82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AB0027C-60D9-84DA-4E25-8D9847AF2F0E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3944EDC-7E97-90F9-F50F-5DD3C8259C61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3F743DA-4008-FB73-3F81-D6F887EFB6C9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581CCAC-6D8F-AA3B-FFDE-543C3BD2C30C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8EFBBB1-8733-2DE4-888D-85BFC2057A99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仿真平台搭建与验证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85783217-8EDF-2B66-A9E2-258940003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6312608"/>
            <a:ext cx="5813021" cy="350093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6593C16-F335-64D7-45BA-54D43A540A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761" y="2021269"/>
            <a:ext cx="5138588" cy="415043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65721F2-909E-FFF7-12CB-3B0616FE1E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346" y="1890316"/>
            <a:ext cx="4340286" cy="405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55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083B-01D5-972D-6D4D-20F0CD5D2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60A75F93-EBA5-F28F-EA01-DCB82482BC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BE18BE-A549-AE0A-D2C4-732A96E6E9E3}"/>
              </a:ext>
            </a:extLst>
          </p:cNvPr>
          <p:cNvSpPr txBox="1"/>
          <p:nvPr/>
        </p:nvSpPr>
        <p:spPr>
          <a:xfrm>
            <a:off x="430326" y="2019300"/>
            <a:ext cx="35320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已开展三舵轮底盘实物典型工况测试。</a:t>
            </a: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当前获得前进、横移和旋转等运动结果截图。</a:t>
            </a: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初步结果表明，底盘能够完成基本全向运动。</a:t>
            </a: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后续将继续补充测试与结果分析。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68C3B35-E0B8-1048-DF16-212C99B7A9F2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CC14982F-0CE6-AB8B-4C98-B81038ECDE25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六边形 17">
              <a:extLst>
                <a:ext uri="{FF2B5EF4-FFF2-40B4-BE49-F238E27FC236}">
                  <a16:creationId xmlns:a16="http://schemas.microsoft.com/office/drawing/2014/main" id="{A156FA1E-FA52-F78B-CD00-E8229A1CEE88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721B75D-B172-590A-4B45-037457156866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461CCFA-7EBE-BA03-2D6F-C08451670EFC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DE8BE6E-53A6-DEAB-090C-86A5B74ABB33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7678DA5-9611-87EA-D0E7-B18B76E7E45D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F08AFF4-F646-D636-32A7-9F3A83DC07EF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C7D7796-2CE3-D177-07E9-A0A942EE02D0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48A4986-CF98-F51F-ECD3-43AB7DCEC3E1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实物结果验证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464D6F-FC96-D3E4-0F08-BE85BC04BA8A}"/>
              </a:ext>
            </a:extLst>
          </p:cNvPr>
          <p:cNvSpPr txBox="1"/>
          <p:nvPr/>
        </p:nvSpPr>
        <p:spPr>
          <a:xfrm>
            <a:off x="5296567" y="9212518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横移工况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4C1600D-6376-3F9B-333D-89A0BB7F30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222" y="1552737"/>
            <a:ext cx="4157498" cy="302580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2E4CE2F-2CD0-B5D7-AA1F-D34A8703AF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221" y="5483114"/>
            <a:ext cx="4157498" cy="282483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EBD50D7-FD4F-1010-8CE5-D2CF8B5A67F2}"/>
              </a:ext>
            </a:extLst>
          </p:cNvPr>
          <p:cNvSpPr txBox="1"/>
          <p:nvPr/>
        </p:nvSpPr>
        <p:spPr>
          <a:xfrm>
            <a:off x="10593134" y="9206615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前进工况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8D31EB6-0BCF-BF9A-358F-CE238B794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260" y="1575334"/>
            <a:ext cx="4323964" cy="308403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F2F70B6-2E27-45AC-9E20-84D674497C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895" y="5514702"/>
            <a:ext cx="4323964" cy="2793248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A3F9DB7B-18E2-419E-6EE5-843B98BDA3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765" y="1541470"/>
            <a:ext cx="4418017" cy="307231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C5F5115A-7DC6-BDA9-170E-88630FD6645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0896" y="5498908"/>
            <a:ext cx="4299886" cy="279324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1D1A7B9E-A164-8A42-3444-D17674210CF8}"/>
              </a:ext>
            </a:extLst>
          </p:cNvPr>
          <p:cNvSpPr txBox="1"/>
          <p:nvPr/>
        </p:nvSpPr>
        <p:spPr>
          <a:xfrm>
            <a:off x="14432539" y="9217894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旋转工况</a:t>
            </a:r>
          </a:p>
        </p:txBody>
      </p:sp>
    </p:spTree>
    <p:extLst>
      <p:ext uri="{BB962C8B-B14F-4D97-AF65-F5344CB8AC3E}">
        <p14:creationId xmlns:p14="http://schemas.microsoft.com/office/powerpoint/2010/main" val="1734885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D4E2-E2B5-DB46-EEB0-18D83C45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DE950CDC-F324-7907-6A35-AE8870AC980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6701F9E-75BC-F4B2-8659-73ADF937452C}"/>
              </a:ext>
            </a:extLst>
          </p:cNvPr>
          <p:cNvSpPr/>
          <p:nvPr/>
        </p:nvSpPr>
        <p:spPr>
          <a:xfrm>
            <a:off x="838200" y="2172870"/>
            <a:ext cx="7504707" cy="4466445"/>
          </a:xfrm>
          <a:prstGeom prst="roundRect">
            <a:avLst>
              <a:gd name="adj" fmla="val 4822"/>
            </a:avLst>
          </a:prstGeom>
          <a:gradFill flip="none" rotWithShape="1">
            <a:gsLst>
              <a:gs pos="52000">
                <a:schemeClr val="accent1">
                  <a:lumMod val="20000"/>
                  <a:lumOff val="80000"/>
                  <a:alpha val="5000"/>
                </a:schemeClr>
              </a:gs>
              <a:gs pos="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81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2700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BED3C4F-A760-E9AC-D807-EE66768AE4A5}"/>
              </a:ext>
            </a:extLst>
          </p:cNvPr>
          <p:cNvSpPr/>
          <p:nvPr/>
        </p:nvSpPr>
        <p:spPr>
          <a:xfrm>
            <a:off x="1290963" y="1825863"/>
            <a:ext cx="3479435" cy="71683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  <a:lumOff val="30000"/>
                </a:schemeClr>
              </a:gs>
              <a:gs pos="80000">
                <a:schemeClr val="accent1">
                  <a:lumMod val="9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17500" dist="63500" dir="2700000" algn="tl" rotWithShape="0">
              <a:schemeClr val="accent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当前进展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B08B7F-00A2-FCA5-75BD-35CA06D79541}"/>
              </a:ext>
            </a:extLst>
          </p:cNvPr>
          <p:cNvSpPr txBox="1"/>
          <p:nvPr/>
        </p:nvSpPr>
        <p:spPr>
          <a:xfrm>
            <a:off x="1168353" y="2758527"/>
            <a:ext cx="6837549" cy="367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just" fontAlgn="auto">
              <a:lnSpc>
                <a:spcPct val="130000"/>
              </a:lnSpc>
              <a:spcBef>
                <a:spcPts val="1000"/>
              </a:spcBef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已完成三舵轮底盘运动学关系分析与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STM32 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控制链路设计。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已完成手柄输入映射、速度平滑及舵角约束等关键控制逻辑实现。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已搭建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ROS 2 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Gazebo 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仿真平台，并完成典型工况数据记录与曲线绘制。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已具备实物平台联调与后续测试基础。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50847CF-614B-0052-AA4B-B748A61984DC}"/>
              </a:ext>
            </a:extLst>
          </p:cNvPr>
          <p:cNvSpPr/>
          <p:nvPr/>
        </p:nvSpPr>
        <p:spPr>
          <a:xfrm>
            <a:off x="8692110" y="2172870"/>
            <a:ext cx="7504707" cy="4466445"/>
          </a:xfrm>
          <a:prstGeom prst="roundRect">
            <a:avLst>
              <a:gd name="adj" fmla="val 4822"/>
            </a:avLst>
          </a:prstGeom>
          <a:gradFill flip="none" rotWithShape="1">
            <a:gsLst>
              <a:gs pos="52000">
                <a:schemeClr val="accent1">
                  <a:lumMod val="20000"/>
                  <a:lumOff val="80000"/>
                  <a:alpha val="5000"/>
                </a:schemeClr>
              </a:gs>
              <a:gs pos="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lin ang="81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2700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DF2633-349D-4912-1415-265DE159EC91}"/>
              </a:ext>
            </a:extLst>
          </p:cNvPr>
          <p:cNvSpPr/>
          <p:nvPr/>
        </p:nvSpPr>
        <p:spPr>
          <a:xfrm>
            <a:off x="8961602" y="1825863"/>
            <a:ext cx="3479435" cy="71683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  <a:lumOff val="30000"/>
                </a:schemeClr>
              </a:gs>
              <a:gs pos="80000">
                <a:schemeClr val="accent1">
                  <a:lumMod val="9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317500" dist="63500" dir="2700000" algn="tl" rotWithShape="0">
              <a:schemeClr val="accent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后续工作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496A57-4A31-2EBD-4CA5-2585523977A7}"/>
              </a:ext>
            </a:extLst>
          </p:cNvPr>
          <p:cNvSpPr txBox="1"/>
          <p:nvPr/>
        </p:nvSpPr>
        <p:spPr>
          <a:xfrm>
            <a:off x="9022263" y="2758527"/>
            <a:ext cx="6837549" cy="3985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just" fontAlgn="auto">
              <a:lnSpc>
                <a:spcPct val="130000"/>
              </a:lnSpc>
              <a:spcBef>
                <a:spcPts val="1000"/>
              </a:spcBef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继续开展实物平台前进、横移、旋转等典型工况测试。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对比仿真与实物结果，分析误差来源并优化控制参数。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进一步完善舵角连续性处理、速度平滑策略和异常工况处理逻辑。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整理实验数据与图表，推进论文撰写和中后期总结。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F6C152-1011-BD99-E831-F8AF3129872A}"/>
              </a:ext>
            </a:extLst>
          </p:cNvPr>
          <p:cNvSpPr txBox="1"/>
          <p:nvPr/>
        </p:nvSpPr>
        <p:spPr>
          <a:xfrm>
            <a:off x="1235901" y="7048500"/>
            <a:ext cx="1341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后续工作将围绕“实物联调、参数优化、结果分析和论文整理”持续推进。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BAFB3C-9CCB-D52A-2748-A94D011E3981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341B76D-07BB-F9FD-38E7-48F8A3C0343B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六边形 6">
              <a:extLst>
                <a:ext uri="{FF2B5EF4-FFF2-40B4-BE49-F238E27FC236}">
                  <a16:creationId xmlns:a16="http://schemas.microsoft.com/office/drawing/2014/main" id="{ACF1A164-29BA-BBB7-5BBA-DBC57F921CB8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0F8F21E-5828-BB35-7317-C32F9C1121AC}"/>
                </a:ext>
              </a:extLst>
            </p:cNvPr>
            <p:cNvSpPr/>
            <p:nvPr/>
          </p:nvSpPr>
          <p:spPr>
            <a:xfrm>
              <a:off x="3957468" y="367507"/>
              <a:ext cx="171301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课题来源与研究背景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750C67A-ACC4-D4FD-3061-C9A1E0CEA295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0F4D852-77C3-4C1C-BF5B-82CEDE414BB8}"/>
                </a:ext>
              </a:extLst>
            </p:cNvPr>
            <p:cNvSpPr/>
            <p:nvPr/>
          </p:nvSpPr>
          <p:spPr>
            <a:xfrm>
              <a:off x="5768938" y="362819"/>
              <a:ext cx="1650791" cy="4144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系统方案与运动学建模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F66787C-3A79-0FE9-BA4E-14103659B754}"/>
                </a:ext>
              </a:extLst>
            </p:cNvPr>
            <p:cNvSpPr/>
            <p:nvPr/>
          </p:nvSpPr>
          <p:spPr>
            <a:xfrm>
              <a:off x="7569200" y="364629"/>
              <a:ext cx="1583101" cy="35750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控制程序设计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ACFFBA0-7E30-3FA1-52C5-81E539E6C256}"/>
                </a:ext>
              </a:extLst>
            </p:cNvPr>
            <p:cNvSpPr/>
            <p:nvPr/>
          </p:nvSpPr>
          <p:spPr>
            <a:xfrm>
              <a:off x="9301772" y="363923"/>
              <a:ext cx="1223273" cy="42511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仿真平台搭建与验证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6449378-4E39-0E7B-4BDE-B766E07D883B}"/>
                </a:ext>
              </a:extLst>
            </p:cNvPr>
            <p:cNvSpPr/>
            <p:nvPr/>
          </p:nvSpPr>
          <p:spPr>
            <a:xfrm>
              <a:off x="10674516" y="355783"/>
              <a:ext cx="1223272" cy="35750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762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>
              <a:noAutofit/>
            </a:bodyPr>
            <a:lstStyle/>
            <a:p>
              <a:pPr algn="ctr"/>
              <a:r>
                <a:rPr lang="zh-CN" altLang="en-US" sz="2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后续工作规划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F5E65FF-B98C-2EEA-4FE0-81E5650592ED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zh-CN" altLang="en-US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后续工作规划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930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8B33-6F56-8B31-16A5-3CCAF2EE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2359F58F-9A21-6B86-A6C3-BBBBB70B311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j-ea"/>
              <a:ea typeface="+mj-ea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C685CCA-DD02-31D4-5719-878A304AB77E}"/>
              </a:ext>
            </a:extLst>
          </p:cNvPr>
          <p:cNvSpPr/>
          <p:nvPr/>
        </p:nvSpPr>
        <p:spPr>
          <a:xfrm>
            <a:off x="-19050" y="5905500"/>
            <a:ext cx="18307050" cy="4414059"/>
          </a:xfrm>
          <a:prstGeom prst="roundRect">
            <a:avLst>
              <a:gd name="adj" fmla="val 357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5000">
                <a:schemeClr val="accent1"/>
              </a:gs>
            </a:gsLst>
            <a:lin ang="2700000" scaled="1"/>
            <a:tileRect/>
          </a:gradFill>
          <a:ln w="12700">
            <a:noFill/>
          </a:ln>
          <a:effectLst>
            <a:outerShdw blurRad="76200" dist="381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rtlCol="0" anchor="ctr">
            <a:noAutofit/>
          </a:bodyPr>
          <a:lstStyle/>
          <a:p>
            <a:pPr algn="ctr"/>
            <a:endParaRPr lang="zh-CN" altLang="en-US" sz="3000" b="1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BD97154-6F54-7461-83C1-7785289CE510}"/>
              </a:ext>
            </a:extLst>
          </p:cNvPr>
          <p:cNvGrpSpPr/>
          <p:nvPr/>
        </p:nvGrpSpPr>
        <p:grpSpPr>
          <a:xfrm>
            <a:off x="194766" y="368074"/>
            <a:ext cx="18093234" cy="1019915"/>
            <a:chOff x="129844" y="245382"/>
            <a:chExt cx="12062156" cy="679943"/>
          </a:xfrm>
        </p:grpSpPr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264AF07D-4AAF-E4B8-BC1F-99C94F53C0B5}"/>
                </a:ext>
              </a:extLst>
            </p:cNvPr>
            <p:cNvSpPr/>
            <p:nvPr/>
          </p:nvSpPr>
          <p:spPr>
            <a:xfrm flipH="1">
              <a:off x="129844" y="245383"/>
              <a:ext cx="4500000" cy="679374"/>
            </a:xfrm>
            <a:custGeom>
              <a:avLst/>
              <a:gdLst>
                <a:gd name="connsiteX0" fmla="*/ 3500267 w 3666457"/>
                <a:gd name="connsiteY0" fmla="*/ 0 h 400110"/>
                <a:gd name="connsiteX1" fmla="*/ 2820523 w 3666457"/>
                <a:gd name="connsiteY1" fmla="*/ 0 h 400110"/>
                <a:gd name="connsiteX2" fmla="*/ 845934 w 3666457"/>
                <a:gd name="connsiteY2" fmla="*/ 0 h 400110"/>
                <a:gd name="connsiteX3" fmla="*/ 166190 w 3666457"/>
                <a:gd name="connsiteY3" fmla="*/ 0 h 400110"/>
                <a:gd name="connsiteX4" fmla="*/ 0 w 3666457"/>
                <a:gd name="connsiteY4" fmla="*/ 200055 h 400110"/>
                <a:gd name="connsiteX5" fmla="*/ 166190 w 3666457"/>
                <a:gd name="connsiteY5" fmla="*/ 400110 h 400110"/>
                <a:gd name="connsiteX6" fmla="*/ 845934 w 3666457"/>
                <a:gd name="connsiteY6" fmla="*/ 400110 h 400110"/>
                <a:gd name="connsiteX7" fmla="*/ 2820523 w 3666457"/>
                <a:gd name="connsiteY7" fmla="*/ 400110 h 400110"/>
                <a:gd name="connsiteX8" fmla="*/ 3500267 w 3666457"/>
                <a:gd name="connsiteY8" fmla="*/ 400110 h 400110"/>
                <a:gd name="connsiteX9" fmla="*/ 3666457 w 3666457"/>
                <a:gd name="connsiteY9" fmla="*/ 200055 h 40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66457" h="400110">
                  <a:moveTo>
                    <a:pt x="3500267" y="0"/>
                  </a:moveTo>
                  <a:lnTo>
                    <a:pt x="2820523" y="0"/>
                  </a:lnTo>
                  <a:lnTo>
                    <a:pt x="845934" y="0"/>
                  </a:lnTo>
                  <a:lnTo>
                    <a:pt x="166190" y="0"/>
                  </a:lnTo>
                  <a:lnTo>
                    <a:pt x="0" y="200055"/>
                  </a:lnTo>
                  <a:lnTo>
                    <a:pt x="166190" y="400110"/>
                  </a:lnTo>
                  <a:lnTo>
                    <a:pt x="845934" y="400110"/>
                  </a:lnTo>
                  <a:lnTo>
                    <a:pt x="2820523" y="400110"/>
                  </a:lnTo>
                  <a:lnTo>
                    <a:pt x="3500267" y="400110"/>
                  </a:lnTo>
                  <a:lnTo>
                    <a:pt x="3666457" y="200055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1270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六边形 64">
              <a:extLst>
                <a:ext uri="{FF2B5EF4-FFF2-40B4-BE49-F238E27FC236}">
                  <a16:creationId xmlns:a16="http://schemas.microsoft.com/office/drawing/2014/main" id="{B6CE4C27-2373-8859-696D-4FBABB51A49C}"/>
                </a:ext>
              </a:extLst>
            </p:cNvPr>
            <p:cNvSpPr/>
            <p:nvPr/>
          </p:nvSpPr>
          <p:spPr>
            <a:xfrm flipH="1">
              <a:off x="212110" y="245382"/>
              <a:ext cx="5181284" cy="679374"/>
            </a:xfrm>
            <a:prstGeom prst="hexagon">
              <a:avLst>
                <a:gd name="adj" fmla="val 33076"/>
                <a:gd name="vf" fmla="val 115470"/>
              </a:avLst>
            </a:prstGeom>
            <a:gradFill flip="none" rotWithShape="0">
              <a:gsLst>
                <a:gs pos="85000">
                  <a:srgbClr val="FFFFFF">
                    <a:alpha val="0"/>
                  </a:srgbClr>
                </a:gs>
                <a:gs pos="30000">
                  <a:srgbClr val="FFFFFF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25400" dir="5400000" algn="t" rotWithShape="0">
                <a:schemeClr val="accent1">
                  <a:alpha val="20000"/>
                </a:schemeClr>
              </a:outerShdw>
            </a:effectLst>
          </p:spPr>
          <p:txBody>
  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dist"/>
              <a:endParaRPr lang="en-US" sz="9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DAA00069-B774-E797-CEB8-5540EC867A35}"/>
                </a:ext>
              </a:extLst>
            </p:cNvPr>
            <p:cNvSpPr/>
            <p:nvPr/>
          </p:nvSpPr>
          <p:spPr>
            <a:xfrm>
              <a:off x="660400" y="879606"/>
              <a:ext cx="11531600" cy="45719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E1DE17F-24D3-8948-9787-C0BBD0B22DEC}"/>
                </a:ext>
              </a:extLst>
            </p:cNvPr>
            <p:cNvSpPr txBox="1"/>
            <p:nvPr/>
          </p:nvSpPr>
          <p:spPr>
            <a:xfrm>
              <a:off x="396240" y="355783"/>
              <a:ext cx="3196892" cy="458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defTabSz="685800">
                <a:defRPr/>
              </a:pPr>
              <a:r>
                <a:rPr lang="en-US" altLang="zh-CN" sz="3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THE END</a:t>
              </a:r>
              <a:endParaRPr lang="zh-CN" altLang="en-US" sz="3600" b="1" dirty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658DC23-5AAF-4379-EB27-14AA62CE0C07}"/>
              </a:ext>
            </a:extLst>
          </p:cNvPr>
          <p:cNvSpPr txBox="1"/>
          <p:nvPr/>
        </p:nvSpPr>
        <p:spPr>
          <a:xfrm>
            <a:off x="28575" y="4533900"/>
            <a:ext cx="18288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13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673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5ADFF81BD7EB9335515E2C2A65D046B7A9089B6C3A1F19407BED24767FD1FD80" val="[{&quot;GradientColorId&quot;:&quot;GradientContent-65&quot;,&quot;IsFree&quot;:false,&quot;IsGradient&quot;:true,&quot;ImagePath&quot;:&quot;https://image-prod.officeplus.cn/cms-public/b0fc6fae-99c8-9bc1-db02-3a1e39dd869e.webp&quot;,&quot;GradientColor&quot;:{&quot;GradientStyle&quot;:2,&quot;GradientVariant&quot;:2,&quot;GradientAngle&quot;:180.0,&quot;RotateWithObject&quot;:-1,&quot;Stops&quot;:[{&quot;Position&quot;:0.0,&quot;Color&quot;:&quot;#5151B3&quot;,&quot;Transparency&quot;:0.0,&quot;Brightness&quot;:0.0},{&quot;Position&quot;:1.0,&quot;Color&quot;:&quot;#5179B3&quot;,&quot;Transparency&quot;:0.0,&quot;Brightness&quot;:0.0}]},&quot;SimpleColor&quot;:&quot;#FFFFFF&quot;},{&quot;GradientColorId&quot;:&quot;&quot;,&quot;IsFree&quot;:true,&quot;IsGradient&quot;:false,&quot;ImagePath&quot;:&quot;&quot;,&quot;GradientColor&quot;:null,&quot;SimpleColor&quot;:&quot;#0070C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3,&quot;left&quot;:44.25,&quot;top&quot;:226.85,&quot;width&quot;:251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3,&quot;left&quot;:44.25,&quot;top&quot;:226.85,&quot;width&quot;:251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3,&quot;left&quot;:44.25,&quot;top&quot;:226.85,&quot;width&quot;:251.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3,&quot;left&quot;:44.25,&quot;top&quot;:226.85,&quot;width&quot;:251.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3,&quot;left&quot;:44.25,&quot;top&quot;:226.85,&quot;width&quot;:251.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3,&quot;left&quot;:44.25,&quot;top&quot;:226.85,&quot;width&quot;:251.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12503937007875,&quot;left&quot;:52,&quot;top&quot;:80,&quot;width&quot;:855.7253543307086}"/>
  <p:tag name="OP_SCP_SHAPE_TYPE" val="Body"/>
  <p:tag name="OP_SCP_ITEM_INDEX" val="2"/>
  <p:tag name="OP_SCP_DEFAULT_TEXT" val="单击此处添加文本，单击此处添加文本，单击此处添加文本。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12503937007875,&quot;left&quot;:52,&quot;top&quot;:80,&quot;width&quot;:855.7253543307086}"/>
  <p:tag name="OP_SCP_SHAPE_TYPE" val="Body"/>
  <p:tag name="OP_SCP_ITEM_INDEX" val="2"/>
  <p:tag name="OP_SCP_DEFAULT_TEXT" val="单击此处添加文本，单击此处添加文本，单击此处添加文本。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12503937007875,&quot;left&quot;:52,&quot;top&quot;:80,&quot;width&quot;:855.7253543307086}"/>
  <p:tag name="OP_SCP_SHAPE_TYPE" val="Body"/>
  <p:tag name="OP_SCP_ITEM_INDEX" val="2"/>
  <p:tag name="OP_SCP_DEFAULT_TEXT" val="单击此处添加文本，单击此处添加文本，单击此处添加文本。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12503937007875,&quot;left&quot;:52,&quot;top&quot;:80,&quot;width&quot;:855.7253543307086}"/>
  <p:tag name="OP_SCP_SHAPE_TYPE" val="Body"/>
  <p:tag name="OP_SCP_ITEM_INDEX" val="2"/>
  <p:tag name="OP_SCP_DEFAULT_TEXT" val="单击此处添加文本，单击此处添加文本，单击此处添加文本。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12503937007875,&quot;left&quot;:52,&quot;top&quot;:80,&quot;width&quot;:855.7253543307086}"/>
  <p:tag name="OP_SCP_SHAPE_TYPE" val="Body"/>
  <p:tag name="OP_SCP_ITEM_INDEX" val="2"/>
  <p:tag name="OP_SCP_DEFAULT_TEXT" val="单击此处添加文本，单击此处添加文本，单击此处添加文本。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1354</Words>
  <Application>Microsoft Office PowerPoint</Application>
  <PresentationFormat>自定义</PresentationFormat>
  <Paragraphs>162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Calibri</vt:lpstr>
      <vt:lpstr>等线</vt:lpstr>
      <vt:lpstr>Arial</vt:lpstr>
      <vt:lpstr>思源宋体 CN Medium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蓝色简约仪表图结构图演示文稿</dc:title>
  <dc:creator>zengxiang huang</dc:creator>
  <cp:lastModifiedBy>zengxiang huang</cp:lastModifiedBy>
  <cp:revision>30</cp:revision>
  <dcterms:created xsi:type="dcterms:W3CDTF">2006-08-16T00:00:00Z</dcterms:created>
  <dcterms:modified xsi:type="dcterms:W3CDTF">2026-04-21T01:47:05Z</dcterms:modified>
  <dc:identifier>DAHHNnYybsM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{"Label":"1","ContentProducer":"001191110105MA01AN806X00000","ProduceID":"DAHHNnYybsM","ReservedCode1":"","ContentPropagator":"001191110105MA01AN806X00000","PropagateID":"DAHHNnYybsM","ReservedCode2":""}</vt:lpwstr>
  </property>
</Properties>
</file>